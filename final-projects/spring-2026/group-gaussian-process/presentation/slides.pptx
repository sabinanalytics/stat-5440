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y="6858000" cx="12192000"/>
  <p:notesSz cx="6858000" cy="9144000"/>
  <p:embeddedFontLst>
    <p:embeddedFont>
      <p:font typeface="Playfair Display"/>
      <p:regular r:id="rId31"/>
      <p:bold r:id="rId32"/>
      <p:italic r:id="rId33"/>
      <p:boldItalic r:id="rId34"/>
    </p:embeddedFont>
    <p:embeddedFont>
      <p:font typeface="Roboto Mono"/>
      <p:regular r:id="rId35"/>
      <p:bold r:id="rId36"/>
      <p:italic r:id="rId37"/>
      <p:boldItalic r:id="rId38"/>
    </p:embeddedFont>
    <p:embeddedFont>
      <p:font typeface="Cambria Math"/>
      <p:regular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0" roundtripDataSignature="AMtx7mh4uNNYYAJavfIrCLcyKyb/xtD7y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4B4C612-A854-4467-B27F-2AA4FA1A2282}">
  <a:tblStyle styleId="{C4B4C612-A854-4467-B27F-2AA4FA1A2282}" styleName="Table_0">
    <a:wholeTbl>
      <a:tcTxStyle b="off" i="off">
        <a:font>
          <a:latin typeface="Source Sans Pro"/>
          <a:ea typeface="Source Sans Pro"/>
          <a:cs typeface="Source Sans Pro"/>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7E8EA"/>
          </a:solidFill>
        </a:fill>
      </a:tcStyle>
    </a:wholeTbl>
    <a:band1H>
      <a:tcTxStyle/>
      <a:tcStyle>
        <a:fill>
          <a:solidFill>
            <a:srgbClr val="CBCED4"/>
          </a:solidFill>
        </a:fill>
      </a:tcStyle>
    </a:band1H>
    <a:band2H>
      <a:tcTxStyle/>
    </a:band2H>
    <a:band1V>
      <a:tcTxStyle/>
      <a:tcStyle>
        <a:fill>
          <a:solidFill>
            <a:srgbClr val="CBCED4"/>
          </a:solidFill>
        </a:fill>
      </a:tcStyle>
    </a:band1V>
    <a:band2V>
      <a:tcTxStyle/>
    </a:band2V>
    <a:lastCol>
      <a:tcTxStyle b="on" i="off">
        <a:font>
          <a:latin typeface="Source Sans Pro"/>
          <a:ea typeface="Source Sans Pro"/>
          <a:cs typeface="Source Sans Pro"/>
        </a:font>
        <a:schemeClr val="lt1"/>
      </a:tcTxStyle>
      <a:tcStyle>
        <a:fill>
          <a:solidFill>
            <a:schemeClr val="accent1"/>
          </a:solidFill>
        </a:fill>
      </a:tcStyle>
    </a:lastCol>
    <a:firstCol>
      <a:tcTxStyle b="on" i="off">
        <a:font>
          <a:latin typeface="Source Sans Pro"/>
          <a:ea typeface="Source Sans Pro"/>
          <a:cs typeface="Source Sans Pro"/>
        </a:font>
        <a:schemeClr val="lt1"/>
      </a:tcTxStyle>
      <a:tcStyle>
        <a:fill>
          <a:solidFill>
            <a:schemeClr val="accent1"/>
          </a:solidFill>
        </a:fill>
      </a:tcStyle>
    </a:firstCol>
    <a:lastRow>
      <a:tcTxStyle b="on" i="off">
        <a:font>
          <a:latin typeface="Source Sans Pro"/>
          <a:ea typeface="Source Sans Pro"/>
          <a:cs typeface="Source Sans Pro"/>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Source Sans Pro"/>
          <a:ea typeface="Source Sans Pro"/>
          <a:cs typeface="Source Sans Pro"/>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40" Type="http://customschemas.google.com/relationships/presentationmetadata" Target="meta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PlayfairDisplay-regular.fntdata"/><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PlayfairDisplay-italic.fntdata"/><Relationship Id="rId10" Type="http://schemas.openxmlformats.org/officeDocument/2006/relationships/slide" Target="slides/slide5.xml"/><Relationship Id="rId32" Type="http://schemas.openxmlformats.org/officeDocument/2006/relationships/font" Target="fonts/PlayfairDisplay-bold.fntdata"/><Relationship Id="rId13" Type="http://schemas.openxmlformats.org/officeDocument/2006/relationships/slide" Target="slides/slide8.xml"/><Relationship Id="rId35" Type="http://schemas.openxmlformats.org/officeDocument/2006/relationships/font" Target="fonts/RobotoMono-regular.fntdata"/><Relationship Id="rId12" Type="http://schemas.openxmlformats.org/officeDocument/2006/relationships/slide" Target="slides/slide7.xml"/><Relationship Id="rId34" Type="http://schemas.openxmlformats.org/officeDocument/2006/relationships/font" Target="fonts/PlayfairDisplay-boldItalic.fntdata"/><Relationship Id="rId15" Type="http://schemas.openxmlformats.org/officeDocument/2006/relationships/slide" Target="slides/slide10.xml"/><Relationship Id="rId37" Type="http://schemas.openxmlformats.org/officeDocument/2006/relationships/font" Target="fonts/RobotoMono-italic.fntdata"/><Relationship Id="rId14" Type="http://schemas.openxmlformats.org/officeDocument/2006/relationships/slide" Target="slides/slide9.xml"/><Relationship Id="rId36" Type="http://schemas.openxmlformats.org/officeDocument/2006/relationships/font" Target="fonts/RobotoMono-bold.fntdata"/><Relationship Id="rId17" Type="http://schemas.openxmlformats.org/officeDocument/2006/relationships/slide" Target="slides/slide12.xml"/><Relationship Id="rId39" Type="http://schemas.openxmlformats.org/officeDocument/2006/relationships/font" Target="fonts/CambriaMath-regular.fntdata"/><Relationship Id="rId16" Type="http://schemas.openxmlformats.org/officeDocument/2006/relationships/slide" Target="slides/slide11.xml"/><Relationship Id="rId38" Type="http://schemas.openxmlformats.org/officeDocument/2006/relationships/font" Target="fonts/RobotoMono-bold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8" name="Google Shape;88;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 name="Google Shape;9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 name="Google Shape;10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5" name="Google Shape;115;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95250" lvl="0" marL="171450" rtl="0" algn="l">
              <a:spcBef>
                <a:spcPts val="0"/>
              </a:spcBef>
              <a:spcAft>
                <a:spcPts val="0"/>
              </a:spcAft>
              <a:buClr>
                <a:schemeClr val="dk1"/>
              </a:buClr>
              <a:buSzPts val="1200"/>
              <a:buFont typeface="Arial"/>
              <a:buNone/>
            </a:pPr>
            <a:r>
              <a:t/>
            </a:r>
            <a:endParaRPr/>
          </a:p>
        </p:txBody>
      </p:sp>
      <p:sp>
        <p:nvSpPr>
          <p:cNvPr id="116" name="Google Shape;116;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6" name="Google Shape;12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9" name="Google Shape;149;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95250" lvl="0" marL="171450" rtl="0" algn="l">
              <a:spcBef>
                <a:spcPts val="0"/>
              </a:spcBef>
              <a:spcAft>
                <a:spcPts val="0"/>
              </a:spcAft>
              <a:buClr>
                <a:schemeClr val="dk1"/>
              </a:buClr>
              <a:buSzPts val="1200"/>
              <a:buFont typeface="Arial"/>
              <a:buNone/>
            </a:pPr>
            <a:r>
              <a:t/>
            </a:r>
            <a:endParaRPr/>
          </a:p>
        </p:txBody>
      </p:sp>
      <p:sp>
        <p:nvSpPr>
          <p:cNvPr id="150" name="Google Shape;150;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2" name="Google Shape;16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0" name="Google Shape;17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0" name="Google Shape;180;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2" name="Google Shape;192;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2" name="Google Shape;202;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Arial"/>
              <a:buNone/>
            </a:pPr>
            <a:r>
              <a:rPr lang="en-US"/>
              <a:t>left: original data with 20640 records, right: sampled 300 cases w/ replacement for both train and test</a:t>
            </a:r>
            <a:endParaRPr/>
          </a:p>
          <a:p>
            <a:pPr indent="0" lvl="0" marL="0" rtl="0" algn="l">
              <a:spcBef>
                <a:spcPts val="0"/>
              </a:spcBef>
              <a:spcAft>
                <a:spcPts val="0"/>
              </a:spcAft>
              <a:buClr>
                <a:schemeClr val="dk1"/>
              </a:buClr>
              <a:buSzPts val="1200"/>
              <a:buFont typeface="Arial"/>
              <a:buNone/>
            </a:pPr>
            <a:r>
              <a:t/>
            </a:r>
            <a:endParaRPr/>
          </a:p>
          <a:p>
            <a:pPr indent="0" lvl="0" marL="0" rtl="0" algn="l">
              <a:spcBef>
                <a:spcPts val="0"/>
              </a:spcBef>
              <a:spcAft>
                <a:spcPts val="0"/>
              </a:spcAft>
              <a:buClr>
                <a:schemeClr val="dk1"/>
              </a:buClr>
              <a:buSzPts val="1200"/>
              <a:buFont typeface="Arial"/>
              <a:buNone/>
            </a:pPr>
            <a:r>
              <a:rPr lang="en-US"/>
              <a:t>kriging: i</a:t>
            </a:r>
            <a:r>
              <a:rPr lang="en-US">
                <a:solidFill>
                  <a:schemeClr val="dk1"/>
                </a:solidFill>
              </a:rPr>
              <a:t>ts primary advantage over traditional machine learning methods is its probabilistic nature: it outputs not only a continuous prediction curve but also a quantifiable measure of uncertainty (confidence intervals), making it highly robust for sparse or noisy spatial data.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2" name="Google Shape;212;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0" name="Google Shape;220;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6" name="Google Shape;236;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3" name="Google Shape;243;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Arial"/>
              <a:buNone/>
            </a:pPr>
            <a:r>
              <a:rPr lang="en-US">
                <a:solidFill>
                  <a:schemeClr val="dk1"/>
                </a:solidFill>
              </a:rPr>
              <a:t>"To ensure robust Gaussian Process inference and prevent numerical instability while HMC prior exploration— such as non-positive definite matrices or NaN gradients—this model implements a suite of best-practice stability techniques. Key strategies include injecting a small diagonal </a:t>
            </a:r>
            <a:r>
              <a:rPr b="1" lang="en-US">
                <a:solidFill>
                  <a:schemeClr val="dk1"/>
                </a:solidFill>
              </a:rPr>
              <a:t>jitter</a:t>
            </a:r>
            <a:r>
              <a:rPr lang="en-US">
                <a:solidFill>
                  <a:schemeClr val="dk1"/>
                </a:solidFill>
              </a:rPr>
              <a:t> into the covariance matrix, utilizing Stan's optimized built-in </a:t>
            </a:r>
            <a:r>
              <a:rPr b="1" lang="en-US">
                <a:solidFill>
                  <a:srgbClr val="188038"/>
                </a:solidFill>
                <a:latin typeface="Roboto Mono"/>
                <a:ea typeface="Roboto Mono"/>
                <a:cs typeface="Roboto Mono"/>
                <a:sym typeface="Roboto Mono"/>
              </a:rPr>
              <a:t>gp_exp_quad_cov</a:t>
            </a:r>
            <a:r>
              <a:rPr lang="en-US">
                <a:solidFill>
                  <a:schemeClr val="dk1"/>
                </a:solidFill>
              </a:rPr>
              <a:t> function for safe analytical gradients, and employing </a:t>
            </a:r>
            <a:r>
              <a:rPr b="1" lang="en-US">
                <a:solidFill>
                  <a:schemeClr val="dk1"/>
                </a:solidFill>
              </a:rPr>
              <a:t>Cholesky decomposition</a:t>
            </a:r>
            <a:r>
              <a:rPr lang="en-US">
                <a:solidFill>
                  <a:schemeClr val="dk1"/>
                </a:solidFill>
              </a:rPr>
              <a:t> paired with </a:t>
            </a:r>
            <a:r>
              <a:rPr b="1" lang="en-US">
                <a:solidFill>
                  <a:schemeClr val="dk1"/>
                </a:solidFill>
              </a:rPr>
              <a:t>SPD linear solvers</a:t>
            </a:r>
            <a:r>
              <a:rPr lang="en-US">
                <a:solidFill>
                  <a:schemeClr val="dk1"/>
                </a:solidFill>
              </a:rPr>
              <a:t> (</a:t>
            </a:r>
            <a:r>
              <a:rPr lang="en-US">
                <a:solidFill>
                  <a:srgbClr val="188038"/>
                </a:solidFill>
                <a:latin typeface="Roboto Mono"/>
                <a:ea typeface="Roboto Mono"/>
                <a:cs typeface="Roboto Mono"/>
                <a:sym typeface="Roboto Mono"/>
              </a:rPr>
              <a:t>mdivide_left_spd</a:t>
            </a:r>
            <a:r>
              <a:rPr lang="en-US">
                <a:solidFill>
                  <a:schemeClr val="dk1"/>
                </a:solidFill>
              </a:rPr>
              <a:t>) rather than direct matrix inversion. Furthermore, strict </a:t>
            </a:r>
            <a:r>
              <a:rPr b="1" lang="en-US">
                <a:solidFill>
                  <a:schemeClr val="dk1"/>
                </a:solidFill>
              </a:rPr>
              <a:t>parameter lower bounds</a:t>
            </a:r>
            <a:r>
              <a:rPr lang="en-US">
                <a:solidFill>
                  <a:schemeClr val="dk1"/>
                </a:solidFill>
              </a:rPr>
              <a:t> (</a:t>
            </a:r>
            <a:r>
              <a:rPr lang="en-US">
                <a:solidFill>
                  <a:srgbClr val="188038"/>
                </a:solidFill>
                <a:latin typeface="Roboto Mono"/>
                <a:ea typeface="Roboto Mono"/>
                <a:cs typeface="Roboto Mono"/>
                <a:sym typeface="Roboto Mono"/>
              </a:rPr>
              <a:t>1e-6</a:t>
            </a:r>
            <a:r>
              <a:rPr lang="en-US">
                <a:solidFill>
                  <a:schemeClr val="dk1"/>
                </a:solidFill>
              </a:rPr>
              <a:t>) and </a:t>
            </a:r>
            <a:r>
              <a:rPr b="1" lang="en-US">
                <a:solidFill>
                  <a:schemeClr val="dk1"/>
                </a:solidFill>
              </a:rPr>
              <a:t>log-normal priors</a:t>
            </a:r>
            <a:r>
              <a:rPr lang="en-US">
                <a:solidFill>
                  <a:schemeClr val="dk1"/>
                </a:solidFill>
              </a:rPr>
              <a:t> are applied to safely guide the HMC sampler away from degenerate edge cases."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0" name="Google Shape;250;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Arial"/>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5" name="Google Shape;265;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Arial"/>
              <a:buNone/>
            </a:pPr>
            <a:r>
              <a:rPr lang="en-US"/>
              <a:t>The residuals are generally centered around zero, indicating that the model is approximately unbiased on average. However, the distribution exhibits a noticeable right tail, suggesting that the model tends to underestimate higher housing prices.</a:t>
            </a:r>
            <a:endParaRPr/>
          </a:p>
          <a:p>
            <a:pPr indent="0" lvl="0" marL="0" rtl="0" algn="l">
              <a:spcBef>
                <a:spcPts val="0"/>
              </a:spcBef>
              <a:spcAft>
                <a:spcPts val="0"/>
              </a:spcAft>
              <a:buClr>
                <a:schemeClr val="dk1"/>
              </a:buClr>
              <a:buSzPts val="1200"/>
              <a:buFont typeface="Arial"/>
              <a:buNone/>
            </a:pPr>
            <a:r>
              <a:t/>
            </a:r>
            <a:endParaRPr/>
          </a:p>
          <a:p>
            <a:pPr indent="0" lvl="0" marL="0" rtl="0" algn="l">
              <a:spcBef>
                <a:spcPts val="0"/>
              </a:spcBef>
              <a:spcAft>
                <a:spcPts val="0"/>
              </a:spcAft>
              <a:buClr>
                <a:schemeClr val="dk1"/>
              </a:buClr>
              <a:buSzPts val="1200"/>
              <a:buFont typeface="Arial"/>
              <a:buNone/>
            </a:pPr>
            <a:r>
              <a:rPr lang="en-US"/>
              <a:t>This pattern is consistent with the observed vs. predicted plot, where extreme values are shrunk toward the mean. This behavior reflects the limitations of the model, which relies only on spatial features and cannot fully capture all sources of variability in housing prices.</a:t>
            </a:r>
            <a:endParaRPr/>
          </a:p>
          <a:p>
            <a:pPr indent="0" lvl="0" marL="0" rtl="0" algn="l">
              <a:spcBef>
                <a:spcPts val="0"/>
              </a:spcBef>
              <a:spcAft>
                <a:spcPts val="0"/>
              </a:spcAft>
              <a:buClr>
                <a:schemeClr val="dk1"/>
              </a:buClr>
              <a:buSzPts val="1200"/>
              <a:buFont typeface="Arial"/>
              <a:buNone/>
            </a:pPr>
            <a:r>
              <a:rPr lang="en-US"/>
              <a:t>—-------------------------------</a:t>
            </a:r>
            <a:endParaRPr/>
          </a:p>
          <a:p>
            <a:pPr indent="0" lvl="0" marL="0" rtl="0" algn="l">
              <a:spcBef>
                <a:spcPts val="0"/>
              </a:spcBef>
              <a:spcAft>
                <a:spcPts val="0"/>
              </a:spcAft>
              <a:buClr>
                <a:schemeClr val="dk1"/>
              </a:buClr>
              <a:buSzPts val="1200"/>
              <a:buFont typeface="Arial"/>
              <a:buNone/>
            </a:pPr>
            <a:r>
              <a:rPr lang="en-US"/>
              <a:t>The predictive distributions broadly align with the observed data in the central region, indicating that the model captures the overall structure of the housing price distribution.</a:t>
            </a:r>
            <a:endParaRPr/>
          </a:p>
          <a:p>
            <a:pPr indent="0" lvl="0" marL="0" rtl="0" algn="l">
              <a:spcBef>
                <a:spcPts val="0"/>
              </a:spcBef>
              <a:spcAft>
                <a:spcPts val="0"/>
              </a:spcAft>
              <a:buClr>
                <a:schemeClr val="dk1"/>
              </a:buClr>
              <a:buSzPts val="1200"/>
              <a:buFont typeface="Arial"/>
              <a:buNone/>
            </a:pPr>
            <a:r>
              <a:t/>
            </a:r>
            <a:endParaRPr/>
          </a:p>
          <a:p>
            <a:pPr indent="0" lvl="0" marL="0" rtl="0" algn="l">
              <a:spcBef>
                <a:spcPts val="0"/>
              </a:spcBef>
              <a:spcAft>
                <a:spcPts val="0"/>
              </a:spcAft>
              <a:buClr>
                <a:schemeClr val="dk1"/>
              </a:buClr>
              <a:buSzPts val="1200"/>
              <a:buFont typeface="Arial"/>
              <a:buNone/>
            </a:pPr>
            <a:r>
              <a:rPr lang="en-US"/>
              <a:t>However, discrepancies are evident in the tails, particularly for higher values. The model tends to underestimate extreme housing prices, producing smoother distributions with less mass in the upper range.</a:t>
            </a:r>
            <a:endParaRPr/>
          </a:p>
          <a:p>
            <a:pPr indent="0" lvl="0" marL="0" rtl="0" algn="l">
              <a:spcBef>
                <a:spcPts val="0"/>
              </a:spcBef>
              <a:spcAft>
                <a:spcPts val="0"/>
              </a:spcAft>
              <a:buClr>
                <a:schemeClr val="dk1"/>
              </a:buClr>
              <a:buSzPts val="1200"/>
              <a:buFont typeface="Arial"/>
              <a:buNone/>
            </a:pPr>
            <a:r>
              <a:t/>
            </a:r>
            <a:endParaRPr/>
          </a:p>
          <a:p>
            <a:pPr indent="0" lvl="0" marL="0" rtl="0" algn="l">
              <a:spcBef>
                <a:spcPts val="0"/>
              </a:spcBef>
              <a:spcAft>
                <a:spcPts val="0"/>
              </a:spcAft>
              <a:buClr>
                <a:schemeClr val="dk1"/>
              </a:buClr>
              <a:buSzPts val="1200"/>
              <a:buFont typeface="Arial"/>
              <a:buNone/>
            </a:pPr>
            <a:r>
              <a:rPr lang="en-US"/>
              <a:t>This suggests that while the Gaussian Process captures large-scale spatial trends, it lacks the flexibility to model sharp variations and extreme values. This limitation is expected given that only spatial features (latitude and longitude) are used in the model.</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0" name="Google Shape;280;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Arial"/>
              <a:buNone/>
            </a:pPr>
            <a:r>
              <a:rPr lang="en-US"/>
              <a:t>The GP predictive mean surface reveals a smooth, non-linear spatial structure in housing prices across California. High-value regions are concentrated around major urban areas, such as the Bay Area and Southern California, indicating strong spatial dependence.</a:t>
            </a:r>
            <a:endParaRPr/>
          </a:p>
          <a:p>
            <a:pPr indent="0" lvl="0" marL="0" rtl="0" algn="l">
              <a:spcBef>
                <a:spcPts val="0"/>
              </a:spcBef>
              <a:spcAft>
                <a:spcPts val="0"/>
              </a:spcAft>
              <a:buClr>
                <a:schemeClr val="dk1"/>
              </a:buClr>
              <a:buSzPts val="1200"/>
              <a:buFont typeface="Arial"/>
              <a:buNone/>
            </a:pPr>
            <a:r>
              <a:t/>
            </a:r>
            <a:endParaRPr/>
          </a:p>
          <a:p>
            <a:pPr indent="0" lvl="0" marL="0" rtl="0" algn="l">
              <a:spcBef>
                <a:spcPts val="0"/>
              </a:spcBef>
              <a:spcAft>
                <a:spcPts val="0"/>
              </a:spcAft>
              <a:buClr>
                <a:schemeClr val="dk1"/>
              </a:buClr>
              <a:buSzPts val="1200"/>
              <a:buFont typeface="Arial"/>
              <a:buNone/>
            </a:pPr>
            <a:r>
              <a:rPr lang="en-US"/>
              <a:t>The smooth transitions between regions reflect the properties of the RBF kernel, which enforces local continuity in the latent function.</a:t>
            </a:r>
            <a:endParaRPr/>
          </a:p>
          <a:p>
            <a:pPr indent="0" lvl="0" marL="0" rtl="0" algn="l">
              <a:spcBef>
                <a:spcPts val="0"/>
              </a:spcBef>
              <a:spcAft>
                <a:spcPts val="0"/>
              </a:spcAft>
              <a:buClr>
                <a:schemeClr val="dk1"/>
              </a:buClr>
              <a:buSzPts val="1200"/>
              <a:buFont typeface="Arial"/>
              <a:buNone/>
            </a:pPr>
            <a:r>
              <a:rPr lang="en-US"/>
              <a:t>—------------------------</a:t>
            </a:r>
            <a:endParaRPr/>
          </a:p>
          <a:p>
            <a:pPr indent="0" lvl="0" marL="0" rtl="0" algn="l">
              <a:spcBef>
                <a:spcPts val="0"/>
              </a:spcBef>
              <a:spcAft>
                <a:spcPts val="0"/>
              </a:spcAft>
              <a:buClr>
                <a:schemeClr val="dk1"/>
              </a:buClr>
              <a:buSzPts val="1200"/>
              <a:buFont typeface="Arial"/>
              <a:buNone/>
            </a:pPr>
            <a:r>
              <a:rPr lang="en-US"/>
              <a:t>The predictive uncertainty surface shows that uncertainty is lowest in regions with dense observations and increases in areas with sparse or no data. This reflects the Bayesian nature of the Gaussian Process, which naturally quantifies uncertainty based on data availability.</a:t>
            </a:r>
            <a:endParaRPr/>
          </a:p>
          <a:p>
            <a:pPr indent="0" lvl="0" marL="0" rtl="0" algn="l">
              <a:spcBef>
                <a:spcPts val="0"/>
              </a:spcBef>
              <a:spcAft>
                <a:spcPts val="0"/>
              </a:spcAft>
              <a:buClr>
                <a:schemeClr val="dk1"/>
              </a:buClr>
              <a:buSzPts val="1200"/>
              <a:buFont typeface="Arial"/>
              <a:buNone/>
            </a:pPr>
            <a:r>
              <a:t/>
            </a:r>
            <a:endParaRPr/>
          </a:p>
          <a:p>
            <a:pPr indent="0" lvl="0" marL="0" rtl="0" algn="l">
              <a:spcBef>
                <a:spcPts val="0"/>
              </a:spcBef>
              <a:spcAft>
                <a:spcPts val="0"/>
              </a:spcAft>
              <a:buClr>
                <a:schemeClr val="dk1"/>
              </a:buClr>
              <a:buSzPts val="1200"/>
              <a:buFont typeface="Arial"/>
              <a:buNone/>
            </a:pPr>
            <a:r>
              <a:rPr lang="en-US"/>
              <a:t>In particular, boundary regions and areas far from observed locations exhibit significantly higher uncertainty, indicating that predictions in these regions should be interpreted with caution.</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5" name="Google Shape;295;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8" name="Google Shape;308;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9" name="Google Shape;309;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5" name="Google Shape;335;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8" name="Google Shape;348;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0" name="Google Shape;360;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0" name="Google Shape;370;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1" name="Google Shape;371;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2" name="Google Shape;382;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7" name="Shape 17"/>
        <p:cNvGrpSpPr/>
        <p:nvPr/>
      </p:nvGrpSpPr>
      <p:grpSpPr>
        <a:xfrm>
          <a:off x="0" y="0"/>
          <a:ext cx="0" cy="0"/>
          <a:chOff x="0" y="0"/>
          <a:chExt cx="0" cy="0"/>
        </a:xfrm>
      </p:grpSpPr>
      <p:sp>
        <p:nvSpPr>
          <p:cNvPr id="18" name="Google Shape;18;p27"/>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rgbClr val="1C2433"/>
              </a:buClr>
              <a:buSzPts val="6000"/>
              <a:buFont typeface="Playfair Dis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27"/>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rgbClr val="2A2F3A"/>
              </a:buClr>
              <a:buSzPts val="2400"/>
              <a:buNone/>
              <a:defRPr sz="2400"/>
            </a:lvl1pPr>
            <a:lvl2pPr lvl="1" algn="ctr">
              <a:lnSpc>
                <a:spcPct val="90000"/>
              </a:lnSpc>
              <a:spcBef>
                <a:spcPts val="500"/>
              </a:spcBef>
              <a:spcAft>
                <a:spcPts val="0"/>
              </a:spcAft>
              <a:buClr>
                <a:srgbClr val="2A2F3A"/>
              </a:buClr>
              <a:buSzPts val="2000"/>
              <a:buNone/>
              <a:defRPr sz="2000"/>
            </a:lvl2pPr>
            <a:lvl3pPr lvl="2" algn="ctr">
              <a:lnSpc>
                <a:spcPct val="90000"/>
              </a:lnSpc>
              <a:spcBef>
                <a:spcPts val="500"/>
              </a:spcBef>
              <a:spcAft>
                <a:spcPts val="0"/>
              </a:spcAft>
              <a:buClr>
                <a:srgbClr val="2A2F3A"/>
              </a:buClr>
              <a:buSzPts val="1800"/>
              <a:buNone/>
              <a:defRPr sz="1800"/>
            </a:lvl3pPr>
            <a:lvl4pPr lvl="3" algn="ctr">
              <a:lnSpc>
                <a:spcPct val="90000"/>
              </a:lnSpc>
              <a:spcBef>
                <a:spcPts val="500"/>
              </a:spcBef>
              <a:spcAft>
                <a:spcPts val="0"/>
              </a:spcAft>
              <a:buClr>
                <a:srgbClr val="2A2F3A"/>
              </a:buClr>
              <a:buSzPts val="1600"/>
              <a:buNone/>
              <a:defRPr sz="1600"/>
            </a:lvl4pPr>
            <a:lvl5pPr lvl="4" algn="ctr">
              <a:lnSpc>
                <a:spcPct val="90000"/>
              </a:lnSpc>
              <a:spcBef>
                <a:spcPts val="500"/>
              </a:spcBef>
              <a:spcAft>
                <a:spcPts val="0"/>
              </a:spcAft>
              <a:buClr>
                <a:srgbClr val="2A2F3A"/>
              </a:buClr>
              <a:buSzPts val="1600"/>
              <a:buNone/>
              <a:defRPr sz="1600"/>
            </a:lvl5pPr>
            <a:lvl6pPr lvl="5" algn="ctr">
              <a:lnSpc>
                <a:spcPct val="90000"/>
              </a:lnSpc>
              <a:spcBef>
                <a:spcPts val="500"/>
              </a:spcBef>
              <a:spcAft>
                <a:spcPts val="0"/>
              </a:spcAft>
              <a:buClr>
                <a:srgbClr val="2A2F3A"/>
              </a:buClr>
              <a:buSzPts val="1600"/>
              <a:buNone/>
              <a:defRPr sz="1600"/>
            </a:lvl6pPr>
            <a:lvl7pPr lvl="6" algn="ctr">
              <a:lnSpc>
                <a:spcPct val="90000"/>
              </a:lnSpc>
              <a:spcBef>
                <a:spcPts val="500"/>
              </a:spcBef>
              <a:spcAft>
                <a:spcPts val="0"/>
              </a:spcAft>
              <a:buClr>
                <a:srgbClr val="2A2F3A"/>
              </a:buClr>
              <a:buSzPts val="1600"/>
              <a:buNone/>
              <a:defRPr sz="1600"/>
            </a:lvl7pPr>
            <a:lvl8pPr lvl="7" algn="ctr">
              <a:lnSpc>
                <a:spcPct val="90000"/>
              </a:lnSpc>
              <a:spcBef>
                <a:spcPts val="500"/>
              </a:spcBef>
              <a:spcAft>
                <a:spcPts val="0"/>
              </a:spcAft>
              <a:buClr>
                <a:srgbClr val="2A2F3A"/>
              </a:buClr>
              <a:buSzPts val="1600"/>
              <a:buNone/>
              <a:defRPr sz="1600"/>
            </a:lvl8pPr>
            <a:lvl9pPr lvl="8" algn="ctr">
              <a:lnSpc>
                <a:spcPct val="90000"/>
              </a:lnSpc>
              <a:spcBef>
                <a:spcPts val="500"/>
              </a:spcBef>
              <a:spcAft>
                <a:spcPts val="0"/>
              </a:spcAft>
              <a:buClr>
                <a:srgbClr val="2A2F3A"/>
              </a:buClr>
              <a:buSzPts val="1600"/>
              <a:buNone/>
              <a:defRPr sz="1600"/>
            </a:lvl9pPr>
          </a:lstStyle>
          <a:p/>
        </p:txBody>
      </p:sp>
      <p:sp>
        <p:nvSpPr>
          <p:cNvPr id="20" name="Google Shape;20;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3" name="Shape 23"/>
        <p:cNvGrpSpPr/>
        <p:nvPr/>
      </p:nvGrpSpPr>
      <p:grpSpPr>
        <a:xfrm>
          <a:off x="0" y="0"/>
          <a:ext cx="0" cy="0"/>
          <a:chOff x="0" y="0"/>
          <a:chExt cx="0" cy="0"/>
        </a:xfrm>
      </p:grpSpPr>
      <p:sp>
        <p:nvSpPr>
          <p:cNvPr id="24" name="Google Shape;24;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1C243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28" name="Shape 28"/>
        <p:cNvGrpSpPr/>
        <p:nvPr/>
      </p:nvGrpSpPr>
      <p:grpSpPr>
        <a:xfrm>
          <a:off x="0" y="0"/>
          <a:ext cx="0" cy="0"/>
          <a:chOff x="0" y="0"/>
          <a:chExt cx="0" cy="0"/>
        </a:xfrm>
      </p:grpSpPr>
      <p:sp>
        <p:nvSpPr>
          <p:cNvPr id="29" name="Google Shape;29;p29"/>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1C243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29"/>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rgbClr val="2A2F3A"/>
              </a:buClr>
              <a:buSzPts val="2400"/>
              <a:buNone/>
              <a:defRPr b="1" sz="2400"/>
            </a:lvl1pPr>
            <a:lvl2pPr indent="-228600" lvl="1" marL="914400" algn="l">
              <a:lnSpc>
                <a:spcPct val="90000"/>
              </a:lnSpc>
              <a:spcBef>
                <a:spcPts val="500"/>
              </a:spcBef>
              <a:spcAft>
                <a:spcPts val="0"/>
              </a:spcAft>
              <a:buClr>
                <a:srgbClr val="2A2F3A"/>
              </a:buClr>
              <a:buSzPts val="2000"/>
              <a:buNone/>
              <a:defRPr b="1" sz="2000"/>
            </a:lvl2pPr>
            <a:lvl3pPr indent="-228600" lvl="2" marL="1371600" algn="l">
              <a:lnSpc>
                <a:spcPct val="90000"/>
              </a:lnSpc>
              <a:spcBef>
                <a:spcPts val="500"/>
              </a:spcBef>
              <a:spcAft>
                <a:spcPts val="0"/>
              </a:spcAft>
              <a:buClr>
                <a:srgbClr val="2A2F3A"/>
              </a:buClr>
              <a:buSzPts val="1800"/>
              <a:buNone/>
              <a:defRPr b="1" sz="1800"/>
            </a:lvl3pPr>
            <a:lvl4pPr indent="-228600" lvl="3" marL="1828800" algn="l">
              <a:lnSpc>
                <a:spcPct val="90000"/>
              </a:lnSpc>
              <a:spcBef>
                <a:spcPts val="500"/>
              </a:spcBef>
              <a:spcAft>
                <a:spcPts val="0"/>
              </a:spcAft>
              <a:buClr>
                <a:srgbClr val="2A2F3A"/>
              </a:buClr>
              <a:buSzPts val="1600"/>
              <a:buNone/>
              <a:defRPr b="1" sz="1600"/>
            </a:lvl4pPr>
            <a:lvl5pPr indent="-228600" lvl="4" marL="2286000" algn="l">
              <a:lnSpc>
                <a:spcPct val="90000"/>
              </a:lnSpc>
              <a:spcBef>
                <a:spcPts val="500"/>
              </a:spcBef>
              <a:spcAft>
                <a:spcPts val="0"/>
              </a:spcAft>
              <a:buClr>
                <a:srgbClr val="2A2F3A"/>
              </a:buClr>
              <a:buSzPts val="1600"/>
              <a:buNone/>
              <a:defRPr b="1" sz="1600"/>
            </a:lvl5pPr>
            <a:lvl6pPr indent="-228600" lvl="5" marL="2743200" algn="l">
              <a:lnSpc>
                <a:spcPct val="90000"/>
              </a:lnSpc>
              <a:spcBef>
                <a:spcPts val="500"/>
              </a:spcBef>
              <a:spcAft>
                <a:spcPts val="0"/>
              </a:spcAft>
              <a:buClr>
                <a:srgbClr val="2A2F3A"/>
              </a:buClr>
              <a:buSzPts val="1600"/>
              <a:buNone/>
              <a:defRPr b="1" sz="1600"/>
            </a:lvl6pPr>
            <a:lvl7pPr indent="-228600" lvl="6" marL="3200400" algn="l">
              <a:lnSpc>
                <a:spcPct val="90000"/>
              </a:lnSpc>
              <a:spcBef>
                <a:spcPts val="500"/>
              </a:spcBef>
              <a:spcAft>
                <a:spcPts val="0"/>
              </a:spcAft>
              <a:buClr>
                <a:srgbClr val="2A2F3A"/>
              </a:buClr>
              <a:buSzPts val="1600"/>
              <a:buNone/>
              <a:defRPr b="1" sz="1600"/>
            </a:lvl7pPr>
            <a:lvl8pPr indent="-228600" lvl="7" marL="3657600" algn="l">
              <a:lnSpc>
                <a:spcPct val="90000"/>
              </a:lnSpc>
              <a:spcBef>
                <a:spcPts val="500"/>
              </a:spcBef>
              <a:spcAft>
                <a:spcPts val="0"/>
              </a:spcAft>
              <a:buClr>
                <a:srgbClr val="2A2F3A"/>
              </a:buClr>
              <a:buSzPts val="1600"/>
              <a:buNone/>
              <a:defRPr b="1" sz="1600"/>
            </a:lvl8pPr>
            <a:lvl9pPr indent="-228600" lvl="8" marL="4114800" algn="l">
              <a:lnSpc>
                <a:spcPct val="90000"/>
              </a:lnSpc>
              <a:spcBef>
                <a:spcPts val="500"/>
              </a:spcBef>
              <a:spcAft>
                <a:spcPts val="0"/>
              </a:spcAft>
              <a:buClr>
                <a:srgbClr val="2A2F3A"/>
              </a:buClr>
              <a:buSzPts val="1600"/>
              <a:buNone/>
              <a:defRPr b="1" sz="1600"/>
            </a:lvl9pPr>
          </a:lstStyle>
          <a:p/>
        </p:txBody>
      </p:sp>
      <p:sp>
        <p:nvSpPr>
          <p:cNvPr id="31" name="Google Shape;31;p29"/>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rgbClr val="2A2F3A"/>
              </a:buClr>
              <a:buSzPts val="1800"/>
              <a:buChar char="•"/>
              <a:defRPr/>
            </a:lvl1pPr>
            <a:lvl2pPr indent="-342900" lvl="1" marL="914400" algn="l">
              <a:lnSpc>
                <a:spcPct val="90000"/>
              </a:lnSpc>
              <a:spcBef>
                <a:spcPts val="500"/>
              </a:spcBef>
              <a:spcAft>
                <a:spcPts val="0"/>
              </a:spcAft>
              <a:buClr>
                <a:srgbClr val="2A2F3A"/>
              </a:buClr>
              <a:buSzPts val="1800"/>
              <a:buChar char="•"/>
              <a:defRPr/>
            </a:lvl2pPr>
            <a:lvl3pPr indent="-342900" lvl="2" marL="1371600" algn="l">
              <a:lnSpc>
                <a:spcPct val="90000"/>
              </a:lnSpc>
              <a:spcBef>
                <a:spcPts val="500"/>
              </a:spcBef>
              <a:spcAft>
                <a:spcPts val="0"/>
              </a:spcAft>
              <a:buClr>
                <a:srgbClr val="2A2F3A"/>
              </a:buClr>
              <a:buSzPts val="1800"/>
              <a:buChar char="•"/>
              <a:defRPr/>
            </a:lvl3pPr>
            <a:lvl4pPr indent="-342900" lvl="3" marL="1828800" algn="l">
              <a:lnSpc>
                <a:spcPct val="90000"/>
              </a:lnSpc>
              <a:spcBef>
                <a:spcPts val="500"/>
              </a:spcBef>
              <a:spcAft>
                <a:spcPts val="0"/>
              </a:spcAft>
              <a:buClr>
                <a:srgbClr val="2A2F3A"/>
              </a:buClr>
              <a:buSzPts val="1800"/>
              <a:buChar char="•"/>
              <a:defRPr/>
            </a:lvl4pPr>
            <a:lvl5pPr indent="-342900" lvl="4" marL="2286000" algn="l">
              <a:lnSpc>
                <a:spcPct val="90000"/>
              </a:lnSpc>
              <a:spcBef>
                <a:spcPts val="500"/>
              </a:spcBef>
              <a:spcAft>
                <a:spcPts val="0"/>
              </a:spcAft>
              <a:buClr>
                <a:srgbClr val="2A2F3A"/>
              </a:buClr>
              <a:buSzPts val="1800"/>
              <a:buChar char="•"/>
              <a:defRPr/>
            </a:lvl5pPr>
            <a:lvl6pPr indent="-342900" lvl="5" marL="2743200" algn="l">
              <a:lnSpc>
                <a:spcPct val="90000"/>
              </a:lnSpc>
              <a:spcBef>
                <a:spcPts val="500"/>
              </a:spcBef>
              <a:spcAft>
                <a:spcPts val="0"/>
              </a:spcAft>
              <a:buClr>
                <a:srgbClr val="2A2F3A"/>
              </a:buClr>
              <a:buSzPts val="1800"/>
              <a:buChar char="•"/>
              <a:defRPr/>
            </a:lvl6pPr>
            <a:lvl7pPr indent="-342900" lvl="6" marL="3200400" algn="l">
              <a:lnSpc>
                <a:spcPct val="90000"/>
              </a:lnSpc>
              <a:spcBef>
                <a:spcPts val="500"/>
              </a:spcBef>
              <a:spcAft>
                <a:spcPts val="0"/>
              </a:spcAft>
              <a:buClr>
                <a:srgbClr val="2A2F3A"/>
              </a:buClr>
              <a:buSzPts val="1800"/>
              <a:buChar char="•"/>
              <a:defRPr/>
            </a:lvl7pPr>
            <a:lvl8pPr indent="-342900" lvl="7" marL="3657600" algn="l">
              <a:lnSpc>
                <a:spcPct val="90000"/>
              </a:lnSpc>
              <a:spcBef>
                <a:spcPts val="500"/>
              </a:spcBef>
              <a:spcAft>
                <a:spcPts val="0"/>
              </a:spcAft>
              <a:buClr>
                <a:srgbClr val="2A2F3A"/>
              </a:buClr>
              <a:buSzPts val="1800"/>
              <a:buChar char="•"/>
              <a:defRPr/>
            </a:lvl8pPr>
            <a:lvl9pPr indent="-342900" lvl="8" marL="4114800" algn="l">
              <a:lnSpc>
                <a:spcPct val="90000"/>
              </a:lnSpc>
              <a:spcBef>
                <a:spcPts val="500"/>
              </a:spcBef>
              <a:spcAft>
                <a:spcPts val="0"/>
              </a:spcAft>
              <a:buClr>
                <a:srgbClr val="2A2F3A"/>
              </a:buClr>
              <a:buSzPts val="1800"/>
              <a:buChar char="•"/>
              <a:defRPr/>
            </a:lvl9pPr>
          </a:lstStyle>
          <a:p/>
        </p:txBody>
      </p:sp>
      <p:sp>
        <p:nvSpPr>
          <p:cNvPr id="32" name="Google Shape;32;p29"/>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rgbClr val="2A2F3A"/>
              </a:buClr>
              <a:buSzPts val="2400"/>
              <a:buNone/>
              <a:defRPr b="1" sz="2400"/>
            </a:lvl1pPr>
            <a:lvl2pPr indent="-228600" lvl="1" marL="914400" algn="l">
              <a:lnSpc>
                <a:spcPct val="90000"/>
              </a:lnSpc>
              <a:spcBef>
                <a:spcPts val="500"/>
              </a:spcBef>
              <a:spcAft>
                <a:spcPts val="0"/>
              </a:spcAft>
              <a:buClr>
                <a:srgbClr val="2A2F3A"/>
              </a:buClr>
              <a:buSzPts val="2000"/>
              <a:buNone/>
              <a:defRPr b="1" sz="2000"/>
            </a:lvl2pPr>
            <a:lvl3pPr indent="-228600" lvl="2" marL="1371600" algn="l">
              <a:lnSpc>
                <a:spcPct val="90000"/>
              </a:lnSpc>
              <a:spcBef>
                <a:spcPts val="500"/>
              </a:spcBef>
              <a:spcAft>
                <a:spcPts val="0"/>
              </a:spcAft>
              <a:buClr>
                <a:srgbClr val="2A2F3A"/>
              </a:buClr>
              <a:buSzPts val="1800"/>
              <a:buNone/>
              <a:defRPr b="1" sz="1800"/>
            </a:lvl3pPr>
            <a:lvl4pPr indent="-228600" lvl="3" marL="1828800" algn="l">
              <a:lnSpc>
                <a:spcPct val="90000"/>
              </a:lnSpc>
              <a:spcBef>
                <a:spcPts val="500"/>
              </a:spcBef>
              <a:spcAft>
                <a:spcPts val="0"/>
              </a:spcAft>
              <a:buClr>
                <a:srgbClr val="2A2F3A"/>
              </a:buClr>
              <a:buSzPts val="1600"/>
              <a:buNone/>
              <a:defRPr b="1" sz="1600"/>
            </a:lvl4pPr>
            <a:lvl5pPr indent="-228600" lvl="4" marL="2286000" algn="l">
              <a:lnSpc>
                <a:spcPct val="90000"/>
              </a:lnSpc>
              <a:spcBef>
                <a:spcPts val="500"/>
              </a:spcBef>
              <a:spcAft>
                <a:spcPts val="0"/>
              </a:spcAft>
              <a:buClr>
                <a:srgbClr val="2A2F3A"/>
              </a:buClr>
              <a:buSzPts val="1600"/>
              <a:buNone/>
              <a:defRPr b="1" sz="1600"/>
            </a:lvl5pPr>
            <a:lvl6pPr indent="-228600" lvl="5" marL="2743200" algn="l">
              <a:lnSpc>
                <a:spcPct val="90000"/>
              </a:lnSpc>
              <a:spcBef>
                <a:spcPts val="500"/>
              </a:spcBef>
              <a:spcAft>
                <a:spcPts val="0"/>
              </a:spcAft>
              <a:buClr>
                <a:srgbClr val="2A2F3A"/>
              </a:buClr>
              <a:buSzPts val="1600"/>
              <a:buNone/>
              <a:defRPr b="1" sz="1600"/>
            </a:lvl6pPr>
            <a:lvl7pPr indent="-228600" lvl="6" marL="3200400" algn="l">
              <a:lnSpc>
                <a:spcPct val="90000"/>
              </a:lnSpc>
              <a:spcBef>
                <a:spcPts val="500"/>
              </a:spcBef>
              <a:spcAft>
                <a:spcPts val="0"/>
              </a:spcAft>
              <a:buClr>
                <a:srgbClr val="2A2F3A"/>
              </a:buClr>
              <a:buSzPts val="1600"/>
              <a:buNone/>
              <a:defRPr b="1" sz="1600"/>
            </a:lvl7pPr>
            <a:lvl8pPr indent="-228600" lvl="7" marL="3657600" algn="l">
              <a:lnSpc>
                <a:spcPct val="90000"/>
              </a:lnSpc>
              <a:spcBef>
                <a:spcPts val="500"/>
              </a:spcBef>
              <a:spcAft>
                <a:spcPts val="0"/>
              </a:spcAft>
              <a:buClr>
                <a:srgbClr val="2A2F3A"/>
              </a:buClr>
              <a:buSzPts val="1600"/>
              <a:buNone/>
              <a:defRPr b="1" sz="1600"/>
            </a:lvl8pPr>
            <a:lvl9pPr indent="-228600" lvl="8" marL="4114800" algn="l">
              <a:lnSpc>
                <a:spcPct val="90000"/>
              </a:lnSpc>
              <a:spcBef>
                <a:spcPts val="500"/>
              </a:spcBef>
              <a:spcAft>
                <a:spcPts val="0"/>
              </a:spcAft>
              <a:buClr>
                <a:srgbClr val="2A2F3A"/>
              </a:buClr>
              <a:buSzPts val="1600"/>
              <a:buNone/>
              <a:defRPr b="1" sz="1600"/>
            </a:lvl9pPr>
          </a:lstStyle>
          <a:p/>
        </p:txBody>
      </p:sp>
      <p:sp>
        <p:nvSpPr>
          <p:cNvPr id="33" name="Google Shape;33;p29"/>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rgbClr val="2A2F3A"/>
              </a:buClr>
              <a:buSzPts val="1800"/>
              <a:buChar char="•"/>
              <a:defRPr/>
            </a:lvl1pPr>
            <a:lvl2pPr indent="-342900" lvl="1" marL="914400" algn="l">
              <a:lnSpc>
                <a:spcPct val="90000"/>
              </a:lnSpc>
              <a:spcBef>
                <a:spcPts val="500"/>
              </a:spcBef>
              <a:spcAft>
                <a:spcPts val="0"/>
              </a:spcAft>
              <a:buClr>
                <a:srgbClr val="2A2F3A"/>
              </a:buClr>
              <a:buSzPts val="1800"/>
              <a:buChar char="•"/>
              <a:defRPr/>
            </a:lvl2pPr>
            <a:lvl3pPr indent="-342900" lvl="2" marL="1371600" algn="l">
              <a:lnSpc>
                <a:spcPct val="90000"/>
              </a:lnSpc>
              <a:spcBef>
                <a:spcPts val="500"/>
              </a:spcBef>
              <a:spcAft>
                <a:spcPts val="0"/>
              </a:spcAft>
              <a:buClr>
                <a:srgbClr val="2A2F3A"/>
              </a:buClr>
              <a:buSzPts val="1800"/>
              <a:buChar char="•"/>
              <a:defRPr/>
            </a:lvl3pPr>
            <a:lvl4pPr indent="-342900" lvl="3" marL="1828800" algn="l">
              <a:lnSpc>
                <a:spcPct val="90000"/>
              </a:lnSpc>
              <a:spcBef>
                <a:spcPts val="500"/>
              </a:spcBef>
              <a:spcAft>
                <a:spcPts val="0"/>
              </a:spcAft>
              <a:buClr>
                <a:srgbClr val="2A2F3A"/>
              </a:buClr>
              <a:buSzPts val="1800"/>
              <a:buChar char="•"/>
              <a:defRPr/>
            </a:lvl4pPr>
            <a:lvl5pPr indent="-342900" lvl="4" marL="2286000" algn="l">
              <a:lnSpc>
                <a:spcPct val="90000"/>
              </a:lnSpc>
              <a:spcBef>
                <a:spcPts val="500"/>
              </a:spcBef>
              <a:spcAft>
                <a:spcPts val="0"/>
              </a:spcAft>
              <a:buClr>
                <a:srgbClr val="2A2F3A"/>
              </a:buClr>
              <a:buSzPts val="1800"/>
              <a:buChar char="•"/>
              <a:defRPr/>
            </a:lvl5pPr>
            <a:lvl6pPr indent="-342900" lvl="5" marL="2743200" algn="l">
              <a:lnSpc>
                <a:spcPct val="90000"/>
              </a:lnSpc>
              <a:spcBef>
                <a:spcPts val="500"/>
              </a:spcBef>
              <a:spcAft>
                <a:spcPts val="0"/>
              </a:spcAft>
              <a:buClr>
                <a:srgbClr val="2A2F3A"/>
              </a:buClr>
              <a:buSzPts val="1800"/>
              <a:buChar char="•"/>
              <a:defRPr/>
            </a:lvl6pPr>
            <a:lvl7pPr indent="-342900" lvl="6" marL="3200400" algn="l">
              <a:lnSpc>
                <a:spcPct val="90000"/>
              </a:lnSpc>
              <a:spcBef>
                <a:spcPts val="500"/>
              </a:spcBef>
              <a:spcAft>
                <a:spcPts val="0"/>
              </a:spcAft>
              <a:buClr>
                <a:srgbClr val="2A2F3A"/>
              </a:buClr>
              <a:buSzPts val="1800"/>
              <a:buChar char="•"/>
              <a:defRPr/>
            </a:lvl7pPr>
            <a:lvl8pPr indent="-342900" lvl="7" marL="3657600" algn="l">
              <a:lnSpc>
                <a:spcPct val="90000"/>
              </a:lnSpc>
              <a:spcBef>
                <a:spcPts val="500"/>
              </a:spcBef>
              <a:spcAft>
                <a:spcPts val="0"/>
              </a:spcAft>
              <a:buClr>
                <a:srgbClr val="2A2F3A"/>
              </a:buClr>
              <a:buSzPts val="1800"/>
              <a:buChar char="•"/>
              <a:defRPr/>
            </a:lvl8pPr>
            <a:lvl9pPr indent="-342900" lvl="8" marL="4114800" algn="l">
              <a:lnSpc>
                <a:spcPct val="90000"/>
              </a:lnSpc>
              <a:spcBef>
                <a:spcPts val="500"/>
              </a:spcBef>
              <a:spcAft>
                <a:spcPts val="0"/>
              </a:spcAft>
              <a:buClr>
                <a:srgbClr val="2A2F3A"/>
              </a:buClr>
              <a:buSzPts val="1800"/>
              <a:buChar char="•"/>
              <a:defRPr/>
            </a:lvl9pPr>
          </a:lstStyle>
          <a:p/>
        </p:txBody>
      </p:sp>
      <p:sp>
        <p:nvSpPr>
          <p:cNvPr id="34" name="Google Shape;34;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37" name="Shape 37"/>
        <p:cNvGrpSpPr/>
        <p:nvPr/>
      </p:nvGrpSpPr>
      <p:grpSpPr>
        <a:xfrm>
          <a:off x="0" y="0"/>
          <a:ext cx="0" cy="0"/>
          <a:chOff x="0" y="0"/>
          <a:chExt cx="0" cy="0"/>
        </a:xfrm>
      </p:grpSpPr>
      <p:sp>
        <p:nvSpPr>
          <p:cNvPr id="38" name="Google Shape;38;p3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1C243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30"/>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rgbClr val="2A2F3A"/>
              </a:buClr>
              <a:buSzPts val="1800"/>
              <a:buChar char="•"/>
              <a:defRPr/>
            </a:lvl1pPr>
            <a:lvl2pPr indent="-342900" lvl="1" marL="914400" algn="l">
              <a:lnSpc>
                <a:spcPct val="90000"/>
              </a:lnSpc>
              <a:spcBef>
                <a:spcPts val="500"/>
              </a:spcBef>
              <a:spcAft>
                <a:spcPts val="0"/>
              </a:spcAft>
              <a:buClr>
                <a:srgbClr val="2A2F3A"/>
              </a:buClr>
              <a:buSzPts val="1800"/>
              <a:buChar char="•"/>
              <a:defRPr/>
            </a:lvl2pPr>
            <a:lvl3pPr indent="-342900" lvl="2" marL="1371600" algn="l">
              <a:lnSpc>
                <a:spcPct val="90000"/>
              </a:lnSpc>
              <a:spcBef>
                <a:spcPts val="500"/>
              </a:spcBef>
              <a:spcAft>
                <a:spcPts val="0"/>
              </a:spcAft>
              <a:buClr>
                <a:srgbClr val="2A2F3A"/>
              </a:buClr>
              <a:buSzPts val="1800"/>
              <a:buChar char="•"/>
              <a:defRPr/>
            </a:lvl3pPr>
            <a:lvl4pPr indent="-342900" lvl="3" marL="1828800" algn="l">
              <a:lnSpc>
                <a:spcPct val="90000"/>
              </a:lnSpc>
              <a:spcBef>
                <a:spcPts val="500"/>
              </a:spcBef>
              <a:spcAft>
                <a:spcPts val="0"/>
              </a:spcAft>
              <a:buClr>
                <a:srgbClr val="2A2F3A"/>
              </a:buClr>
              <a:buSzPts val="1800"/>
              <a:buChar char="•"/>
              <a:defRPr/>
            </a:lvl4pPr>
            <a:lvl5pPr indent="-342900" lvl="4" marL="2286000" algn="l">
              <a:lnSpc>
                <a:spcPct val="90000"/>
              </a:lnSpc>
              <a:spcBef>
                <a:spcPts val="500"/>
              </a:spcBef>
              <a:spcAft>
                <a:spcPts val="0"/>
              </a:spcAft>
              <a:buClr>
                <a:srgbClr val="2A2F3A"/>
              </a:buClr>
              <a:buSzPts val="1800"/>
              <a:buChar char="•"/>
              <a:defRPr/>
            </a:lvl5pPr>
            <a:lvl6pPr indent="-342900" lvl="5" marL="2743200" algn="l">
              <a:lnSpc>
                <a:spcPct val="90000"/>
              </a:lnSpc>
              <a:spcBef>
                <a:spcPts val="500"/>
              </a:spcBef>
              <a:spcAft>
                <a:spcPts val="0"/>
              </a:spcAft>
              <a:buClr>
                <a:srgbClr val="2A2F3A"/>
              </a:buClr>
              <a:buSzPts val="1800"/>
              <a:buChar char="•"/>
              <a:defRPr/>
            </a:lvl6pPr>
            <a:lvl7pPr indent="-342900" lvl="6" marL="3200400" algn="l">
              <a:lnSpc>
                <a:spcPct val="90000"/>
              </a:lnSpc>
              <a:spcBef>
                <a:spcPts val="500"/>
              </a:spcBef>
              <a:spcAft>
                <a:spcPts val="0"/>
              </a:spcAft>
              <a:buClr>
                <a:srgbClr val="2A2F3A"/>
              </a:buClr>
              <a:buSzPts val="1800"/>
              <a:buChar char="•"/>
              <a:defRPr/>
            </a:lvl7pPr>
            <a:lvl8pPr indent="-342900" lvl="7" marL="3657600" algn="l">
              <a:lnSpc>
                <a:spcPct val="90000"/>
              </a:lnSpc>
              <a:spcBef>
                <a:spcPts val="500"/>
              </a:spcBef>
              <a:spcAft>
                <a:spcPts val="0"/>
              </a:spcAft>
              <a:buClr>
                <a:srgbClr val="2A2F3A"/>
              </a:buClr>
              <a:buSzPts val="1800"/>
              <a:buChar char="•"/>
              <a:defRPr/>
            </a:lvl8pPr>
            <a:lvl9pPr indent="-342900" lvl="8" marL="4114800" algn="l">
              <a:lnSpc>
                <a:spcPct val="90000"/>
              </a:lnSpc>
              <a:spcBef>
                <a:spcPts val="500"/>
              </a:spcBef>
              <a:spcAft>
                <a:spcPts val="0"/>
              </a:spcAft>
              <a:buClr>
                <a:srgbClr val="2A2F3A"/>
              </a:buClr>
              <a:buSzPts val="1800"/>
              <a:buChar char="•"/>
              <a:defRPr/>
            </a:lvl9pPr>
          </a:lstStyle>
          <a:p/>
        </p:txBody>
      </p:sp>
      <p:sp>
        <p:nvSpPr>
          <p:cNvPr id="40" name="Google Shape;40;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3" name="Shape 43"/>
        <p:cNvGrpSpPr/>
        <p:nvPr/>
      </p:nvGrpSpPr>
      <p:grpSpPr>
        <a:xfrm>
          <a:off x="0" y="0"/>
          <a:ext cx="0" cy="0"/>
          <a:chOff x="0" y="0"/>
          <a:chExt cx="0" cy="0"/>
        </a:xfrm>
      </p:grpSpPr>
      <p:sp>
        <p:nvSpPr>
          <p:cNvPr id="44" name="Google Shape;44;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47" name="Shape 47"/>
        <p:cNvGrpSpPr/>
        <p:nvPr/>
      </p:nvGrpSpPr>
      <p:grpSpPr>
        <a:xfrm>
          <a:off x="0" y="0"/>
          <a:ext cx="0" cy="0"/>
          <a:chOff x="0" y="0"/>
          <a:chExt cx="0" cy="0"/>
        </a:xfrm>
      </p:grpSpPr>
      <p:sp>
        <p:nvSpPr>
          <p:cNvPr id="48" name="Google Shape;48;p3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1C243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 name="Google Shape;49;p3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rgbClr val="2A2F3A"/>
              </a:buClr>
              <a:buSzPts val="1800"/>
              <a:buChar char="•"/>
              <a:defRPr/>
            </a:lvl1pPr>
            <a:lvl2pPr indent="-342900" lvl="1" marL="914400" algn="l">
              <a:lnSpc>
                <a:spcPct val="90000"/>
              </a:lnSpc>
              <a:spcBef>
                <a:spcPts val="500"/>
              </a:spcBef>
              <a:spcAft>
                <a:spcPts val="0"/>
              </a:spcAft>
              <a:buClr>
                <a:srgbClr val="2A2F3A"/>
              </a:buClr>
              <a:buSzPts val="1800"/>
              <a:buChar char="•"/>
              <a:defRPr/>
            </a:lvl2pPr>
            <a:lvl3pPr indent="-342900" lvl="2" marL="1371600" algn="l">
              <a:lnSpc>
                <a:spcPct val="90000"/>
              </a:lnSpc>
              <a:spcBef>
                <a:spcPts val="500"/>
              </a:spcBef>
              <a:spcAft>
                <a:spcPts val="0"/>
              </a:spcAft>
              <a:buClr>
                <a:srgbClr val="2A2F3A"/>
              </a:buClr>
              <a:buSzPts val="1800"/>
              <a:buChar char="•"/>
              <a:defRPr/>
            </a:lvl3pPr>
            <a:lvl4pPr indent="-342900" lvl="3" marL="1828800" algn="l">
              <a:lnSpc>
                <a:spcPct val="90000"/>
              </a:lnSpc>
              <a:spcBef>
                <a:spcPts val="500"/>
              </a:spcBef>
              <a:spcAft>
                <a:spcPts val="0"/>
              </a:spcAft>
              <a:buClr>
                <a:srgbClr val="2A2F3A"/>
              </a:buClr>
              <a:buSzPts val="1800"/>
              <a:buChar char="•"/>
              <a:defRPr/>
            </a:lvl4pPr>
            <a:lvl5pPr indent="-342900" lvl="4" marL="2286000" algn="l">
              <a:lnSpc>
                <a:spcPct val="90000"/>
              </a:lnSpc>
              <a:spcBef>
                <a:spcPts val="500"/>
              </a:spcBef>
              <a:spcAft>
                <a:spcPts val="0"/>
              </a:spcAft>
              <a:buClr>
                <a:srgbClr val="2A2F3A"/>
              </a:buClr>
              <a:buSzPts val="1800"/>
              <a:buChar char="•"/>
              <a:defRPr/>
            </a:lvl5pPr>
            <a:lvl6pPr indent="-342900" lvl="5" marL="2743200" algn="l">
              <a:lnSpc>
                <a:spcPct val="90000"/>
              </a:lnSpc>
              <a:spcBef>
                <a:spcPts val="500"/>
              </a:spcBef>
              <a:spcAft>
                <a:spcPts val="0"/>
              </a:spcAft>
              <a:buClr>
                <a:srgbClr val="2A2F3A"/>
              </a:buClr>
              <a:buSzPts val="1800"/>
              <a:buChar char="•"/>
              <a:defRPr/>
            </a:lvl6pPr>
            <a:lvl7pPr indent="-342900" lvl="6" marL="3200400" algn="l">
              <a:lnSpc>
                <a:spcPct val="90000"/>
              </a:lnSpc>
              <a:spcBef>
                <a:spcPts val="500"/>
              </a:spcBef>
              <a:spcAft>
                <a:spcPts val="0"/>
              </a:spcAft>
              <a:buClr>
                <a:srgbClr val="2A2F3A"/>
              </a:buClr>
              <a:buSzPts val="1800"/>
              <a:buChar char="•"/>
              <a:defRPr/>
            </a:lvl7pPr>
            <a:lvl8pPr indent="-342900" lvl="7" marL="3657600" algn="l">
              <a:lnSpc>
                <a:spcPct val="90000"/>
              </a:lnSpc>
              <a:spcBef>
                <a:spcPts val="500"/>
              </a:spcBef>
              <a:spcAft>
                <a:spcPts val="0"/>
              </a:spcAft>
              <a:buClr>
                <a:srgbClr val="2A2F3A"/>
              </a:buClr>
              <a:buSzPts val="1800"/>
              <a:buChar char="•"/>
              <a:defRPr/>
            </a:lvl8pPr>
            <a:lvl9pPr indent="-342900" lvl="8" marL="4114800" algn="l">
              <a:lnSpc>
                <a:spcPct val="90000"/>
              </a:lnSpc>
              <a:spcBef>
                <a:spcPts val="500"/>
              </a:spcBef>
              <a:spcAft>
                <a:spcPts val="0"/>
              </a:spcAft>
              <a:buClr>
                <a:srgbClr val="2A2F3A"/>
              </a:buClr>
              <a:buSzPts val="1800"/>
              <a:buChar char="•"/>
              <a:defRPr/>
            </a:lvl9pPr>
          </a:lstStyle>
          <a:p/>
        </p:txBody>
      </p:sp>
      <p:sp>
        <p:nvSpPr>
          <p:cNvPr id="50" name="Google Shape;50;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3" name="Shape 53"/>
        <p:cNvGrpSpPr/>
        <p:nvPr/>
      </p:nvGrpSpPr>
      <p:grpSpPr>
        <a:xfrm>
          <a:off x="0" y="0"/>
          <a:ext cx="0" cy="0"/>
          <a:chOff x="0" y="0"/>
          <a:chExt cx="0" cy="0"/>
        </a:xfrm>
      </p:grpSpPr>
      <p:sp>
        <p:nvSpPr>
          <p:cNvPr id="54" name="Google Shape;54;p33"/>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1C2433"/>
              </a:buClr>
              <a:buSzPts val="6000"/>
              <a:buFont typeface="Playfair Dis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33"/>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7787C"/>
              </a:buClr>
              <a:buSzPts val="2400"/>
              <a:buNone/>
              <a:defRPr sz="2400">
                <a:solidFill>
                  <a:srgbClr val="77787C"/>
                </a:solidFill>
              </a:defRPr>
            </a:lvl1pPr>
            <a:lvl2pPr indent="-228600" lvl="1" marL="914400" algn="l">
              <a:lnSpc>
                <a:spcPct val="90000"/>
              </a:lnSpc>
              <a:spcBef>
                <a:spcPts val="500"/>
              </a:spcBef>
              <a:spcAft>
                <a:spcPts val="0"/>
              </a:spcAft>
              <a:buClr>
                <a:srgbClr val="77787C"/>
              </a:buClr>
              <a:buSzPts val="2000"/>
              <a:buNone/>
              <a:defRPr sz="2000">
                <a:solidFill>
                  <a:srgbClr val="77787C"/>
                </a:solidFill>
              </a:defRPr>
            </a:lvl2pPr>
            <a:lvl3pPr indent="-228600" lvl="2" marL="1371600" algn="l">
              <a:lnSpc>
                <a:spcPct val="90000"/>
              </a:lnSpc>
              <a:spcBef>
                <a:spcPts val="500"/>
              </a:spcBef>
              <a:spcAft>
                <a:spcPts val="0"/>
              </a:spcAft>
              <a:buClr>
                <a:srgbClr val="77787C"/>
              </a:buClr>
              <a:buSzPts val="1800"/>
              <a:buNone/>
              <a:defRPr sz="1800">
                <a:solidFill>
                  <a:srgbClr val="77787C"/>
                </a:solidFill>
              </a:defRPr>
            </a:lvl3pPr>
            <a:lvl4pPr indent="-228600" lvl="3" marL="1828800" algn="l">
              <a:lnSpc>
                <a:spcPct val="90000"/>
              </a:lnSpc>
              <a:spcBef>
                <a:spcPts val="500"/>
              </a:spcBef>
              <a:spcAft>
                <a:spcPts val="0"/>
              </a:spcAft>
              <a:buClr>
                <a:srgbClr val="77787C"/>
              </a:buClr>
              <a:buSzPts val="1600"/>
              <a:buNone/>
              <a:defRPr sz="1600">
                <a:solidFill>
                  <a:srgbClr val="77787C"/>
                </a:solidFill>
              </a:defRPr>
            </a:lvl4pPr>
            <a:lvl5pPr indent="-228600" lvl="4" marL="2286000" algn="l">
              <a:lnSpc>
                <a:spcPct val="90000"/>
              </a:lnSpc>
              <a:spcBef>
                <a:spcPts val="500"/>
              </a:spcBef>
              <a:spcAft>
                <a:spcPts val="0"/>
              </a:spcAft>
              <a:buClr>
                <a:srgbClr val="77787C"/>
              </a:buClr>
              <a:buSzPts val="1600"/>
              <a:buNone/>
              <a:defRPr sz="1600">
                <a:solidFill>
                  <a:srgbClr val="77787C"/>
                </a:solidFill>
              </a:defRPr>
            </a:lvl5pPr>
            <a:lvl6pPr indent="-228600" lvl="5" marL="2743200" algn="l">
              <a:lnSpc>
                <a:spcPct val="90000"/>
              </a:lnSpc>
              <a:spcBef>
                <a:spcPts val="500"/>
              </a:spcBef>
              <a:spcAft>
                <a:spcPts val="0"/>
              </a:spcAft>
              <a:buClr>
                <a:srgbClr val="77787C"/>
              </a:buClr>
              <a:buSzPts val="1600"/>
              <a:buNone/>
              <a:defRPr sz="1600">
                <a:solidFill>
                  <a:srgbClr val="77787C"/>
                </a:solidFill>
              </a:defRPr>
            </a:lvl6pPr>
            <a:lvl7pPr indent="-228600" lvl="6" marL="3200400" algn="l">
              <a:lnSpc>
                <a:spcPct val="90000"/>
              </a:lnSpc>
              <a:spcBef>
                <a:spcPts val="500"/>
              </a:spcBef>
              <a:spcAft>
                <a:spcPts val="0"/>
              </a:spcAft>
              <a:buClr>
                <a:srgbClr val="77787C"/>
              </a:buClr>
              <a:buSzPts val="1600"/>
              <a:buNone/>
              <a:defRPr sz="1600">
                <a:solidFill>
                  <a:srgbClr val="77787C"/>
                </a:solidFill>
              </a:defRPr>
            </a:lvl7pPr>
            <a:lvl8pPr indent="-228600" lvl="7" marL="3657600" algn="l">
              <a:lnSpc>
                <a:spcPct val="90000"/>
              </a:lnSpc>
              <a:spcBef>
                <a:spcPts val="500"/>
              </a:spcBef>
              <a:spcAft>
                <a:spcPts val="0"/>
              </a:spcAft>
              <a:buClr>
                <a:srgbClr val="77787C"/>
              </a:buClr>
              <a:buSzPts val="1600"/>
              <a:buNone/>
              <a:defRPr sz="1600">
                <a:solidFill>
                  <a:srgbClr val="77787C"/>
                </a:solidFill>
              </a:defRPr>
            </a:lvl8pPr>
            <a:lvl9pPr indent="-228600" lvl="8" marL="4114800" algn="l">
              <a:lnSpc>
                <a:spcPct val="90000"/>
              </a:lnSpc>
              <a:spcBef>
                <a:spcPts val="500"/>
              </a:spcBef>
              <a:spcAft>
                <a:spcPts val="0"/>
              </a:spcAft>
              <a:buClr>
                <a:srgbClr val="77787C"/>
              </a:buClr>
              <a:buSzPts val="1600"/>
              <a:buNone/>
              <a:defRPr sz="1600">
                <a:solidFill>
                  <a:srgbClr val="77787C"/>
                </a:solidFill>
              </a:defRPr>
            </a:lvl9pPr>
          </a:lstStyle>
          <a:p/>
        </p:txBody>
      </p:sp>
      <p:sp>
        <p:nvSpPr>
          <p:cNvPr id="56" name="Google Shape;56;p3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9" name="Shape 59"/>
        <p:cNvGrpSpPr/>
        <p:nvPr/>
      </p:nvGrpSpPr>
      <p:grpSpPr>
        <a:xfrm>
          <a:off x="0" y="0"/>
          <a:ext cx="0" cy="0"/>
          <a:chOff x="0" y="0"/>
          <a:chExt cx="0" cy="0"/>
        </a:xfrm>
      </p:grpSpPr>
      <p:sp>
        <p:nvSpPr>
          <p:cNvPr id="60" name="Google Shape;60;p3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1C243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1" name="Google Shape;61;p34"/>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rgbClr val="2A2F3A"/>
              </a:buClr>
              <a:buSzPts val="1800"/>
              <a:buChar char="•"/>
              <a:defRPr/>
            </a:lvl1pPr>
            <a:lvl2pPr indent="-342900" lvl="1" marL="914400" algn="l">
              <a:lnSpc>
                <a:spcPct val="90000"/>
              </a:lnSpc>
              <a:spcBef>
                <a:spcPts val="500"/>
              </a:spcBef>
              <a:spcAft>
                <a:spcPts val="0"/>
              </a:spcAft>
              <a:buClr>
                <a:srgbClr val="2A2F3A"/>
              </a:buClr>
              <a:buSzPts val="1800"/>
              <a:buChar char="•"/>
              <a:defRPr/>
            </a:lvl2pPr>
            <a:lvl3pPr indent="-342900" lvl="2" marL="1371600" algn="l">
              <a:lnSpc>
                <a:spcPct val="90000"/>
              </a:lnSpc>
              <a:spcBef>
                <a:spcPts val="500"/>
              </a:spcBef>
              <a:spcAft>
                <a:spcPts val="0"/>
              </a:spcAft>
              <a:buClr>
                <a:srgbClr val="2A2F3A"/>
              </a:buClr>
              <a:buSzPts val="1800"/>
              <a:buChar char="•"/>
              <a:defRPr/>
            </a:lvl3pPr>
            <a:lvl4pPr indent="-342900" lvl="3" marL="1828800" algn="l">
              <a:lnSpc>
                <a:spcPct val="90000"/>
              </a:lnSpc>
              <a:spcBef>
                <a:spcPts val="500"/>
              </a:spcBef>
              <a:spcAft>
                <a:spcPts val="0"/>
              </a:spcAft>
              <a:buClr>
                <a:srgbClr val="2A2F3A"/>
              </a:buClr>
              <a:buSzPts val="1800"/>
              <a:buChar char="•"/>
              <a:defRPr/>
            </a:lvl4pPr>
            <a:lvl5pPr indent="-342900" lvl="4" marL="2286000" algn="l">
              <a:lnSpc>
                <a:spcPct val="90000"/>
              </a:lnSpc>
              <a:spcBef>
                <a:spcPts val="500"/>
              </a:spcBef>
              <a:spcAft>
                <a:spcPts val="0"/>
              </a:spcAft>
              <a:buClr>
                <a:srgbClr val="2A2F3A"/>
              </a:buClr>
              <a:buSzPts val="1800"/>
              <a:buChar char="•"/>
              <a:defRPr/>
            </a:lvl5pPr>
            <a:lvl6pPr indent="-342900" lvl="5" marL="2743200" algn="l">
              <a:lnSpc>
                <a:spcPct val="90000"/>
              </a:lnSpc>
              <a:spcBef>
                <a:spcPts val="500"/>
              </a:spcBef>
              <a:spcAft>
                <a:spcPts val="0"/>
              </a:spcAft>
              <a:buClr>
                <a:srgbClr val="2A2F3A"/>
              </a:buClr>
              <a:buSzPts val="1800"/>
              <a:buChar char="•"/>
              <a:defRPr/>
            </a:lvl6pPr>
            <a:lvl7pPr indent="-342900" lvl="6" marL="3200400" algn="l">
              <a:lnSpc>
                <a:spcPct val="90000"/>
              </a:lnSpc>
              <a:spcBef>
                <a:spcPts val="500"/>
              </a:spcBef>
              <a:spcAft>
                <a:spcPts val="0"/>
              </a:spcAft>
              <a:buClr>
                <a:srgbClr val="2A2F3A"/>
              </a:buClr>
              <a:buSzPts val="1800"/>
              <a:buChar char="•"/>
              <a:defRPr/>
            </a:lvl7pPr>
            <a:lvl8pPr indent="-342900" lvl="7" marL="3657600" algn="l">
              <a:lnSpc>
                <a:spcPct val="90000"/>
              </a:lnSpc>
              <a:spcBef>
                <a:spcPts val="500"/>
              </a:spcBef>
              <a:spcAft>
                <a:spcPts val="0"/>
              </a:spcAft>
              <a:buClr>
                <a:srgbClr val="2A2F3A"/>
              </a:buClr>
              <a:buSzPts val="1800"/>
              <a:buChar char="•"/>
              <a:defRPr/>
            </a:lvl8pPr>
            <a:lvl9pPr indent="-342900" lvl="8" marL="4114800" algn="l">
              <a:lnSpc>
                <a:spcPct val="90000"/>
              </a:lnSpc>
              <a:spcBef>
                <a:spcPts val="500"/>
              </a:spcBef>
              <a:spcAft>
                <a:spcPts val="0"/>
              </a:spcAft>
              <a:buClr>
                <a:srgbClr val="2A2F3A"/>
              </a:buClr>
              <a:buSzPts val="1800"/>
              <a:buChar char="•"/>
              <a:defRPr/>
            </a:lvl9pPr>
          </a:lstStyle>
          <a:p/>
        </p:txBody>
      </p:sp>
      <p:sp>
        <p:nvSpPr>
          <p:cNvPr id="62" name="Google Shape;62;p34"/>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rgbClr val="2A2F3A"/>
              </a:buClr>
              <a:buSzPts val="1800"/>
              <a:buChar char="•"/>
              <a:defRPr/>
            </a:lvl1pPr>
            <a:lvl2pPr indent="-342900" lvl="1" marL="914400" algn="l">
              <a:lnSpc>
                <a:spcPct val="90000"/>
              </a:lnSpc>
              <a:spcBef>
                <a:spcPts val="500"/>
              </a:spcBef>
              <a:spcAft>
                <a:spcPts val="0"/>
              </a:spcAft>
              <a:buClr>
                <a:srgbClr val="2A2F3A"/>
              </a:buClr>
              <a:buSzPts val="1800"/>
              <a:buChar char="•"/>
              <a:defRPr/>
            </a:lvl2pPr>
            <a:lvl3pPr indent="-342900" lvl="2" marL="1371600" algn="l">
              <a:lnSpc>
                <a:spcPct val="90000"/>
              </a:lnSpc>
              <a:spcBef>
                <a:spcPts val="500"/>
              </a:spcBef>
              <a:spcAft>
                <a:spcPts val="0"/>
              </a:spcAft>
              <a:buClr>
                <a:srgbClr val="2A2F3A"/>
              </a:buClr>
              <a:buSzPts val="1800"/>
              <a:buChar char="•"/>
              <a:defRPr/>
            </a:lvl3pPr>
            <a:lvl4pPr indent="-342900" lvl="3" marL="1828800" algn="l">
              <a:lnSpc>
                <a:spcPct val="90000"/>
              </a:lnSpc>
              <a:spcBef>
                <a:spcPts val="500"/>
              </a:spcBef>
              <a:spcAft>
                <a:spcPts val="0"/>
              </a:spcAft>
              <a:buClr>
                <a:srgbClr val="2A2F3A"/>
              </a:buClr>
              <a:buSzPts val="1800"/>
              <a:buChar char="•"/>
              <a:defRPr/>
            </a:lvl4pPr>
            <a:lvl5pPr indent="-342900" lvl="4" marL="2286000" algn="l">
              <a:lnSpc>
                <a:spcPct val="90000"/>
              </a:lnSpc>
              <a:spcBef>
                <a:spcPts val="500"/>
              </a:spcBef>
              <a:spcAft>
                <a:spcPts val="0"/>
              </a:spcAft>
              <a:buClr>
                <a:srgbClr val="2A2F3A"/>
              </a:buClr>
              <a:buSzPts val="1800"/>
              <a:buChar char="•"/>
              <a:defRPr/>
            </a:lvl5pPr>
            <a:lvl6pPr indent="-342900" lvl="5" marL="2743200" algn="l">
              <a:lnSpc>
                <a:spcPct val="90000"/>
              </a:lnSpc>
              <a:spcBef>
                <a:spcPts val="500"/>
              </a:spcBef>
              <a:spcAft>
                <a:spcPts val="0"/>
              </a:spcAft>
              <a:buClr>
                <a:srgbClr val="2A2F3A"/>
              </a:buClr>
              <a:buSzPts val="1800"/>
              <a:buChar char="•"/>
              <a:defRPr/>
            </a:lvl6pPr>
            <a:lvl7pPr indent="-342900" lvl="6" marL="3200400" algn="l">
              <a:lnSpc>
                <a:spcPct val="90000"/>
              </a:lnSpc>
              <a:spcBef>
                <a:spcPts val="500"/>
              </a:spcBef>
              <a:spcAft>
                <a:spcPts val="0"/>
              </a:spcAft>
              <a:buClr>
                <a:srgbClr val="2A2F3A"/>
              </a:buClr>
              <a:buSzPts val="1800"/>
              <a:buChar char="•"/>
              <a:defRPr/>
            </a:lvl7pPr>
            <a:lvl8pPr indent="-342900" lvl="7" marL="3657600" algn="l">
              <a:lnSpc>
                <a:spcPct val="90000"/>
              </a:lnSpc>
              <a:spcBef>
                <a:spcPts val="500"/>
              </a:spcBef>
              <a:spcAft>
                <a:spcPts val="0"/>
              </a:spcAft>
              <a:buClr>
                <a:srgbClr val="2A2F3A"/>
              </a:buClr>
              <a:buSzPts val="1800"/>
              <a:buChar char="•"/>
              <a:defRPr/>
            </a:lvl8pPr>
            <a:lvl9pPr indent="-342900" lvl="8" marL="4114800" algn="l">
              <a:lnSpc>
                <a:spcPct val="90000"/>
              </a:lnSpc>
              <a:spcBef>
                <a:spcPts val="500"/>
              </a:spcBef>
              <a:spcAft>
                <a:spcPts val="0"/>
              </a:spcAft>
              <a:buClr>
                <a:srgbClr val="2A2F3A"/>
              </a:buClr>
              <a:buSzPts val="1800"/>
              <a:buChar char="•"/>
              <a:defRPr/>
            </a:lvl9pPr>
          </a:lstStyle>
          <a:p/>
        </p:txBody>
      </p:sp>
      <p:sp>
        <p:nvSpPr>
          <p:cNvPr id="63" name="Google Shape;63;p3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3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6" name="Shape 66"/>
        <p:cNvGrpSpPr/>
        <p:nvPr/>
      </p:nvGrpSpPr>
      <p:grpSpPr>
        <a:xfrm>
          <a:off x="0" y="0"/>
          <a:ext cx="0" cy="0"/>
          <a:chOff x="0" y="0"/>
          <a:chExt cx="0" cy="0"/>
        </a:xfrm>
      </p:grpSpPr>
      <p:sp>
        <p:nvSpPr>
          <p:cNvPr id="67" name="Google Shape;67;p3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1C2433"/>
              </a:buClr>
              <a:buSzPts val="3200"/>
              <a:buFont typeface="Playfair Dis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8" name="Google Shape;68;p35"/>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rgbClr val="2A2F3A"/>
              </a:buClr>
              <a:buSzPts val="3200"/>
              <a:buChar char="•"/>
              <a:defRPr sz="3200"/>
            </a:lvl1pPr>
            <a:lvl2pPr indent="-406400" lvl="1" marL="914400" algn="l">
              <a:lnSpc>
                <a:spcPct val="90000"/>
              </a:lnSpc>
              <a:spcBef>
                <a:spcPts val="500"/>
              </a:spcBef>
              <a:spcAft>
                <a:spcPts val="0"/>
              </a:spcAft>
              <a:buClr>
                <a:srgbClr val="2A2F3A"/>
              </a:buClr>
              <a:buSzPts val="2800"/>
              <a:buChar char="•"/>
              <a:defRPr sz="2800"/>
            </a:lvl2pPr>
            <a:lvl3pPr indent="-381000" lvl="2" marL="1371600" algn="l">
              <a:lnSpc>
                <a:spcPct val="90000"/>
              </a:lnSpc>
              <a:spcBef>
                <a:spcPts val="500"/>
              </a:spcBef>
              <a:spcAft>
                <a:spcPts val="0"/>
              </a:spcAft>
              <a:buClr>
                <a:srgbClr val="2A2F3A"/>
              </a:buClr>
              <a:buSzPts val="2400"/>
              <a:buChar char="•"/>
              <a:defRPr sz="2400"/>
            </a:lvl3pPr>
            <a:lvl4pPr indent="-355600" lvl="3" marL="1828800" algn="l">
              <a:lnSpc>
                <a:spcPct val="90000"/>
              </a:lnSpc>
              <a:spcBef>
                <a:spcPts val="500"/>
              </a:spcBef>
              <a:spcAft>
                <a:spcPts val="0"/>
              </a:spcAft>
              <a:buClr>
                <a:srgbClr val="2A2F3A"/>
              </a:buClr>
              <a:buSzPts val="2000"/>
              <a:buChar char="•"/>
              <a:defRPr sz="2000"/>
            </a:lvl4pPr>
            <a:lvl5pPr indent="-355600" lvl="4" marL="2286000" algn="l">
              <a:lnSpc>
                <a:spcPct val="90000"/>
              </a:lnSpc>
              <a:spcBef>
                <a:spcPts val="500"/>
              </a:spcBef>
              <a:spcAft>
                <a:spcPts val="0"/>
              </a:spcAft>
              <a:buClr>
                <a:srgbClr val="2A2F3A"/>
              </a:buClr>
              <a:buSzPts val="2000"/>
              <a:buChar char="•"/>
              <a:defRPr sz="2000"/>
            </a:lvl5pPr>
            <a:lvl6pPr indent="-355600" lvl="5" marL="2743200" algn="l">
              <a:lnSpc>
                <a:spcPct val="90000"/>
              </a:lnSpc>
              <a:spcBef>
                <a:spcPts val="500"/>
              </a:spcBef>
              <a:spcAft>
                <a:spcPts val="0"/>
              </a:spcAft>
              <a:buClr>
                <a:srgbClr val="2A2F3A"/>
              </a:buClr>
              <a:buSzPts val="2000"/>
              <a:buChar char="•"/>
              <a:defRPr sz="2000"/>
            </a:lvl6pPr>
            <a:lvl7pPr indent="-355600" lvl="6" marL="3200400" algn="l">
              <a:lnSpc>
                <a:spcPct val="90000"/>
              </a:lnSpc>
              <a:spcBef>
                <a:spcPts val="500"/>
              </a:spcBef>
              <a:spcAft>
                <a:spcPts val="0"/>
              </a:spcAft>
              <a:buClr>
                <a:srgbClr val="2A2F3A"/>
              </a:buClr>
              <a:buSzPts val="2000"/>
              <a:buChar char="•"/>
              <a:defRPr sz="2000"/>
            </a:lvl7pPr>
            <a:lvl8pPr indent="-355600" lvl="7" marL="3657600" algn="l">
              <a:lnSpc>
                <a:spcPct val="90000"/>
              </a:lnSpc>
              <a:spcBef>
                <a:spcPts val="500"/>
              </a:spcBef>
              <a:spcAft>
                <a:spcPts val="0"/>
              </a:spcAft>
              <a:buClr>
                <a:srgbClr val="2A2F3A"/>
              </a:buClr>
              <a:buSzPts val="2000"/>
              <a:buChar char="•"/>
              <a:defRPr sz="2000"/>
            </a:lvl8pPr>
            <a:lvl9pPr indent="-355600" lvl="8" marL="4114800" algn="l">
              <a:lnSpc>
                <a:spcPct val="90000"/>
              </a:lnSpc>
              <a:spcBef>
                <a:spcPts val="500"/>
              </a:spcBef>
              <a:spcAft>
                <a:spcPts val="0"/>
              </a:spcAft>
              <a:buClr>
                <a:srgbClr val="2A2F3A"/>
              </a:buClr>
              <a:buSzPts val="2000"/>
              <a:buChar char="•"/>
              <a:defRPr sz="2000"/>
            </a:lvl9pPr>
          </a:lstStyle>
          <a:p/>
        </p:txBody>
      </p:sp>
      <p:sp>
        <p:nvSpPr>
          <p:cNvPr id="69" name="Google Shape;69;p35"/>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2A2F3A"/>
              </a:buClr>
              <a:buSzPts val="1600"/>
              <a:buNone/>
              <a:defRPr sz="1600"/>
            </a:lvl1pPr>
            <a:lvl2pPr indent="-228600" lvl="1" marL="914400" algn="l">
              <a:lnSpc>
                <a:spcPct val="90000"/>
              </a:lnSpc>
              <a:spcBef>
                <a:spcPts val="500"/>
              </a:spcBef>
              <a:spcAft>
                <a:spcPts val="0"/>
              </a:spcAft>
              <a:buClr>
                <a:srgbClr val="2A2F3A"/>
              </a:buClr>
              <a:buSzPts val="1400"/>
              <a:buNone/>
              <a:defRPr sz="1400"/>
            </a:lvl2pPr>
            <a:lvl3pPr indent="-228600" lvl="2" marL="1371600" algn="l">
              <a:lnSpc>
                <a:spcPct val="90000"/>
              </a:lnSpc>
              <a:spcBef>
                <a:spcPts val="500"/>
              </a:spcBef>
              <a:spcAft>
                <a:spcPts val="0"/>
              </a:spcAft>
              <a:buClr>
                <a:srgbClr val="2A2F3A"/>
              </a:buClr>
              <a:buSzPts val="1200"/>
              <a:buNone/>
              <a:defRPr sz="1200"/>
            </a:lvl3pPr>
            <a:lvl4pPr indent="-228600" lvl="3" marL="1828800" algn="l">
              <a:lnSpc>
                <a:spcPct val="90000"/>
              </a:lnSpc>
              <a:spcBef>
                <a:spcPts val="500"/>
              </a:spcBef>
              <a:spcAft>
                <a:spcPts val="0"/>
              </a:spcAft>
              <a:buClr>
                <a:srgbClr val="2A2F3A"/>
              </a:buClr>
              <a:buSzPts val="1000"/>
              <a:buNone/>
              <a:defRPr sz="1000"/>
            </a:lvl4pPr>
            <a:lvl5pPr indent="-228600" lvl="4" marL="2286000" algn="l">
              <a:lnSpc>
                <a:spcPct val="90000"/>
              </a:lnSpc>
              <a:spcBef>
                <a:spcPts val="500"/>
              </a:spcBef>
              <a:spcAft>
                <a:spcPts val="0"/>
              </a:spcAft>
              <a:buClr>
                <a:srgbClr val="2A2F3A"/>
              </a:buClr>
              <a:buSzPts val="1000"/>
              <a:buNone/>
              <a:defRPr sz="1000"/>
            </a:lvl5pPr>
            <a:lvl6pPr indent="-228600" lvl="5" marL="2743200" algn="l">
              <a:lnSpc>
                <a:spcPct val="90000"/>
              </a:lnSpc>
              <a:spcBef>
                <a:spcPts val="500"/>
              </a:spcBef>
              <a:spcAft>
                <a:spcPts val="0"/>
              </a:spcAft>
              <a:buClr>
                <a:srgbClr val="2A2F3A"/>
              </a:buClr>
              <a:buSzPts val="1000"/>
              <a:buNone/>
              <a:defRPr sz="1000"/>
            </a:lvl6pPr>
            <a:lvl7pPr indent="-228600" lvl="6" marL="3200400" algn="l">
              <a:lnSpc>
                <a:spcPct val="90000"/>
              </a:lnSpc>
              <a:spcBef>
                <a:spcPts val="500"/>
              </a:spcBef>
              <a:spcAft>
                <a:spcPts val="0"/>
              </a:spcAft>
              <a:buClr>
                <a:srgbClr val="2A2F3A"/>
              </a:buClr>
              <a:buSzPts val="1000"/>
              <a:buNone/>
              <a:defRPr sz="1000"/>
            </a:lvl7pPr>
            <a:lvl8pPr indent="-228600" lvl="7" marL="3657600" algn="l">
              <a:lnSpc>
                <a:spcPct val="90000"/>
              </a:lnSpc>
              <a:spcBef>
                <a:spcPts val="500"/>
              </a:spcBef>
              <a:spcAft>
                <a:spcPts val="0"/>
              </a:spcAft>
              <a:buClr>
                <a:srgbClr val="2A2F3A"/>
              </a:buClr>
              <a:buSzPts val="1000"/>
              <a:buNone/>
              <a:defRPr sz="1000"/>
            </a:lvl8pPr>
            <a:lvl9pPr indent="-228600" lvl="8" marL="4114800" algn="l">
              <a:lnSpc>
                <a:spcPct val="90000"/>
              </a:lnSpc>
              <a:spcBef>
                <a:spcPts val="500"/>
              </a:spcBef>
              <a:spcAft>
                <a:spcPts val="0"/>
              </a:spcAft>
              <a:buClr>
                <a:srgbClr val="2A2F3A"/>
              </a:buClr>
              <a:buSzPts val="1000"/>
              <a:buNone/>
              <a:defRPr sz="1000"/>
            </a:lvl9pPr>
          </a:lstStyle>
          <a:p/>
        </p:txBody>
      </p:sp>
      <p:sp>
        <p:nvSpPr>
          <p:cNvPr id="70" name="Google Shape;70;p3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3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3" name="Shape 73"/>
        <p:cNvGrpSpPr/>
        <p:nvPr/>
      </p:nvGrpSpPr>
      <p:grpSpPr>
        <a:xfrm>
          <a:off x="0" y="0"/>
          <a:ext cx="0" cy="0"/>
          <a:chOff x="0" y="0"/>
          <a:chExt cx="0" cy="0"/>
        </a:xfrm>
      </p:grpSpPr>
      <p:sp>
        <p:nvSpPr>
          <p:cNvPr id="74" name="Google Shape;74;p3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1C2433"/>
              </a:buClr>
              <a:buSzPts val="3200"/>
              <a:buFont typeface="Playfair Dis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 name="Google Shape;75;p36"/>
          <p:cNvSpPr/>
          <p:nvPr>
            <p:ph idx="2" type="pic"/>
          </p:nvPr>
        </p:nvSpPr>
        <p:spPr>
          <a:xfrm>
            <a:off x="5183188" y="987425"/>
            <a:ext cx="6172200" cy="4873625"/>
          </a:xfrm>
          <a:prstGeom prst="rect">
            <a:avLst/>
          </a:prstGeom>
          <a:noFill/>
          <a:ln>
            <a:noFill/>
          </a:ln>
        </p:spPr>
      </p:sp>
      <p:sp>
        <p:nvSpPr>
          <p:cNvPr id="76" name="Google Shape;76;p36"/>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2A2F3A"/>
              </a:buClr>
              <a:buSzPts val="1600"/>
              <a:buNone/>
              <a:defRPr sz="1600"/>
            </a:lvl1pPr>
            <a:lvl2pPr indent="-228600" lvl="1" marL="914400" algn="l">
              <a:lnSpc>
                <a:spcPct val="90000"/>
              </a:lnSpc>
              <a:spcBef>
                <a:spcPts val="500"/>
              </a:spcBef>
              <a:spcAft>
                <a:spcPts val="0"/>
              </a:spcAft>
              <a:buClr>
                <a:srgbClr val="2A2F3A"/>
              </a:buClr>
              <a:buSzPts val="1400"/>
              <a:buNone/>
              <a:defRPr sz="1400"/>
            </a:lvl2pPr>
            <a:lvl3pPr indent="-228600" lvl="2" marL="1371600" algn="l">
              <a:lnSpc>
                <a:spcPct val="90000"/>
              </a:lnSpc>
              <a:spcBef>
                <a:spcPts val="500"/>
              </a:spcBef>
              <a:spcAft>
                <a:spcPts val="0"/>
              </a:spcAft>
              <a:buClr>
                <a:srgbClr val="2A2F3A"/>
              </a:buClr>
              <a:buSzPts val="1200"/>
              <a:buNone/>
              <a:defRPr sz="1200"/>
            </a:lvl3pPr>
            <a:lvl4pPr indent="-228600" lvl="3" marL="1828800" algn="l">
              <a:lnSpc>
                <a:spcPct val="90000"/>
              </a:lnSpc>
              <a:spcBef>
                <a:spcPts val="500"/>
              </a:spcBef>
              <a:spcAft>
                <a:spcPts val="0"/>
              </a:spcAft>
              <a:buClr>
                <a:srgbClr val="2A2F3A"/>
              </a:buClr>
              <a:buSzPts val="1000"/>
              <a:buNone/>
              <a:defRPr sz="1000"/>
            </a:lvl4pPr>
            <a:lvl5pPr indent="-228600" lvl="4" marL="2286000" algn="l">
              <a:lnSpc>
                <a:spcPct val="90000"/>
              </a:lnSpc>
              <a:spcBef>
                <a:spcPts val="500"/>
              </a:spcBef>
              <a:spcAft>
                <a:spcPts val="0"/>
              </a:spcAft>
              <a:buClr>
                <a:srgbClr val="2A2F3A"/>
              </a:buClr>
              <a:buSzPts val="1000"/>
              <a:buNone/>
              <a:defRPr sz="1000"/>
            </a:lvl5pPr>
            <a:lvl6pPr indent="-228600" lvl="5" marL="2743200" algn="l">
              <a:lnSpc>
                <a:spcPct val="90000"/>
              </a:lnSpc>
              <a:spcBef>
                <a:spcPts val="500"/>
              </a:spcBef>
              <a:spcAft>
                <a:spcPts val="0"/>
              </a:spcAft>
              <a:buClr>
                <a:srgbClr val="2A2F3A"/>
              </a:buClr>
              <a:buSzPts val="1000"/>
              <a:buNone/>
              <a:defRPr sz="1000"/>
            </a:lvl6pPr>
            <a:lvl7pPr indent="-228600" lvl="6" marL="3200400" algn="l">
              <a:lnSpc>
                <a:spcPct val="90000"/>
              </a:lnSpc>
              <a:spcBef>
                <a:spcPts val="500"/>
              </a:spcBef>
              <a:spcAft>
                <a:spcPts val="0"/>
              </a:spcAft>
              <a:buClr>
                <a:srgbClr val="2A2F3A"/>
              </a:buClr>
              <a:buSzPts val="1000"/>
              <a:buNone/>
              <a:defRPr sz="1000"/>
            </a:lvl7pPr>
            <a:lvl8pPr indent="-228600" lvl="7" marL="3657600" algn="l">
              <a:lnSpc>
                <a:spcPct val="90000"/>
              </a:lnSpc>
              <a:spcBef>
                <a:spcPts val="500"/>
              </a:spcBef>
              <a:spcAft>
                <a:spcPts val="0"/>
              </a:spcAft>
              <a:buClr>
                <a:srgbClr val="2A2F3A"/>
              </a:buClr>
              <a:buSzPts val="1000"/>
              <a:buNone/>
              <a:defRPr sz="1000"/>
            </a:lvl8pPr>
            <a:lvl9pPr indent="-228600" lvl="8" marL="4114800" algn="l">
              <a:lnSpc>
                <a:spcPct val="90000"/>
              </a:lnSpc>
              <a:spcBef>
                <a:spcPts val="500"/>
              </a:spcBef>
              <a:spcAft>
                <a:spcPts val="0"/>
              </a:spcAft>
              <a:buClr>
                <a:srgbClr val="2A2F3A"/>
              </a:buClr>
              <a:buSzPts val="1000"/>
              <a:buNone/>
              <a:defRPr sz="1000"/>
            </a:lvl9pPr>
          </a:lstStyle>
          <a:p/>
        </p:txBody>
      </p:sp>
      <p:sp>
        <p:nvSpPr>
          <p:cNvPr id="77" name="Google Shape;77;p3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0" name="Shape 80"/>
        <p:cNvGrpSpPr/>
        <p:nvPr/>
      </p:nvGrpSpPr>
      <p:grpSpPr>
        <a:xfrm>
          <a:off x="0" y="0"/>
          <a:ext cx="0" cy="0"/>
          <a:chOff x="0" y="0"/>
          <a:chExt cx="0" cy="0"/>
        </a:xfrm>
      </p:grpSpPr>
      <p:sp>
        <p:nvSpPr>
          <p:cNvPr id="81" name="Google Shape;81;p37"/>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1C243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2" name="Google Shape;82;p37"/>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rgbClr val="2A2F3A"/>
              </a:buClr>
              <a:buSzPts val="1800"/>
              <a:buChar char="•"/>
              <a:defRPr/>
            </a:lvl1pPr>
            <a:lvl2pPr indent="-342900" lvl="1" marL="914400" algn="l">
              <a:lnSpc>
                <a:spcPct val="90000"/>
              </a:lnSpc>
              <a:spcBef>
                <a:spcPts val="500"/>
              </a:spcBef>
              <a:spcAft>
                <a:spcPts val="0"/>
              </a:spcAft>
              <a:buClr>
                <a:srgbClr val="2A2F3A"/>
              </a:buClr>
              <a:buSzPts val="1800"/>
              <a:buChar char="•"/>
              <a:defRPr/>
            </a:lvl2pPr>
            <a:lvl3pPr indent="-342900" lvl="2" marL="1371600" algn="l">
              <a:lnSpc>
                <a:spcPct val="90000"/>
              </a:lnSpc>
              <a:spcBef>
                <a:spcPts val="500"/>
              </a:spcBef>
              <a:spcAft>
                <a:spcPts val="0"/>
              </a:spcAft>
              <a:buClr>
                <a:srgbClr val="2A2F3A"/>
              </a:buClr>
              <a:buSzPts val="1800"/>
              <a:buChar char="•"/>
              <a:defRPr/>
            </a:lvl3pPr>
            <a:lvl4pPr indent="-342900" lvl="3" marL="1828800" algn="l">
              <a:lnSpc>
                <a:spcPct val="90000"/>
              </a:lnSpc>
              <a:spcBef>
                <a:spcPts val="500"/>
              </a:spcBef>
              <a:spcAft>
                <a:spcPts val="0"/>
              </a:spcAft>
              <a:buClr>
                <a:srgbClr val="2A2F3A"/>
              </a:buClr>
              <a:buSzPts val="1800"/>
              <a:buChar char="•"/>
              <a:defRPr/>
            </a:lvl4pPr>
            <a:lvl5pPr indent="-342900" lvl="4" marL="2286000" algn="l">
              <a:lnSpc>
                <a:spcPct val="90000"/>
              </a:lnSpc>
              <a:spcBef>
                <a:spcPts val="500"/>
              </a:spcBef>
              <a:spcAft>
                <a:spcPts val="0"/>
              </a:spcAft>
              <a:buClr>
                <a:srgbClr val="2A2F3A"/>
              </a:buClr>
              <a:buSzPts val="1800"/>
              <a:buChar char="•"/>
              <a:defRPr/>
            </a:lvl5pPr>
            <a:lvl6pPr indent="-342900" lvl="5" marL="2743200" algn="l">
              <a:lnSpc>
                <a:spcPct val="90000"/>
              </a:lnSpc>
              <a:spcBef>
                <a:spcPts val="500"/>
              </a:spcBef>
              <a:spcAft>
                <a:spcPts val="0"/>
              </a:spcAft>
              <a:buClr>
                <a:srgbClr val="2A2F3A"/>
              </a:buClr>
              <a:buSzPts val="1800"/>
              <a:buChar char="•"/>
              <a:defRPr/>
            </a:lvl6pPr>
            <a:lvl7pPr indent="-342900" lvl="6" marL="3200400" algn="l">
              <a:lnSpc>
                <a:spcPct val="90000"/>
              </a:lnSpc>
              <a:spcBef>
                <a:spcPts val="500"/>
              </a:spcBef>
              <a:spcAft>
                <a:spcPts val="0"/>
              </a:spcAft>
              <a:buClr>
                <a:srgbClr val="2A2F3A"/>
              </a:buClr>
              <a:buSzPts val="1800"/>
              <a:buChar char="•"/>
              <a:defRPr/>
            </a:lvl7pPr>
            <a:lvl8pPr indent="-342900" lvl="7" marL="3657600" algn="l">
              <a:lnSpc>
                <a:spcPct val="90000"/>
              </a:lnSpc>
              <a:spcBef>
                <a:spcPts val="500"/>
              </a:spcBef>
              <a:spcAft>
                <a:spcPts val="0"/>
              </a:spcAft>
              <a:buClr>
                <a:srgbClr val="2A2F3A"/>
              </a:buClr>
              <a:buSzPts val="1800"/>
              <a:buChar char="•"/>
              <a:defRPr/>
            </a:lvl8pPr>
            <a:lvl9pPr indent="-342900" lvl="8" marL="4114800" algn="l">
              <a:lnSpc>
                <a:spcPct val="90000"/>
              </a:lnSpc>
              <a:spcBef>
                <a:spcPts val="500"/>
              </a:spcBef>
              <a:spcAft>
                <a:spcPts val="0"/>
              </a:spcAft>
              <a:buClr>
                <a:srgbClr val="2A2F3A"/>
              </a:buClr>
              <a:buSzPts val="1800"/>
              <a:buChar char="•"/>
              <a:defRPr/>
            </a:lvl9pPr>
          </a:lstStyle>
          <a:p/>
        </p:txBody>
      </p:sp>
      <p:sp>
        <p:nvSpPr>
          <p:cNvPr id="83" name="Google Shape;83;p3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3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3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8F3"/>
        </a:solidFill>
      </p:bgPr>
    </p:bg>
    <p:spTree>
      <p:nvGrpSpPr>
        <p:cNvPr id="9" name="Shape 9"/>
        <p:cNvGrpSpPr/>
        <p:nvPr/>
      </p:nvGrpSpPr>
      <p:grpSpPr>
        <a:xfrm>
          <a:off x="0" y="0"/>
          <a:ext cx="0" cy="0"/>
          <a:chOff x="0" y="0"/>
          <a:chExt cx="0" cy="0"/>
        </a:xfrm>
      </p:grpSpPr>
      <p:sp>
        <p:nvSpPr>
          <p:cNvPr id="10" name="Google Shape;10;p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rgbClr val="1C2433"/>
              </a:buClr>
              <a:buSzPts val="4400"/>
              <a:buFont typeface="Playfair Display"/>
              <a:buNone/>
              <a:defRPr b="0" i="0" sz="4400" u="none" cap="none" strike="noStrike">
                <a:solidFill>
                  <a:srgbClr val="1C2433"/>
                </a:solidFill>
                <a:latin typeface="Playfair Display"/>
                <a:ea typeface="Playfair Display"/>
                <a:cs typeface="Playfair Display"/>
                <a:sym typeface="Playfair Dis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rgbClr val="2A2F3A"/>
              </a:buClr>
              <a:buSzPts val="2800"/>
              <a:buFont typeface="Arial"/>
              <a:buChar char="•"/>
              <a:defRPr b="0" i="0" sz="2800" u="none" cap="none" strike="noStrike">
                <a:solidFill>
                  <a:srgbClr val="2A2F3A"/>
                </a:solidFill>
                <a:latin typeface="Arial"/>
                <a:ea typeface="Arial"/>
                <a:cs typeface="Arial"/>
                <a:sym typeface="Arial"/>
              </a:defRPr>
            </a:lvl1pPr>
            <a:lvl2pPr indent="-381000" lvl="1" marL="914400" marR="0" rtl="0" algn="l">
              <a:lnSpc>
                <a:spcPct val="90000"/>
              </a:lnSpc>
              <a:spcBef>
                <a:spcPts val="500"/>
              </a:spcBef>
              <a:spcAft>
                <a:spcPts val="0"/>
              </a:spcAft>
              <a:buClr>
                <a:srgbClr val="2A2F3A"/>
              </a:buClr>
              <a:buSzPts val="2400"/>
              <a:buFont typeface="Arial"/>
              <a:buChar char="•"/>
              <a:defRPr b="0" i="0" sz="2400" u="none" cap="none" strike="noStrike">
                <a:solidFill>
                  <a:srgbClr val="2A2F3A"/>
                </a:solidFill>
                <a:latin typeface="Arial"/>
                <a:ea typeface="Arial"/>
                <a:cs typeface="Arial"/>
                <a:sym typeface="Arial"/>
              </a:defRPr>
            </a:lvl2pPr>
            <a:lvl3pPr indent="-355600" lvl="2" marL="1371600" marR="0" rtl="0" algn="l">
              <a:lnSpc>
                <a:spcPct val="90000"/>
              </a:lnSpc>
              <a:spcBef>
                <a:spcPts val="500"/>
              </a:spcBef>
              <a:spcAft>
                <a:spcPts val="0"/>
              </a:spcAft>
              <a:buClr>
                <a:srgbClr val="2A2F3A"/>
              </a:buClr>
              <a:buSzPts val="2000"/>
              <a:buFont typeface="Arial"/>
              <a:buChar char="•"/>
              <a:defRPr b="0" i="0" sz="2000" u="none" cap="none" strike="noStrike">
                <a:solidFill>
                  <a:srgbClr val="2A2F3A"/>
                </a:solidFill>
                <a:latin typeface="Arial"/>
                <a:ea typeface="Arial"/>
                <a:cs typeface="Arial"/>
                <a:sym typeface="Arial"/>
              </a:defRPr>
            </a:lvl3pPr>
            <a:lvl4pPr indent="-342900" lvl="3" marL="1828800" marR="0" rtl="0" algn="l">
              <a:lnSpc>
                <a:spcPct val="90000"/>
              </a:lnSpc>
              <a:spcBef>
                <a:spcPts val="500"/>
              </a:spcBef>
              <a:spcAft>
                <a:spcPts val="0"/>
              </a:spcAft>
              <a:buClr>
                <a:srgbClr val="2A2F3A"/>
              </a:buClr>
              <a:buSzPts val="1800"/>
              <a:buFont typeface="Arial"/>
              <a:buChar char="•"/>
              <a:defRPr b="0" i="0" sz="1800" u="none" cap="none" strike="noStrike">
                <a:solidFill>
                  <a:srgbClr val="2A2F3A"/>
                </a:solidFill>
                <a:latin typeface="Arial"/>
                <a:ea typeface="Arial"/>
                <a:cs typeface="Arial"/>
                <a:sym typeface="Arial"/>
              </a:defRPr>
            </a:lvl4pPr>
            <a:lvl5pPr indent="-342900" lvl="4" marL="2286000" marR="0" rtl="0" algn="l">
              <a:lnSpc>
                <a:spcPct val="90000"/>
              </a:lnSpc>
              <a:spcBef>
                <a:spcPts val="500"/>
              </a:spcBef>
              <a:spcAft>
                <a:spcPts val="0"/>
              </a:spcAft>
              <a:buClr>
                <a:srgbClr val="2A2F3A"/>
              </a:buClr>
              <a:buSzPts val="1800"/>
              <a:buFont typeface="Arial"/>
              <a:buChar char="•"/>
              <a:defRPr b="0" i="0" sz="1800" u="none" cap="none" strike="noStrike">
                <a:solidFill>
                  <a:srgbClr val="2A2F3A"/>
                </a:solidFill>
                <a:latin typeface="Arial"/>
                <a:ea typeface="Arial"/>
                <a:cs typeface="Arial"/>
                <a:sym typeface="Arial"/>
              </a:defRPr>
            </a:lvl5pPr>
            <a:lvl6pPr indent="-342900" lvl="5" marL="2743200" marR="0" rtl="0" algn="l">
              <a:lnSpc>
                <a:spcPct val="90000"/>
              </a:lnSpc>
              <a:spcBef>
                <a:spcPts val="500"/>
              </a:spcBef>
              <a:spcAft>
                <a:spcPts val="0"/>
              </a:spcAft>
              <a:buClr>
                <a:srgbClr val="2A2F3A"/>
              </a:buClr>
              <a:buSzPts val="1800"/>
              <a:buFont typeface="Arial"/>
              <a:buChar char="•"/>
              <a:defRPr b="0" i="0" sz="1800" u="none" cap="none" strike="noStrike">
                <a:solidFill>
                  <a:srgbClr val="2A2F3A"/>
                </a:solidFill>
                <a:latin typeface="Arial"/>
                <a:ea typeface="Arial"/>
                <a:cs typeface="Arial"/>
                <a:sym typeface="Arial"/>
              </a:defRPr>
            </a:lvl6pPr>
            <a:lvl7pPr indent="-342900" lvl="6" marL="3200400" marR="0" rtl="0" algn="l">
              <a:lnSpc>
                <a:spcPct val="90000"/>
              </a:lnSpc>
              <a:spcBef>
                <a:spcPts val="500"/>
              </a:spcBef>
              <a:spcAft>
                <a:spcPts val="0"/>
              </a:spcAft>
              <a:buClr>
                <a:srgbClr val="2A2F3A"/>
              </a:buClr>
              <a:buSzPts val="1800"/>
              <a:buFont typeface="Arial"/>
              <a:buChar char="•"/>
              <a:defRPr b="0" i="0" sz="1800" u="none" cap="none" strike="noStrike">
                <a:solidFill>
                  <a:srgbClr val="2A2F3A"/>
                </a:solidFill>
                <a:latin typeface="Arial"/>
                <a:ea typeface="Arial"/>
                <a:cs typeface="Arial"/>
                <a:sym typeface="Arial"/>
              </a:defRPr>
            </a:lvl7pPr>
            <a:lvl8pPr indent="-342900" lvl="7" marL="3657600" marR="0" rtl="0" algn="l">
              <a:lnSpc>
                <a:spcPct val="90000"/>
              </a:lnSpc>
              <a:spcBef>
                <a:spcPts val="500"/>
              </a:spcBef>
              <a:spcAft>
                <a:spcPts val="0"/>
              </a:spcAft>
              <a:buClr>
                <a:srgbClr val="2A2F3A"/>
              </a:buClr>
              <a:buSzPts val="1800"/>
              <a:buFont typeface="Arial"/>
              <a:buChar char="•"/>
              <a:defRPr b="0" i="0" sz="1800" u="none" cap="none" strike="noStrike">
                <a:solidFill>
                  <a:srgbClr val="2A2F3A"/>
                </a:solidFill>
                <a:latin typeface="Arial"/>
                <a:ea typeface="Arial"/>
                <a:cs typeface="Arial"/>
                <a:sym typeface="Arial"/>
              </a:defRPr>
            </a:lvl8pPr>
            <a:lvl9pPr indent="-342900" lvl="8" marL="4114800" marR="0" rtl="0" algn="l">
              <a:lnSpc>
                <a:spcPct val="90000"/>
              </a:lnSpc>
              <a:spcBef>
                <a:spcPts val="500"/>
              </a:spcBef>
              <a:spcAft>
                <a:spcPts val="0"/>
              </a:spcAft>
              <a:buClr>
                <a:srgbClr val="2A2F3A"/>
              </a:buClr>
              <a:buSzPts val="1800"/>
              <a:buFont typeface="Arial"/>
              <a:buChar char="•"/>
              <a:defRPr b="0" i="0" sz="1800" u="none" cap="none" strike="noStrike">
                <a:solidFill>
                  <a:srgbClr val="2A2F3A"/>
                </a:solidFill>
                <a:latin typeface="Arial"/>
                <a:ea typeface="Arial"/>
                <a:cs typeface="Arial"/>
                <a:sym typeface="Arial"/>
              </a:defRPr>
            </a:lvl9pPr>
          </a:lstStyle>
          <a:p/>
        </p:txBody>
      </p:sp>
      <p:sp>
        <p:nvSpPr>
          <p:cNvPr id="12" name="Google Shape;12;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77787C"/>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77787C"/>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77787C"/>
                </a:solidFill>
                <a:latin typeface="Arial"/>
                <a:ea typeface="Arial"/>
                <a:cs typeface="Arial"/>
                <a:sym typeface="Arial"/>
              </a:defRPr>
            </a:lvl1pPr>
            <a:lvl2pPr indent="0" lvl="1" marL="0" marR="0" rtl="0" algn="r">
              <a:spcBef>
                <a:spcPts val="0"/>
              </a:spcBef>
              <a:buNone/>
              <a:defRPr b="0" i="0" sz="1200" u="none" cap="none" strike="noStrike">
                <a:solidFill>
                  <a:srgbClr val="77787C"/>
                </a:solidFill>
                <a:latin typeface="Arial"/>
                <a:ea typeface="Arial"/>
                <a:cs typeface="Arial"/>
                <a:sym typeface="Arial"/>
              </a:defRPr>
            </a:lvl2pPr>
            <a:lvl3pPr indent="0" lvl="2" marL="0" marR="0" rtl="0" algn="r">
              <a:spcBef>
                <a:spcPts val="0"/>
              </a:spcBef>
              <a:buNone/>
              <a:defRPr b="0" i="0" sz="1200" u="none" cap="none" strike="noStrike">
                <a:solidFill>
                  <a:srgbClr val="77787C"/>
                </a:solidFill>
                <a:latin typeface="Arial"/>
                <a:ea typeface="Arial"/>
                <a:cs typeface="Arial"/>
                <a:sym typeface="Arial"/>
              </a:defRPr>
            </a:lvl3pPr>
            <a:lvl4pPr indent="0" lvl="3" marL="0" marR="0" rtl="0" algn="r">
              <a:spcBef>
                <a:spcPts val="0"/>
              </a:spcBef>
              <a:buNone/>
              <a:defRPr b="0" i="0" sz="1200" u="none" cap="none" strike="noStrike">
                <a:solidFill>
                  <a:srgbClr val="77787C"/>
                </a:solidFill>
                <a:latin typeface="Arial"/>
                <a:ea typeface="Arial"/>
                <a:cs typeface="Arial"/>
                <a:sym typeface="Arial"/>
              </a:defRPr>
            </a:lvl4pPr>
            <a:lvl5pPr indent="0" lvl="4" marL="0" marR="0" rtl="0" algn="r">
              <a:spcBef>
                <a:spcPts val="0"/>
              </a:spcBef>
              <a:buNone/>
              <a:defRPr b="0" i="0" sz="1200" u="none" cap="none" strike="noStrike">
                <a:solidFill>
                  <a:srgbClr val="77787C"/>
                </a:solidFill>
                <a:latin typeface="Arial"/>
                <a:ea typeface="Arial"/>
                <a:cs typeface="Arial"/>
                <a:sym typeface="Arial"/>
              </a:defRPr>
            </a:lvl5pPr>
            <a:lvl6pPr indent="0" lvl="5" marL="0" marR="0" rtl="0" algn="r">
              <a:spcBef>
                <a:spcPts val="0"/>
              </a:spcBef>
              <a:buNone/>
              <a:defRPr b="0" i="0" sz="1200" u="none" cap="none" strike="noStrike">
                <a:solidFill>
                  <a:srgbClr val="77787C"/>
                </a:solidFill>
                <a:latin typeface="Arial"/>
                <a:ea typeface="Arial"/>
                <a:cs typeface="Arial"/>
                <a:sym typeface="Arial"/>
              </a:defRPr>
            </a:lvl6pPr>
            <a:lvl7pPr indent="0" lvl="6" marL="0" marR="0" rtl="0" algn="r">
              <a:spcBef>
                <a:spcPts val="0"/>
              </a:spcBef>
              <a:buNone/>
              <a:defRPr b="0" i="0" sz="1200" u="none" cap="none" strike="noStrike">
                <a:solidFill>
                  <a:srgbClr val="77787C"/>
                </a:solidFill>
                <a:latin typeface="Arial"/>
                <a:ea typeface="Arial"/>
                <a:cs typeface="Arial"/>
                <a:sym typeface="Arial"/>
              </a:defRPr>
            </a:lvl7pPr>
            <a:lvl8pPr indent="0" lvl="7" marL="0" marR="0" rtl="0" algn="r">
              <a:spcBef>
                <a:spcPts val="0"/>
              </a:spcBef>
              <a:buNone/>
              <a:defRPr b="0" i="0" sz="1200" u="none" cap="none" strike="noStrike">
                <a:solidFill>
                  <a:srgbClr val="77787C"/>
                </a:solidFill>
                <a:latin typeface="Arial"/>
                <a:ea typeface="Arial"/>
                <a:cs typeface="Arial"/>
                <a:sym typeface="Arial"/>
              </a:defRPr>
            </a:lvl8pPr>
            <a:lvl9pPr indent="0" lvl="8" marL="0" marR="0" rtl="0" algn="r">
              <a:spcBef>
                <a:spcPts val="0"/>
              </a:spcBef>
              <a:buNone/>
              <a:defRPr b="0" i="0" sz="1200" u="none" cap="none" strike="noStrike">
                <a:solidFill>
                  <a:srgbClr val="77787C"/>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5" name="Google Shape;15;p26"/>
          <p:cNvSpPr/>
          <p:nvPr/>
        </p:nvSpPr>
        <p:spPr>
          <a:xfrm>
            <a:off x="457200" y="6553200"/>
            <a:ext cx="457200" cy="38100"/>
          </a:xfrm>
          <a:prstGeom prst="rect">
            <a:avLst/>
          </a:prstGeom>
          <a:solidFill>
            <a:srgbClr val="B5532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 name="Google Shape;16;p26"/>
          <p:cNvSpPr txBox="1"/>
          <p:nvPr/>
        </p:nvSpPr>
        <p:spPr>
          <a:xfrm>
            <a:off x="7543800" y="6553200"/>
            <a:ext cx="160020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i="1" lang="en-US" sz="900">
                <a:solidFill>
                  <a:srgbClr val="8A8578"/>
                </a:solidFill>
                <a:latin typeface="Playfair Display"/>
                <a:ea typeface="Playfair Display"/>
                <a:cs typeface="Playfair Display"/>
                <a:sym typeface="Playfair Display"/>
              </a:rPr>
              <a:t>Gaussian Processes</a:t>
            </a:r>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9.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png"/><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openxmlformats.org/officeDocument/2006/relationships/image" Target="../media/image7.png"/><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 Id="rId3" Type="http://schemas.openxmlformats.org/officeDocument/2006/relationships/image" Target="../media/image13.png"/><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4.png"/><Relationship Id="rId4" Type="http://schemas.openxmlformats.org/officeDocument/2006/relationships/image" Target="../media/image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0.png"/><Relationship Id="rId4" Type="http://schemas.openxmlformats.org/officeDocument/2006/relationships/image" Target="../media/image1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
          <p:cNvSpPr txBox="1"/>
          <p:nvPr>
            <p:ph type="ctrTitle"/>
          </p:nvPr>
        </p:nvSpPr>
        <p:spPr>
          <a:xfrm>
            <a:off x="1524000" y="1477963"/>
            <a:ext cx="9144000" cy="23876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1C2433"/>
              </a:buClr>
              <a:buSzPts val="5400"/>
              <a:buFont typeface="Playfair Display"/>
              <a:buNone/>
            </a:pPr>
            <a:r>
              <a:rPr b="1" lang="en-US" sz="5400"/>
              <a:t>Gaussian Processes</a:t>
            </a:r>
            <a:endParaRPr/>
          </a:p>
        </p:txBody>
      </p:sp>
      <p:sp>
        <p:nvSpPr>
          <p:cNvPr id="91" name="Google Shape;91;p1"/>
          <p:cNvSpPr txBox="1"/>
          <p:nvPr>
            <p:ph idx="1" type="subTitle"/>
          </p:nvPr>
        </p:nvSpPr>
        <p:spPr>
          <a:xfrm>
            <a:off x="1524000" y="3037682"/>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rgbClr val="2A2F3A"/>
              </a:buClr>
              <a:buSzPts val="2200"/>
              <a:buNone/>
            </a:pPr>
            <a:r>
              <a:rPr i="1" lang="en-US" sz="2200"/>
              <a:t>Bayesian Modeling with Distributions over Functions</a:t>
            </a:r>
            <a:endParaRPr/>
          </a:p>
          <a:p>
            <a:pPr indent="0" lvl="0" marL="0" rtl="0" algn="ctr">
              <a:lnSpc>
                <a:spcPct val="90000"/>
              </a:lnSpc>
              <a:spcBef>
                <a:spcPts val="1000"/>
              </a:spcBef>
              <a:spcAft>
                <a:spcPts val="0"/>
              </a:spcAft>
              <a:buClr>
                <a:srgbClr val="2A2F3A"/>
              </a:buClr>
              <a:buSzPts val="2200"/>
              <a:buNone/>
            </a:pPr>
            <a:r>
              <a:t/>
            </a:r>
            <a:endParaRPr sz="2200"/>
          </a:p>
          <a:p>
            <a:pPr indent="0" lvl="0" marL="0" rtl="0" algn="ctr">
              <a:lnSpc>
                <a:spcPct val="90000"/>
              </a:lnSpc>
              <a:spcBef>
                <a:spcPts val="1000"/>
              </a:spcBef>
              <a:spcAft>
                <a:spcPts val="0"/>
              </a:spcAft>
              <a:buClr>
                <a:schemeClr val="accent2"/>
              </a:buClr>
              <a:buSzPts val="2200"/>
              <a:buNone/>
            </a:pPr>
            <a:r>
              <a:rPr lang="en-US" sz="2200">
                <a:solidFill>
                  <a:schemeClr val="accent2"/>
                </a:solidFill>
              </a:rPr>
              <a:t>Max Kieff, Mengyue Huang, Alan Wu, Yaohao Zhang, Andrew Zhao</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1C2433"/>
              </a:buClr>
              <a:buSzPts val="4000"/>
              <a:buFont typeface="Playfair Display"/>
              <a:buNone/>
            </a:pPr>
            <a:r>
              <a:rPr b="1" lang="en-US" sz="4000">
                <a:solidFill>
                  <a:srgbClr val="1C2433"/>
                </a:solidFill>
                <a:latin typeface="Playfair Display"/>
                <a:ea typeface="Playfair Display"/>
                <a:cs typeface="Playfair Display"/>
                <a:sym typeface="Playfair Display"/>
              </a:rPr>
              <a:t>The Shortcomings of Regression</a:t>
            </a:r>
            <a:endParaRPr/>
          </a:p>
        </p:txBody>
      </p:sp>
      <p:sp>
        <p:nvSpPr>
          <p:cNvPr id="97" name="Google Shape;97;p2"/>
          <p:cNvSpPr txBox="1"/>
          <p:nvPr/>
        </p:nvSpPr>
        <p:spPr>
          <a:xfrm>
            <a:off x="1016000" y="1714500"/>
            <a:ext cx="10515600" cy="508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2F3A"/>
              </a:buClr>
              <a:buSzPts val="1600"/>
              <a:buFont typeface="Arial"/>
              <a:buNone/>
            </a:pPr>
            <a:r>
              <a:rPr i="1" lang="en-US" sz="1600">
                <a:solidFill>
                  <a:srgbClr val="2A2F3A"/>
                </a:solidFill>
                <a:latin typeface="Arial"/>
                <a:ea typeface="Arial"/>
                <a:cs typeface="Arial"/>
                <a:sym typeface="Arial"/>
              </a:rPr>
              <a:t>Ordinary regression assumes the response is linear in the features.</a:t>
            </a:r>
            <a:endParaRPr/>
          </a:p>
        </p:txBody>
      </p:sp>
      <p:sp>
        <p:nvSpPr>
          <p:cNvPr id="98" name="Google Shape;98;p2"/>
          <p:cNvSpPr txBox="1"/>
          <p:nvPr/>
        </p:nvSpPr>
        <p:spPr>
          <a:xfrm>
            <a:off x="838200" y="2349500"/>
            <a:ext cx="10515600" cy="952500"/>
          </a:xfrm>
          <a:prstGeom prst="rect">
            <a:avLst/>
          </a:prstGeom>
          <a:solidFill>
            <a:srgbClr val="E8E1D4"/>
          </a:solidFill>
          <a:ln>
            <a:noFill/>
          </a:ln>
        </p:spPr>
        <p:txBody>
          <a:bodyPr anchorCtr="0" anchor="ctr" bIns="91425" lIns="182875" spcFirstLastPara="1" rIns="182875" wrap="square" tIns="91425">
            <a:noAutofit/>
          </a:bodyPr>
          <a:lstStyle/>
          <a:p>
            <a:pPr indent="0" lvl="0" marL="0" marR="0" rtl="0" algn="ctr">
              <a:spcBef>
                <a:spcPts val="0"/>
              </a:spcBef>
              <a:spcAft>
                <a:spcPts val="0"/>
              </a:spcAft>
              <a:buClr>
                <a:srgbClr val="B5532A"/>
              </a:buClr>
              <a:buSzPts val="1300"/>
              <a:buFont typeface="Arial"/>
              <a:buNone/>
            </a:pPr>
            <a:r>
              <a:rPr b="1" lang="en-US" sz="1300">
                <a:solidFill>
                  <a:srgbClr val="B5532A"/>
                </a:solidFill>
                <a:latin typeface="Arial"/>
                <a:ea typeface="Arial"/>
                <a:cs typeface="Arial"/>
                <a:sym typeface="Arial"/>
              </a:rPr>
              <a:t>BAYESIAN LINEAR REGRESSION</a:t>
            </a:r>
            <a:endParaRPr/>
          </a:p>
          <a:p>
            <a:pPr indent="0" lvl="0" marL="0" marR="0" rtl="0" algn="ctr">
              <a:spcBef>
                <a:spcPts val="400"/>
              </a:spcBef>
              <a:spcAft>
                <a:spcPts val="0"/>
              </a:spcAft>
              <a:buClr>
                <a:srgbClr val="1C2433"/>
              </a:buClr>
              <a:buSzPts val="2000"/>
              <a:buFont typeface="Cambria Math"/>
              <a:buNone/>
            </a:pPr>
            <a:r>
              <a:rPr i="1" lang="en-US" sz="2000">
                <a:solidFill>
                  <a:srgbClr val="1C2433"/>
                </a:solidFill>
                <a:latin typeface="Cambria Math"/>
                <a:ea typeface="Cambria Math"/>
                <a:cs typeface="Cambria Math"/>
                <a:sym typeface="Cambria Math"/>
              </a:rPr>
              <a:t>yᵢ = β₀ + β₁xᵢ + εᵢ,  εᵢ ∼ 𝑵(0, σ²),  β ∼ p(β)</a:t>
            </a:r>
            <a:endParaRPr/>
          </a:p>
        </p:txBody>
      </p:sp>
      <p:sp>
        <p:nvSpPr>
          <p:cNvPr id="99" name="Google Shape;99;p2"/>
          <p:cNvSpPr txBox="1"/>
          <p:nvPr/>
        </p:nvSpPr>
        <p:spPr>
          <a:xfrm>
            <a:off x="838200" y="3492500"/>
            <a:ext cx="10515600" cy="317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B5532A"/>
              </a:buClr>
              <a:buSzPts val="1400"/>
              <a:buFont typeface="Arial"/>
              <a:buNone/>
            </a:pPr>
            <a:r>
              <a:rPr b="1" lang="en-US" sz="1400">
                <a:solidFill>
                  <a:srgbClr val="B5532A"/>
                </a:solidFill>
                <a:latin typeface="Arial"/>
                <a:ea typeface="Arial"/>
                <a:cs typeface="Arial"/>
                <a:sym typeface="Arial"/>
              </a:rPr>
              <a:t>WHERE THIS FALLS SHORT</a:t>
            </a:r>
            <a:endParaRPr/>
          </a:p>
        </p:txBody>
      </p:sp>
      <p:sp>
        <p:nvSpPr>
          <p:cNvPr id="100" name="Google Shape;100;p2"/>
          <p:cNvSpPr txBox="1"/>
          <p:nvPr/>
        </p:nvSpPr>
        <p:spPr>
          <a:xfrm>
            <a:off x="838200" y="3873500"/>
            <a:ext cx="5080000" cy="1016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C4A6E"/>
              </a:buClr>
              <a:buSzPts val="1500"/>
              <a:buFont typeface="Arial"/>
              <a:buNone/>
            </a:pPr>
            <a:r>
              <a:rPr b="1" lang="en-US" sz="1500">
                <a:solidFill>
                  <a:srgbClr val="2C4A6E"/>
                </a:solidFill>
                <a:latin typeface="Arial"/>
                <a:ea typeface="Arial"/>
                <a:cs typeface="Arial"/>
                <a:sym typeface="Arial"/>
              </a:rPr>
              <a:t>Functional form chosen in advance</a:t>
            </a:r>
            <a:endParaRPr/>
          </a:p>
          <a:p>
            <a:pPr indent="0" lvl="0" marL="0" marR="0" rtl="0" algn="l">
              <a:spcBef>
                <a:spcPts val="300"/>
              </a:spcBef>
              <a:spcAft>
                <a:spcPts val="0"/>
              </a:spcAft>
              <a:buClr>
                <a:srgbClr val="2A2F3A"/>
              </a:buClr>
              <a:buSzPts val="1300"/>
              <a:buFont typeface="Arial"/>
              <a:buNone/>
            </a:pPr>
            <a:r>
              <a:rPr lang="en-US" sz="1300">
                <a:solidFill>
                  <a:srgbClr val="2A2F3A"/>
                </a:solidFill>
                <a:latin typeface="Arial"/>
                <a:ea typeface="Arial"/>
                <a:cs typeface="Arial"/>
                <a:sym typeface="Arial"/>
              </a:rPr>
              <a:t>Must commit to linear, quadratic, cubic, etc before seeing the data.</a:t>
            </a:r>
            <a:endParaRPr/>
          </a:p>
        </p:txBody>
      </p:sp>
      <p:sp>
        <p:nvSpPr>
          <p:cNvPr id="101" name="Google Shape;101;p2"/>
          <p:cNvSpPr txBox="1"/>
          <p:nvPr/>
        </p:nvSpPr>
        <p:spPr>
          <a:xfrm>
            <a:off x="6273800" y="3873500"/>
            <a:ext cx="5080000" cy="1016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C4A6E"/>
              </a:buClr>
              <a:buSzPts val="1500"/>
              <a:buFont typeface="Arial"/>
              <a:buNone/>
            </a:pPr>
            <a:r>
              <a:rPr b="1" lang="en-US" sz="1500">
                <a:solidFill>
                  <a:srgbClr val="2C4A6E"/>
                </a:solidFill>
                <a:latin typeface="Arial"/>
                <a:ea typeface="Arial"/>
                <a:cs typeface="Arial"/>
                <a:sym typeface="Arial"/>
              </a:rPr>
              <a:t>Misspecification risk</a:t>
            </a:r>
            <a:endParaRPr/>
          </a:p>
          <a:p>
            <a:pPr indent="0" lvl="0" marL="0" marR="0" rtl="0" algn="l">
              <a:spcBef>
                <a:spcPts val="300"/>
              </a:spcBef>
              <a:spcAft>
                <a:spcPts val="0"/>
              </a:spcAft>
              <a:buClr>
                <a:srgbClr val="2A2F3A"/>
              </a:buClr>
              <a:buSzPts val="1300"/>
              <a:buFont typeface="Arial"/>
              <a:buNone/>
            </a:pPr>
            <a:r>
              <a:rPr lang="en-US" sz="1300">
                <a:solidFill>
                  <a:srgbClr val="2A2F3A"/>
                </a:solidFill>
                <a:latin typeface="Arial"/>
                <a:ea typeface="Arial"/>
                <a:cs typeface="Arial"/>
                <a:sym typeface="Arial"/>
              </a:rPr>
              <a:t>If the truth isn’t in the chosen class, fit and inference degrade.</a:t>
            </a:r>
            <a:endParaRPr/>
          </a:p>
        </p:txBody>
      </p:sp>
      <p:sp>
        <p:nvSpPr>
          <p:cNvPr id="102" name="Google Shape;102;p2"/>
          <p:cNvSpPr txBox="1"/>
          <p:nvPr/>
        </p:nvSpPr>
        <p:spPr>
          <a:xfrm>
            <a:off x="838200" y="5016500"/>
            <a:ext cx="5080000" cy="1016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C4A6E"/>
              </a:buClr>
              <a:buSzPts val="1500"/>
              <a:buFont typeface="Arial"/>
              <a:buNone/>
            </a:pPr>
            <a:r>
              <a:rPr b="1" lang="en-US" sz="1500">
                <a:solidFill>
                  <a:srgbClr val="2C4A6E"/>
                </a:solidFill>
                <a:latin typeface="Arial"/>
                <a:ea typeface="Arial"/>
                <a:cs typeface="Arial"/>
                <a:sym typeface="Arial"/>
              </a:rPr>
              <a:t>Limited flexibility</a:t>
            </a:r>
            <a:endParaRPr/>
          </a:p>
          <a:p>
            <a:pPr indent="0" lvl="0" marL="0" marR="0" rtl="0" algn="l">
              <a:spcBef>
                <a:spcPts val="300"/>
              </a:spcBef>
              <a:spcAft>
                <a:spcPts val="0"/>
              </a:spcAft>
              <a:buClr>
                <a:srgbClr val="2A2F3A"/>
              </a:buClr>
              <a:buSzPts val="1300"/>
              <a:buFont typeface="Arial"/>
              <a:buNone/>
            </a:pPr>
            <a:r>
              <a:rPr lang="en-US" sz="1300">
                <a:solidFill>
                  <a:srgbClr val="2A2F3A"/>
                </a:solidFill>
                <a:latin typeface="Arial"/>
                <a:ea typeface="Arial"/>
                <a:cs typeface="Arial"/>
                <a:sym typeface="Arial"/>
              </a:rPr>
              <a:t>A finite coefficient vector may not capture complex nonlinear structure.</a:t>
            </a:r>
            <a:endParaRPr/>
          </a:p>
        </p:txBody>
      </p:sp>
      <p:sp>
        <p:nvSpPr>
          <p:cNvPr id="103" name="Google Shape;103;p2"/>
          <p:cNvSpPr txBox="1"/>
          <p:nvPr/>
        </p:nvSpPr>
        <p:spPr>
          <a:xfrm>
            <a:off x="6273800" y="5016500"/>
            <a:ext cx="5080000" cy="1016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C4A6E"/>
              </a:buClr>
              <a:buSzPts val="1500"/>
              <a:buFont typeface="Arial"/>
              <a:buNone/>
            </a:pPr>
            <a:r>
              <a:rPr b="1" lang="en-US" sz="1500">
                <a:solidFill>
                  <a:srgbClr val="2C4A6E"/>
                </a:solidFill>
                <a:latin typeface="Arial"/>
                <a:ea typeface="Arial"/>
                <a:cs typeface="Arial"/>
                <a:sym typeface="Arial"/>
              </a:rPr>
              <a:t>Uncertainty on the wrong object</a:t>
            </a:r>
            <a:endParaRPr/>
          </a:p>
          <a:p>
            <a:pPr indent="0" lvl="0" marL="0" marR="0" rtl="0" algn="l">
              <a:spcBef>
                <a:spcPts val="300"/>
              </a:spcBef>
              <a:spcAft>
                <a:spcPts val="0"/>
              </a:spcAft>
              <a:buClr>
                <a:srgbClr val="2A2F3A"/>
              </a:buClr>
              <a:buSzPts val="1300"/>
              <a:buFont typeface="Arial"/>
              <a:buNone/>
            </a:pPr>
            <a:r>
              <a:rPr lang="en-US" sz="1300">
                <a:solidFill>
                  <a:srgbClr val="2A2F3A"/>
                </a:solidFill>
                <a:latin typeface="Arial"/>
                <a:ea typeface="Arial"/>
                <a:cs typeface="Arial"/>
                <a:sym typeface="Arial"/>
              </a:rPr>
              <a:t>We get uncertainty on β, but our real unknown is the function itself.</a:t>
            </a:r>
            <a:endParaRPr/>
          </a:p>
        </p:txBody>
      </p:sp>
      <p:sp>
        <p:nvSpPr>
          <p:cNvPr id="104" name="Google Shape;104;p2"/>
          <p:cNvSpPr txBox="1"/>
          <p:nvPr/>
        </p:nvSpPr>
        <p:spPr>
          <a:xfrm>
            <a:off x="-436880" y="1301750"/>
            <a:ext cx="10515600" cy="571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C4A6E"/>
              </a:buClr>
              <a:buSzPts val="1700"/>
              <a:buFont typeface="Playfair Display"/>
              <a:buNone/>
            </a:pPr>
            <a:r>
              <a:rPr lang="en-US" sz="1700">
                <a:solidFill>
                  <a:srgbClr val="2C4A6E"/>
                </a:solidFill>
                <a:latin typeface="Playfair Display"/>
                <a:ea typeface="Playfair Display"/>
                <a:cs typeface="Playfair Display"/>
                <a:sym typeface="Playfair Display"/>
              </a:rPr>
              <a:t>How can we do Bayesian inference when we are unsure of the functional form?</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1C2433"/>
              </a:buClr>
              <a:buSzPts val="4000"/>
              <a:buFont typeface="Playfair Display"/>
              <a:buNone/>
            </a:pPr>
            <a:r>
              <a:rPr b="1" lang="en-US" sz="4000">
                <a:solidFill>
                  <a:srgbClr val="1C2433"/>
                </a:solidFill>
                <a:latin typeface="Playfair Display"/>
                <a:ea typeface="Playfair Display"/>
                <a:cs typeface="Playfair Display"/>
                <a:sym typeface="Playfair Display"/>
              </a:rPr>
              <a:t>Why Gaussian Processes?</a:t>
            </a:r>
            <a:endParaRPr/>
          </a:p>
        </p:txBody>
      </p:sp>
      <p:sp>
        <p:nvSpPr>
          <p:cNvPr id="110" name="Google Shape;110;p3"/>
          <p:cNvSpPr txBox="1"/>
          <p:nvPr/>
        </p:nvSpPr>
        <p:spPr>
          <a:xfrm>
            <a:off x="2727960" y="1861344"/>
            <a:ext cx="10515600" cy="762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C4A6E"/>
              </a:buClr>
              <a:buSzPts val="2000"/>
              <a:buFont typeface="Playfair Display"/>
              <a:buNone/>
            </a:pPr>
            <a:r>
              <a:rPr lang="en-US" sz="2000">
                <a:solidFill>
                  <a:srgbClr val="2C4A6E"/>
                </a:solidFill>
                <a:latin typeface="Playfair Display"/>
                <a:ea typeface="Playfair Display"/>
                <a:cs typeface="Playfair Display"/>
                <a:sym typeface="Playfair Display"/>
              </a:rPr>
              <a:t>What if we want a prior over </a:t>
            </a:r>
            <a:r>
              <a:rPr lang="en-US" sz="2000">
                <a:solidFill>
                  <a:srgbClr val="B5532A"/>
                </a:solidFill>
                <a:latin typeface="Playfair Display"/>
                <a:ea typeface="Playfair Display"/>
                <a:cs typeface="Playfair Display"/>
                <a:sym typeface="Playfair Display"/>
              </a:rPr>
              <a:t>functions</a:t>
            </a:r>
            <a:r>
              <a:rPr lang="en-US" sz="2000">
                <a:solidFill>
                  <a:srgbClr val="2C4A6E"/>
                </a:solidFill>
                <a:latin typeface="Playfair Display"/>
                <a:ea typeface="Playfair Display"/>
                <a:cs typeface="Playfair Display"/>
                <a:sym typeface="Playfair Display"/>
              </a:rPr>
              <a:t>, not parameters?</a:t>
            </a:r>
            <a:endParaRPr/>
          </a:p>
        </p:txBody>
      </p:sp>
      <p:sp>
        <p:nvSpPr>
          <p:cNvPr id="111" name="Google Shape;111;p3"/>
          <p:cNvSpPr txBox="1"/>
          <p:nvPr/>
        </p:nvSpPr>
        <p:spPr>
          <a:xfrm>
            <a:off x="838200" y="2509520"/>
            <a:ext cx="5080000" cy="3556000"/>
          </a:xfrm>
          <a:prstGeom prst="rect">
            <a:avLst/>
          </a:prstGeom>
          <a:noFill/>
          <a:ln cap="flat" cmpd="sng" w="9525">
            <a:solidFill>
              <a:srgbClr val="B5532A"/>
            </a:solidFill>
            <a:prstDash val="solid"/>
            <a:round/>
            <a:headEnd len="sm" w="sm" type="none"/>
            <a:tailEnd len="sm" w="sm" type="none"/>
          </a:ln>
        </p:spPr>
        <p:txBody>
          <a:bodyPr anchorCtr="0" anchor="t" bIns="180000" lIns="180000" spcFirstLastPara="1" rIns="180000" wrap="square" tIns="180000">
            <a:noAutofit/>
          </a:bodyPr>
          <a:lstStyle/>
          <a:p>
            <a:pPr indent="0" lvl="0" marL="0" marR="0" rtl="0" algn="l">
              <a:spcBef>
                <a:spcPts val="0"/>
              </a:spcBef>
              <a:spcAft>
                <a:spcPts val="0"/>
              </a:spcAft>
              <a:buClr>
                <a:srgbClr val="B5532A"/>
              </a:buClr>
              <a:buSzPts val="1800"/>
              <a:buFont typeface="Arial"/>
              <a:buNone/>
            </a:pPr>
            <a:r>
              <a:rPr b="1" lang="en-US" sz="1800">
                <a:solidFill>
                  <a:srgbClr val="B5532A"/>
                </a:solidFill>
                <a:latin typeface="Arial"/>
                <a:ea typeface="Arial"/>
                <a:cs typeface="Arial"/>
                <a:sym typeface="Arial"/>
              </a:rPr>
              <a:t>Parametric approach</a:t>
            </a:r>
            <a:endParaRPr/>
          </a:p>
          <a:p>
            <a:pPr indent="0" lvl="0" marL="0" marR="0" rtl="0" algn="l">
              <a:spcBef>
                <a:spcPts val="600"/>
              </a:spcBef>
              <a:spcAft>
                <a:spcPts val="0"/>
              </a:spcAft>
              <a:buClr>
                <a:srgbClr val="2A2F3A"/>
              </a:buClr>
              <a:buSzPts val="1500"/>
              <a:buFont typeface="Arial"/>
              <a:buNone/>
            </a:pPr>
            <a:r>
              <a:rPr lang="en-US" sz="1500">
                <a:solidFill>
                  <a:srgbClr val="2A2F3A"/>
                </a:solidFill>
                <a:latin typeface="Arial"/>
                <a:ea typeface="Arial"/>
                <a:cs typeface="Arial"/>
                <a:sym typeface="Arial"/>
              </a:rPr>
              <a:t>Assume a fixed form, e.g.</a:t>
            </a:r>
            <a:endParaRPr/>
          </a:p>
          <a:p>
            <a:pPr indent="0" lvl="0" marL="0" marR="0" rtl="0" algn="ctr">
              <a:spcBef>
                <a:spcPts val="600"/>
              </a:spcBef>
              <a:spcAft>
                <a:spcPts val="0"/>
              </a:spcAft>
              <a:buClr>
                <a:srgbClr val="1C2433"/>
              </a:buClr>
              <a:buSzPts val="1800"/>
              <a:buFont typeface="Cambria Math"/>
              <a:buNone/>
            </a:pPr>
            <a:r>
              <a:rPr i="1" lang="en-US" sz="1800">
                <a:solidFill>
                  <a:srgbClr val="1C2433"/>
                </a:solidFill>
                <a:latin typeface="Cambria Math"/>
                <a:ea typeface="Cambria Math"/>
                <a:cs typeface="Cambria Math"/>
                <a:sym typeface="Cambria Math"/>
              </a:rPr>
              <a:t>y = β₀ + β₁x + β₂x² + ε</a:t>
            </a:r>
            <a:endParaRPr/>
          </a:p>
          <a:p>
            <a:pPr indent="-228600" lvl="0" marL="228600" marR="0" rtl="0" algn="l">
              <a:spcBef>
                <a:spcPts val="800"/>
              </a:spcBef>
              <a:spcAft>
                <a:spcPts val="0"/>
              </a:spcAft>
              <a:buClr>
                <a:srgbClr val="2A2F3A"/>
              </a:buClr>
              <a:buSzPts val="1500"/>
              <a:buFont typeface="Arial"/>
              <a:buChar char="—"/>
            </a:pPr>
            <a:r>
              <a:rPr lang="en-US" sz="1500">
                <a:solidFill>
                  <a:srgbClr val="2A2F3A"/>
                </a:solidFill>
                <a:latin typeface="Arial"/>
                <a:ea typeface="Arial"/>
                <a:cs typeface="Arial"/>
                <a:sym typeface="Arial"/>
              </a:rPr>
              <a:t>Choose degree / basis upfront</a:t>
            </a:r>
            <a:endParaRPr/>
          </a:p>
          <a:p>
            <a:pPr indent="-228600" lvl="0" marL="228600" marR="0" rtl="0" algn="l">
              <a:spcBef>
                <a:spcPts val="400"/>
              </a:spcBef>
              <a:spcAft>
                <a:spcPts val="0"/>
              </a:spcAft>
              <a:buClr>
                <a:srgbClr val="2A2F3A"/>
              </a:buClr>
              <a:buSzPts val="1500"/>
              <a:buFont typeface="Arial"/>
              <a:buChar char="—"/>
            </a:pPr>
            <a:r>
              <a:rPr lang="en-US" sz="1500">
                <a:solidFill>
                  <a:srgbClr val="2A2F3A"/>
                </a:solidFill>
                <a:latin typeface="Arial"/>
                <a:ea typeface="Arial"/>
                <a:cs typeface="Arial"/>
                <a:sym typeface="Arial"/>
              </a:rPr>
              <a:t>Model misspecification if wrong</a:t>
            </a:r>
            <a:endParaRPr/>
          </a:p>
          <a:p>
            <a:pPr indent="-228600" lvl="0" marL="228600" marR="0" rtl="0" algn="l">
              <a:spcBef>
                <a:spcPts val="400"/>
              </a:spcBef>
              <a:spcAft>
                <a:spcPts val="0"/>
              </a:spcAft>
              <a:buClr>
                <a:srgbClr val="2A2F3A"/>
              </a:buClr>
              <a:buSzPts val="1500"/>
              <a:buFont typeface="Arial"/>
              <a:buChar char="—"/>
            </a:pPr>
            <a:r>
              <a:rPr lang="en-US" sz="1500">
                <a:solidFill>
                  <a:srgbClr val="2A2F3A"/>
                </a:solidFill>
                <a:latin typeface="Arial"/>
                <a:ea typeface="Arial"/>
                <a:cs typeface="Arial"/>
                <a:sym typeface="Arial"/>
              </a:rPr>
              <a:t>Hard to express “smooth but unknown”</a:t>
            </a:r>
            <a:endParaRPr/>
          </a:p>
        </p:txBody>
      </p:sp>
      <p:sp>
        <p:nvSpPr>
          <p:cNvPr id="112" name="Google Shape;112;p3"/>
          <p:cNvSpPr txBox="1"/>
          <p:nvPr/>
        </p:nvSpPr>
        <p:spPr>
          <a:xfrm>
            <a:off x="6273800" y="2509520"/>
            <a:ext cx="5080000" cy="3556000"/>
          </a:xfrm>
          <a:prstGeom prst="rect">
            <a:avLst/>
          </a:prstGeom>
          <a:solidFill>
            <a:srgbClr val="E8E1D4"/>
          </a:solidFill>
          <a:ln cap="flat" cmpd="sng" w="9525">
            <a:solidFill>
              <a:srgbClr val="2C4A6E"/>
            </a:solidFill>
            <a:prstDash val="solid"/>
            <a:round/>
            <a:headEnd len="sm" w="sm" type="none"/>
            <a:tailEnd len="sm" w="sm" type="none"/>
          </a:ln>
        </p:spPr>
        <p:txBody>
          <a:bodyPr anchorCtr="0" anchor="t" bIns="180000" lIns="180000" spcFirstLastPara="1" rIns="180000" wrap="square" tIns="180000">
            <a:noAutofit/>
          </a:bodyPr>
          <a:lstStyle/>
          <a:p>
            <a:pPr indent="0" lvl="0" marL="0" marR="0" rtl="0" algn="l">
              <a:spcBef>
                <a:spcPts val="0"/>
              </a:spcBef>
              <a:spcAft>
                <a:spcPts val="0"/>
              </a:spcAft>
              <a:buClr>
                <a:srgbClr val="2C4A6E"/>
              </a:buClr>
              <a:buSzPts val="1800"/>
              <a:buFont typeface="Arial"/>
              <a:buNone/>
            </a:pPr>
            <a:r>
              <a:rPr b="1" lang="en-US" sz="1800">
                <a:solidFill>
                  <a:srgbClr val="2C4A6E"/>
                </a:solidFill>
                <a:latin typeface="Arial"/>
                <a:ea typeface="Arial"/>
                <a:cs typeface="Arial"/>
                <a:sym typeface="Arial"/>
              </a:rPr>
              <a:t>Gaussian Process approach</a:t>
            </a:r>
            <a:endParaRPr/>
          </a:p>
          <a:p>
            <a:pPr indent="0" lvl="0" marL="0" marR="0" rtl="0" algn="l">
              <a:spcBef>
                <a:spcPts val="600"/>
              </a:spcBef>
              <a:spcAft>
                <a:spcPts val="0"/>
              </a:spcAft>
              <a:buClr>
                <a:srgbClr val="2A2F3A"/>
              </a:buClr>
              <a:buSzPts val="1500"/>
              <a:buFont typeface="Arial"/>
              <a:buNone/>
            </a:pPr>
            <a:r>
              <a:rPr lang="en-US" sz="1500">
                <a:solidFill>
                  <a:srgbClr val="2A2F3A"/>
                </a:solidFill>
                <a:latin typeface="Arial"/>
                <a:ea typeface="Arial"/>
                <a:cs typeface="Arial"/>
                <a:sym typeface="Arial"/>
              </a:rPr>
              <a:t>Place a prior directly on </a:t>
            </a:r>
            <a:r>
              <a:rPr i="1" lang="en-US" sz="1500">
                <a:solidFill>
                  <a:srgbClr val="2A2F3A"/>
                </a:solidFill>
                <a:latin typeface="Arial"/>
                <a:ea typeface="Arial"/>
                <a:cs typeface="Arial"/>
                <a:sym typeface="Arial"/>
              </a:rPr>
              <a:t>f</a:t>
            </a:r>
            <a:r>
              <a:rPr lang="en-US" sz="1500">
                <a:solidFill>
                  <a:srgbClr val="2A2F3A"/>
                </a:solidFill>
                <a:latin typeface="Arial"/>
                <a:ea typeface="Arial"/>
                <a:cs typeface="Arial"/>
                <a:sym typeface="Arial"/>
              </a:rPr>
              <a:t>:</a:t>
            </a:r>
            <a:endParaRPr/>
          </a:p>
          <a:p>
            <a:pPr indent="0" lvl="0" marL="0" marR="0" rtl="0" algn="ctr">
              <a:spcBef>
                <a:spcPts val="600"/>
              </a:spcBef>
              <a:spcAft>
                <a:spcPts val="0"/>
              </a:spcAft>
              <a:buNone/>
            </a:pPr>
            <a:r>
              <a:rPr i="1" lang="en-US" sz="1800">
                <a:solidFill>
                  <a:srgbClr val="1C2433"/>
                </a:solidFill>
                <a:latin typeface="Cambria Math"/>
                <a:ea typeface="Cambria Math"/>
                <a:cs typeface="Cambria Math"/>
                <a:sym typeface="Cambria Math"/>
              </a:rPr>
              <a:t>y = f(x) + ε    where    f ∼ GP(m, k)</a:t>
            </a:r>
            <a:endParaRPr/>
          </a:p>
          <a:p>
            <a:pPr indent="-228600" lvl="0" marL="228600" marR="0" rtl="0" algn="l">
              <a:spcBef>
                <a:spcPts val="800"/>
              </a:spcBef>
              <a:spcAft>
                <a:spcPts val="0"/>
              </a:spcAft>
              <a:buClr>
                <a:srgbClr val="2A2F3A"/>
              </a:buClr>
              <a:buSzPts val="1500"/>
              <a:buFont typeface="Arial"/>
              <a:buChar char="—"/>
            </a:pPr>
            <a:r>
              <a:rPr lang="en-US" sz="1500">
                <a:solidFill>
                  <a:srgbClr val="2A2F3A"/>
                </a:solidFill>
                <a:latin typeface="Arial"/>
                <a:ea typeface="Arial"/>
                <a:cs typeface="Arial"/>
                <a:sym typeface="Arial"/>
              </a:rPr>
              <a:t>Nonparametric: no fixed basis</a:t>
            </a:r>
            <a:endParaRPr/>
          </a:p>
          <a:p>
            <a:pPr indent="-228600" lvl="0" marL="228600" marR="0" rtl="0" algn="l">
              <a:spcBef>
                <a:spcPts val="400"/>
              </a:spcBef>
              <a:spcAft>
                <a:spcPts val="0"/>
              </a:spcAft>
              <a:buClr>
                <a:srgbClr val="2A2F3A"/>
              </a:buClr>
              <a:buSzPts val="1500"/>
              <a:buFont typeface="Arial"/>
              <a:buChar char="—"/>
            </a:pPr>
            <a:r>
              <a:rPr lang="en-US" sz="1500">
                <a:solidFill>
                  <a:srgbClr val="2A2F3A"/>
                </a:solidFill>
                <a:latin typeface="Arial"/>
                <a:ea typeface="Arial"/>
                <a:cs typeface="Arial"/>
                <a:sym typeface="Arial"/>
              </a:rPr>
              <a:t>Encodes smoothness via kernel</a:t>
            </a:r>
            <a:endParaRPr/>
          </a:p>
          <a:p>
            <a:pPr indent="-228600" lvl="0" marL="228600" marR="0" rtl="0" algn="l">
              <a:spcBef>
                <a:spcPts val="400"/>
              </a:spcBef>
              <a:spcAft>
                <a:spcPts val="0"/>
              </a:spcAft>
              <a:buClr>
                <a:srgbClr val="2A2F3A"/>
              </a:buClr>
              <a:buSzPts val="1500"/>
              <a:buFont typeface="Arial"/>
              <a:buChar char="—"/>
            </a:pPr>
            <a:r>
              <a:rPr lang="en-US" sz="1500">
                <a:solidFill>
                  <a:srgbClr val="2A2F3A"/>
                </a:solidFill>
                <a:latin typeface="Arial"/>
                <a:ea typeface="Arial"/>
                <a:cs typeface="Arial"/>
                <a:sym typeface="Arial"/>
              </a:rPr>
              <a:t>Gives structured uncertainty while remaining very flexible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1C2433"/>
              </a:buClr>
              <a:buSzPts val="4000"/>
              <a:buFont typeface="Playfair Display"/>
              <a:buNone/>
            </a:pPr>
            <a:r>
              <a:rPr b="1" lang="en-US" sz="4000">
                <a:solidFill>
                  <a:srgbClr val="1C2433"/>
                </a:solidFill>
                <a:latin typeface="Playfair Display"/>
                <a:ea typeface="Playfair Display"/>
                <a:cs typeface="Playfair Display"/>
                <a:sym typeface="Playfair Display"/>
              </a:rPr>
              <a:t>What Is a Gaussian Process?</a:t>
            </a:r>
            <a:endParaRPr/>
          </a:p>
        </p:txBody>
      </p:sp>
      <p:sp>
        <p:nvSpPr>
          <p:cNvPr id="119" name="Google Shape;119;p4"/>
          <p:cNvSpPr txBox="1"/>
          <p:nvPr/>
        </p:nvSpPr>
        <p:spPr>
          <a:xfrm>
            <a:off x="838200" y="1778000"/>
            <a:ext cx="10515600" cy="1778000"/>
          </a:xfrm>
          <a:prstGeom prst="rect">
            <a:avLst/>
          </a:prstGeom>
          <a:solidFill>
            <a:srgbClr val="E8E1D4"/>
          </a:solidFill>
          <a:ln>
            <a:noFill/>
          </a:ln>
        </p:spPr>
        <p:txBody>
          <a:bodyPr anchorCtr="0" anchor="t" bIns="182875" lIns="228600" spcFirstLastPara="1" rIns="228600" wrap="square" tIns="182875">
            <a:noAutofit/>
          </a:bodyPr>
          <a:lstStyle/>
          <a:p>
            <a:pPr indent="0" lvl="0" marL="0" marR="0" rtl="0" algn="l">
              <a:spcBef>
                <a:spcPts val="0"/>
              </a:spcBef>
              <a:spcAft>
                <a:spcPts val="0"/>
              </a:spcAft>
              <a:buClr>
                <a:srgbClr val="B5532A"/>
              </a:buClr>
              <a:buSzPts val="1400"/>
              <a:buFont typeface="Arial"/>
              <a:buNone/>
            </a:pPr>
            <a:r>
              <a:rPr b="1" lang="en-US" sz="1400">
                <a:solidFill>
                  <a:srgbClr val="B5532A"/>
                </a:solidFill>
                <a:latin typeface="Arial"/>
                <a:ea typeface="Arial"/>
                <a:cs typeface="Arial"/>
                <a:sym typeface="Arial"/>
              </a:rPr>
              <a:t>DEFINITION</a:t>
            </a:r>
            <a:endParaRPr/>
          </a:p>
          <a:p>
            <a:pPr indent="0" lvl="0" marL="0" marR="0" rtl="0" algn="l">
              <a:spcBef>
                <a:spcPts val="400"/>
              </a:spcBef>
              <a:spcAft>
                <a:spcPts val="0"/>
              </a:spcAft>
              <a:buNone/>
            </a:pPr>
            <a:r>
              <a:rPr lang="en-US" sz="1600">
                <a:solidFill>
                  <a:srgbClr val="1C2433"/>
                </a:solidFill>
                <a:latin typeface="Arial"/>
                <a:ea typeface="Arial"/>
                <a:cs typeface="Arial"/>
                <a:sym typeface="Arial"/>
              </a:rPr>
              <a:t>A stochastic process </a:t>
            </a:r>
            <a:r>
              <a:rPr i="1" lang="en-US" sz="1600">
                <a:solidFill>
                  <a:srgbClr val="1C2433"/>
                </a:solidFill>
                <a:latin typeface="Cambria Math"/>
                <a:ea typeface="Cambria Math"/>
                <a:cs typeface="Cambria Math"/>
                <a:sym typeface="Cambria Math"/>
              </a:rPr>
              <a:t>{f(x) : x ∈ 𝒳}</a:t>
            </a:r>
            <a:r>
              <a:rPr lang="en-US" sz="1600">
                <a:solidFill>
                  <a:srgbClr val="1C2433"/>
                </a:solidFill>
                <a:latin typeface="Arial"/>
                <a:ea typeface="Arial"/>
                <a:cs typeface="Arial"/>
                <a:sym typeface="Arial"/>
              </a:rPr>
              <a:t> is a </a:t>
            </a:r>
            <a:r>
              <a:rPr b="1" lang="en-US" sz="1600">
                <a:solidFill>
                  <a:srgbClr val="2C4A6E"/>
                </a:solidFill>
                <a:latin typeface="Arial"/>
                <a:ea typeface="Arial"/>
                <a:cs typeface="Arial"/>
                <a:sym typeface="Arial"/>
              </a:rPr>
              <a:t>Gaussian process</a:t>
            </a:r>
            <a:r>
              <a:rPr lang="en-US" sz="1600">
                <a:solidFill>
                  <a:srgbClr val="1C2433"/>
                </a:solidFill>
                <a:latin typeface="Arial"/>
                <a:ea typeface="Arial"/>
                <a:cs typeface="Arial"/>
                <a:sym typeface="Arial"/>
              </a:rPr>
              <a:t> if, for every finite collection of inputs </a:t>
            </a:r>
            <a:r>
              <a:rPr i="1" lang="en-US" sz="1600">
                <a:solidFill>
                  <a:srgbClr val="1C2433"/>
                </a:solidFill>
                <a:latin typeface="Cambria Math"/>
                <a:ea typeface="Cambria Math"/>
                <a:cs typeface="Cambria Math"/>
                <a:sym typeface="Cambria Math"/>
              </a:rPr>
              <a:t>x₁, …, xₙ ∈ 𝒳</a:t>
            </a:r>
            <a:r>
              <a:rPr lang="en-US" sz="1600">
                <a:solidFill>
                  <a:srgbClr val="1C2433"/>
                </a:solidFill>
                <a:latin typeface="Arial"/>
                <a:ea typeface="Arial"/>
                <a:cs typeface="Arial"/>
                <a:sym typeface="Arial"/>
              </a:rPr>
              <a:t>, the vector </a:t>
            </a:r>
            <a:r>
              <a:rPr i="1" lang="en-US" sz="1600">
                <a:solidFill>
                  <a:srgbClr val="1C2433"/>
                </a:solidFill>
                <a:latin typeface="Cambria Math"/>
                <a:ea typeface="Cambria Math"/>
                <a:cs typeface="Cambria Math"/>
                <a:sym typeface="Cambria Math"/>
              </a:rPr>
              <a:t>(f(x₁), …, f(xₙ))</a:t>
            </a:r>
            <a:r>
              <a:rPr lang="en-US" sz="1600">
                <a:solidFill>
                  <a:srgbClr val="1C2433"/>
                </a:solidFill>
                <a:latin typeface="Arial"/>
                <a:ea typeface="Arial"/>
                <a:cs typeface="Arial"/>
                <a:sym typeface="Arial"/>
              </a:rPr>
              <a:t> has a multivariate normal distribution. The multivariate normal is governed by a </a:t>
            </a:r>
            <a:r>
              <a:rPr b="1" lang="en-US" sz="1600">
                <a:solidFill>
                  <a:schemeClr val="accent1"/>
                </a:solidFill>
                <a:latin typeface="Arial"/>
                <a:ea typeface="Arial"/>
                <a:cs typeface="Arial"/>
                <a:sym typeface="Arial"/>
              </a:rPr>
              <a:t>mean function </a:t>
            </a:r>
            <a:r>
              <a:rPr i="1" lang="en-US" sz="1600">
                <a:solidFill>
                  <a:srgbClr val="1C2433"/>
                </a:solidFill>
                <a:latin typeface="Cambria Math"/>
                <a:ea typeface="Cambria Math"/>
                <a:cs typeface="Cambria Math"/>
                <a:sym typeface="Cambria Math"/>
              </a:rPr>
              <a:t>m(x)</a:t>
            </a:r>
            <a:r>
              <a:rPr lang="en-US" sz="1600">
                <a:solidFill>
                  <a:srgbClr val="1C2433"/>
                </a:solidFill>
                <a:latin typeface="Cambria Math"/>
                <a:ea typeface="Cambria Math"/>
                <a:cs typeface="Cambria Math"/>
                <a:sym typeface="Cambria Math"/>
              </a:rPr>
              <a:t> and a covariance matrix that comes from </a:t>
            </a:r>
            <a:r>
              <a:rPr lang="en-US" sz="1600">
                <a:solidFill>
                  <a:srgbClr val="1C2433"/>
                </a:solidFill>
                <a:latin typeface="Arial"/>
                <a:ea typeface="Arial"/>
                <a:cs typeface="Arial"/>
                <a:sym typeface="Arial"/>
              </a:rPr>
              <a:t>the </a:t>
            </a:r>
            <a:r>
              <a:rPr b="1" lang="en-US" sz="1600">
                <a:solidFill>
                  <a:schemeClr val="dk2"/>
                </a:solidFill>
                <a:latin typeface="Arial"/>
                <a:ea typeface="Arial"/>
                <a:cs typeface="Arial"/>
                <a:sym typeface="Arial"/>
              </a:rPr>
              <a:t>kernel function</a:t>
            </a:r>
            <a:r>
              <a:rPr lang="en-US" sz="1600">
                <a:solidFill>
                  <a:srgbClr val="1C2433"/>
                </a:solidFill>
                <a:latin typeface="Arial"/>
                <a:ea typeface="Arial"/>
                <a:cs typeface="Arial"/>
                <a:sym typeface="Arial"/>
              </a:rPr>
              <a:t> </a:t>
            </a:r>
            <a:r>
              <a:rPr i="1" lang="en-US" sz="1600">
                <a:solidFill>
                  <a:srgbClr val="1C2433"/>
                </a:solidFill>
                <a:latin typeface="Cambria Math"/>
                <a:ea typeface="Cambria Math"/>
                <a:cs typeface="Cambria Math"/>
                <a:sym typeface="Cambria Math"/>
              </a:rPr>
              <a:t>k(x, x’).</a:t>
            </a:r>
            <a:endParaRPr b="1" i="1" sz="1600">
              <a:solidFill>
                <a:schemeClr val="accent1"/>
              </a:solidFill>
              <a:latin typeface="Arial"/>
              <a:ea typeface="Arial"/>
              <a:cs typeface="Arial"/>
              <a:sym typeface="Arial"/>
            </a:endParaRPr>
          </a:p>
        </p:txBody>
      </p:sp>
      <p:sp>
        <p:nvSpPr>
          <p:cNvPr id="120" name="Google Shape;120;p4"/>
          <p:cNvSpPr txBox="1"/>
          <p:nvPr/>
        </p:nvSpPr>
        <p:spPr>
          <a:xfrm>
            <a:off x="838200" y="3656012"/>
            <a:ext cx="10515600" cy="571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2433"/>
              </a:buClr>
              <a:buSzPts val="2200"/>
              <a:buFont typeface="Cambria Math"/>
              <a:buNone/>
            </a:pPr>
            <a:r>
              <a:rPr i="1" lang="en-US" sz="2200">
                <a:solidFill>
                  <a:srgbClr val="1C2433"/>
                </a:solidFill>
                <a:latin typeface="Cambria Math"/>
                <a:ea typeface="Cambria Math"/>
                <a:cs typeface="Cambria Math"/>
                <a:sym typeface="Cambria Math"/>
              </a:rPr>
              <a:t>f ∼ 𝒢𝒫 ( m(·),  k(·, ·) )</a:t>
            </a:r>
            <a:endParaRPr/>
          </a:p>
        </p:txBody>
      </p:sp>
      <p:sp>
        <p:nvSpPr>
          <p:cNvPr id="121" name="Google Shape;121;p4"/>
          <p:cNvSpPr txBox="1"/>
          <p:nvPr/>
        </p:nvSpPr>
        <p:spPr>
          <a:xfrm>
            <a:off x="838200" y="4445000"/>
            <a:ext cx="5080000" cy="1524000"/>
          </a:xfrm>
          <a:prstGeom prst="rect">
            <a:avLst/>
          </a:prstGeom>
          <a:noFill/>
          <a:ln cap="flat" cmpd="sng" w="9525">
            <a:solidFill>
              <a:srgbClr val="2C4A6E"/>
            </a:solidFill>
            <a:prstDash val="solid"/>
            <a:round/>
            <a:headEnd len="sm" w="sm" type="none"/>
            <a:tailEnd len="sm" w="sm" type="none"/>
          </a:ln>
        </p:spPr>
        <p:txBody>
          <a:bodyPr anchorCtr="0" anchor="t" bIns="137150" lIns="182875" spcFirstLastPara="1" rIns="182875" wrap="square" tIns="137150">
            <a:noAutofit/>
          </a:bodyPr>
          <a:lstStyle/>
          <a:p>
            <a:pPr indent="0" lvl="0" marL="0" marR="0" rtl="0" algn="l">
              <a:spcBef>
                <a:spcPts val="0"/>
              </a:spcBef>
              <a:spcAft>
                <a:spcPts val="0"/>
              </a:spcAft>
              <a:buClr>
                <a:srgbClr val="2C4A6E"/>
              </a:buClr>
              <a:buSzPts val="1400"/>
              <a:buFont typeface="Arial"/>
              <a:buNone/>
            </a:pPr>
            <a:r>
              <a:rPr b="1" lang="en-US" sz="1400">
                <a:solidFill>
                  <a:srgbClr val="2C4A6E"/>
                </a:solidFill>
                <a:latin typeface="Arial"/>
                <a:ea typeface="Arial"/>
                <a:cs typeface="Arial"/>
                <a:sym typeface="Arial"/>
              </a:rPr>
              <a:t>At any finite set of inputs</a:t>
            </a:r>
            <a:endParaRPr/>
          </a:p>
          <a:p>
            <a:pPr indent="0" lvl="0" marL="0" marR="0" rtl="0" algn="ctr">
              <a:spcBef>
                <a:spcPts val="500"/>
              </a:spcBef>
              <a:spcAft>
                <a:spcPts val="0"/>
              </a:spcAft>
              <a:buClr>
                <a:srgbClr val="1C2433"/>
              </a:buClr>
              <a:buSzPts val="1600"/>
              <a:buFont typeface="Cambria Math"/>
              <a:buNone/>
            </a:pPr>
            <a:r>
              <a:rPr i="1" lang="en-US" sz="1600">
                <a:solidFill>
                  <a:srgbClr val="1C2433"/>
                </a:solidFill>
                <a:latin typeface="Cambria Math"/>
                <a:ea typeface="Cambria Math"/>
                <a:cs typeface="Cambria Math"/>
                <a:sym typeface="Cambria Math"/>
              </a:rPr>
              <a:t>(f(x₁), …, f(xₙ)) ∼ 𝒩(m, K)</a:t>
            </a:r>
            <a:endParaRPr/>
          </a:p>
          <a:p>
            <a:pPr indent="0" lvl="0" marL="0" marR="0" rtl="0" algn="l">
              <a:spcBef>
                <a:spcPts val="500"/>
              </a:spcBef>
              <a:spcAft>
                <a:spcPts val="0"/>
              </a:spcAft>
              <a:buClr>
                <a:srgbClr val="2A2F3A"/>
              </a:buClr>
              <a:buSzPts val="1300"/>
              <a:buFont typeface="Arial"/>
              <a:buNone/>
            </a:pPr>
            <a:r>
              <a:rPr lang="en-US" sz="1300">
                <a:solidFill>
                  <a:srgbClr val="2A2F3A"/>
                </a:solidFill>
                <a:latin typeface="Arial"/>
                <a:ea typeface="Arial"/>
                <a:cs typeface="Arial"/>
                <a:sym typeface="Arial"/>
              </a:rPr>
              <a:t>with </a:t>
            </a:r>
            <a:r>
              <a:rPr i="1" lang="en-US" sz="1300">
                <a:solidFill>
                  <a:srgbClr val="1C2433"/>
                </a:solidFill>
                <a:latin typeface="Cambria Math"/>
                <a:ea typeface="Cambria Math"/>
                <a:cs typeface="Cambria Math"/>
                <a:sym typeface="Cambria Math"/>
              </a:rPr>
              <a:t>(m)ᵢ = m(xᵢ)</a:t>
            </a:r>
            <a:r>
              <a:rPr lang="en-US" sz="1300">
                <a:solidFill>
                  <a:srgbClr val="2A2F3A"/>
                </a:solidFill>
                <a:latin typeface="Arial"/>
                <a:ea typeface="Arial"/>
                <a:cs typeface="Arial"/>
                <a:sym typeface="Arial"/>
              </a:rPr>
              <a:t> and </a:t>
            </a:r>
            <a:r>
              <a:rPr i="1" lang="en-US" sz="1300">
                <a:solidFill>
                  <a:srgbClr val="1C2433"/>
                </a:solidFill>
                <a:latin typeface="Cambria Math"/>
                <a:ea typeface="Cambria Math"/>
                <a:cs typeface="Cambria Math"/>
                <a:sym typeface="Cambria Math"/>
              </a:rPr>
              <a:t>(K)ᵢⱼ = k(xᵢ, xⱼ)</a:t>
            </a:r>
            <a:r>
              <a:rPr lang="en-US" sz="1300">
                <a:solidFill>
                  <a:srgbClr val="2A2F3A"/>
                </a:solidFill>
                <a:latin typeface="Arial"/>
                <a:ea typeface="Arial"/>
                <a:cs typeface="Arial"/>
                <a:sym typeface="Arial"/>
              </a:rPr>
              <a:t>.</a:t>
            </a:r>
            <a:endParaRPr/>
          </a:p>
        </p:txBody>
      </p:sp>
      <p:sp>
        <p:nvSpPr>
          <p:cNvPr id="122" name="Google Shape;122;p4"/>
          <p:cNvSpPr txBox="1"/>
          <p:nvPr/>
        </p:nvSpPr>
        <p:spPr>
          <a:xfrm>
            <a:off x="6273800" y="4445000"/>
            <a:ext cx="5080000" cy="1524000"/>
          </a:xfrm>
          <a:prstGeom prst="rect">
            <a:avLst/>
          </a:prstGeom>
          <a:noFill/>
          <a:ln cap="flat" cmpd="sng" w="9525">
            <a:solidFill>
              <a:srgbClr val="B5532A"/>
            </a:solidFill>
            <a:prstDash val="solid"/>
            <a:round/>
            <a:headEnd len="sm" w="sm" type="none"/>
            <a:tailEnd len="sm" w="sm" type="none"/>
          </a:ln>
        </p:spPr>
        <p:txBody>
          <a:bodyPr anchorCtr="0" anchor="t" bIns="137150" lIns="182875" spcFirstLastPara="1" rIns="182875" wrap="square" tIns="137150">
            <a:noAutofit/>
          </a:bodyPr>
          <a:lstStyle/>
          <a:p>
            <a:pPr indent="0" lvl="0" marL="0" marR="0" rtl="0" algn="l">
              <a:spcBef>
                <a:spcPts val="0"/>
              </a:spcBef>
              <a:spcAft>
                <a:spcPts val="0"/>
              </a:spcAft>
              <a:buClr>
                <a:srgbClr val="B5532A"/>
              </a:buClr>
              <a:buSzPts val="1400"/>
              <a:buFont typeface="Arial"/>
              <a:buNone/>
            </a:pPr>
            <a:r>
              <a:rPr b="1" lang="en-US" sz="1400">
                <a:solidFill>
                  <a:srgbClr val="B5532A"/>
                </a:solidFill>
                <a:latin typeface="Arial"/>
                <a:ea typeface="Arial"/>
                <a:cs typeface="Arial"/>
                <a:sym typeface="Arial"/>
              </a:rPr>
              <a:t>Two ingredients</a:t>
            </a:r>
            <a:endParaRPr/>
          </a:p>
          <a:p>
            <a:pPr indent="-228600" lvl="0" marL="228600" marR="0" rtl="0" algn="l">
              <a:spcBef>
                <a:spcPts val="500"/>
              </a:spcBef>
              <a:spcAft>
                <a:spcPts val="0"/>
              </a:spcAft>
              <a:buClr>
                <a:srgbClr val="1C2433"/>
              </a:buClr>
              <a:buSzPts val="1400"/>
              <a:buFont typeface="Arial"/>
              <a:buChar char="—"/>
            </a:pPr>
            <a:r>
              <a:rPr i="1" lang="en-US" sz="1400">
                <a:solidFill>
                  <a:srgbClr val="1C2433"/>
                </a:solidFill>
                <a:latin typeface="Cambria Math"/>
                <a:ea typeface="Cambria Math"/>
                <a:cs typeface="Cambria Math"/>
                <a:sym typeface="Cambria Math"/>
              </a:rPr>
              <a:t>m(x) = 𝔼[f(x)]</a:t>
            </a:r>
            <a:r>
              <a:rPr lang="en-US" sz="1400">
                <a:solidFill>
                  <a:srgbClr val="2A2F3A"/>
                </a:solidFill>
                <a:latin typeface="Arial"/>
                <a:ea typeface="Arial"/>
                <a:cs typeface="Arial"/>
                <a:sym typeface="Arial"/>
              </a:rPr>
              <a:t>  — prior average behavior</a:t>
            </a:r>
            <a:endParaRPr/>
          </a:p>
          <a:p>
            <a:pPr indent="-228600" lvl="0" marL="228600" marR="0" rtl="0" algn="l">
              <a:spcBef>
                <a:spcPts val="400"/>
              </a:spcBef>
              <a:spcAft>
                <a:spcPts val="0"/>
              </a:spcAft>
              <a:buClr>
                <a:srgbClr val="1C2433"/>
              </a:buClr>
              <a:buSzPts val="1400"/>
              <a:buFont typeface="Arial"/>
              <a:buChar char="—"/>
            </a:pPr>
            <a:r>
              <a:rPr i="1" lang="en-US" sz="1400">
                <a:solidFill>
                  <a:srgbClr val="1C2433"/>
                </a:solidFill>
                <a:latin typeface="Cambria Math"/>
                <a:ea typeface="Cambria Math"/>
                <a:cs typeface="Cambria Math"/>
                <a:sym typeface="Cambria Math"/>
              </a:rPr>
              <a:t>k(x, x′) = Cov(f(x), f(x′))</a:t>
            </a:r>
            <a:endParaRPr/>
          </a:p>
          <a:p>
            <a:pPr indent="0" lvl="0" marL="228600" marR="0" rtl="0" algn="l">
              <a:spcBef>
                <a:spcPts val="0"/>
              </a:spcBef>
              <a:spcAft>
                <a:spcPts val="0"/>
              </a:spcAft>
              <a:buClr>
                <a:srgbClr val="2A2F3A"/>
              </a:buClr>
              <a:buSzPts val="1400"/>
              <a:buFont typeface="Arial"/>
              <a:buNone/>
            </a:pPr>
            <a:r>
              <a:rPr lang="en-US" sz="1400">
                <a:solidFill>
                  <a:srgbClr val="2A2F3A"/>
                </a:solidFill>
                <a:latin typeface="Arial"/>
                <a:ea typeface="Arial"/>
                <a:cs typeface="Arial"/>
                <a:sym typeface="Arial"/>
              </a:rPr>
              <a:t>encodes smoothness &amp; scale</a:t>
            </a:r>
            <a:endParaRPr/>
          </a:p>
        </p:txBody>
      </p:sp>
      <p:sp>
        <p:nvSpPr>
          <p:cNvPr id="123" name="Google Shape;123;p4"/>
          <p:cNvSpPr txBox="1"/>
          <p:nvPr/>
        </p:nvSpPr>
        <p:spPr>
          <a:xfrm>
            <a:off x="838200" y="6057900"/>
            <a:ext cx="10515600" cy="317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C4A6E"/>
              </a:buClr>
              <a:buSzPts val="1500"/>
              <a:buFont typeface="Playfair Display"/>
              <a:buNone/>
            </a:pPr>
            <a:r>
              <a:rPr i="1" lang="en-US" sz="1500">
                <a:solidFill>
                  <a:srgbClr val="2C4A6E"/>
                </a:solidFill>
                <a:latin typeface="Playfair Display"/>
                <a:ea typeface="Playfair Display"/>
                <a:cs typeface="Playfair Display"/>
                <a:sym typeface="Playfair Display"/>
              </a:rPr>
              <a:t>The conceptual shift: from a prior on coefficients to a prior on functions.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1C2433"/>
              </a:buClr>
              <a:buSzPts val="4000"/>
              <a:buFont typeface="Playfair Display"/>
              <a:buNone/>
            </a:pPr>
            <a:r>
              <a:rPr b="1" lang="en-US" sz="4000">
                <a:solidFill>
                  <a:srgbClr val="1C2433"/>
                </a:solidFill>
                <a:latin typeface="Playfair Display"/>
                <a:ea typeface="Playfair Display"/>
                <a:cs typeface="Playfair Display"/>
                <a:sym typeface="Playfair Display"/>
              </a:rPr>
              <a:t>The RBF (Squared Exponential) Kernel</a:t>
            </a:r>
            <a:endParaRPr/>
          </a:p>
        </p:txBody>
      </p:sp>
      <p:sp>
        <p:nvSpPr>
          <p:cNvPr id="129" name="Google Shape;129;p5"/>
          <p:cNvSpPr txBox="1"/>
          <p:nvPr/>
        </p:nvSpPr>
        <p:spPr>
          <a:xfrm>
            <a:off x="838200" y="1406525"/>
            <a:ext cx="10515600" cy="381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2F3A"/>
              </a:buClr>
              <a:buSzPts val="1600"/>
              <a:buFont typeface="Arial"/>
              <a:buNone/>
            </a:pPr>
            <a:r>
              <a:rPr i="1" lang="en-US" sz="1600">
                <a:solidFill>
                  <a:srgbClr val="2A2F3A"/>
                </a:solidFill>
                <a:latin typeface="Arial"/>
                <a:ea typeface="Arial"/>
                <a:cs typeface="Arial"/>
                <a:sym typeface="Arial"/>
              </a:rPr>
              <a:t>The kernel determines how strongly two function values are related under the prior.</a:t>
            </a:r>
            <a:endParaRPr/>
          </a:p>
        </p:txBody>
      </p:sp>
      <p:sp>
        <p:nvSpPr>
          <p:cNvPr id="130" name="Google Shape;130;p5"/>
          <p:cNvSpPr txBox="1"/>
          <p:nvPr/>
        </p:nvSpPr>
        <p:spPr>
          <a:xfrm>
            <a:off x="838200" y="1914525"/>
            <a:ext cx="10515600" cy="952500"/>
          </a:xfrm>
          <a:prstGeom prst="rect">
            <a:avLst/>
          </a:prstGeom>
          <a:solidFill>
            <a:srgbClr val="E8E1D4"/>
          </a:solidFill>
          <a:ln>
            <a:noFill/>
          </a:ln>
        </p:spPr>
        <p:txBody>
          <a:bodyPr anchorCtr="0" anchor="ctr" bIns="91425" lIns="182875" spcFirstLastPara="1" rIns="182875" wrap="square" tIns="91425">
            <a:noAutofit/>
          </a:bodyPr>
          <a:lstStyle/>
          <a:p>
            <a:pPr indent="0" lvl="0" marL="0" marR="0" rtl="0" algn="ctr">
              <a:spcBef>
                <a:spcPts val="0"/>
              </a:spcBef>
              <a:spcAft>
                <a:spcPts val="0"/>
              </a:spcAft>
              <a:buClr>
                <a:srgbClr val="1C2433"/>
              </a:buClr>
              <a:buSzPts val="2400"/>
              <a:buFont typeface="Cambria Math"/>
              <a:buNone/>
            </a:pPr>
            <a:r>
              <a:rPr i="1" lang="en-US" sz="2400">
                <a:solidFill>
                  <a:srgbClr val="1C2433"/>
                </a:solidFill>
                <a:latin typeface="Cambria Math"/>
                <a:ea typeface="Cambria Math"/>
                <a:cs typeface="Cambria Math"/>
                <a:sym typeface="Cambria Math"/>
              </a:rPr>
              <a:t>k(x, x′) = α² exp (− ‖x − x′‖² / 2ℓ²)</a:t>
            </a:r>
            <a:endParaRPr/>
          </a:p>
        </p:txBody>
      </p:sp>
      <p:sp>
        <p:nvSpPr>
          <p:cNvPr id="131" name="Google Shape;131;p5"/>
          <p:cNvSpPr txBox="1"/>
          <p:nvPr/>
        </p:nvSpPr>
        <p:spPr>
          <a:xfrm>
            <a:off x="838200" y="3082925"/>
            <a:ext cx="5080000" cy="1206500"/>
          </a:xfrm>
          <a:prstGeom prst="rect">
            <a:avLst/>
          </a:prstGeom>
          <a:noFill/>
          <a:ln cap="flat" cmpd="sng" w="9525">
            <a:solidFill>
              <a:srgbClr val="2C4A6E"/>
            </a:solidFill>
            <a:prstDash val="solid"/>
            <a:round/>
            <a:headEnd len="sm" w="sm" type="none"/>
            <a:tailEnd len="sm" w="sm" type="none"/>
          </a:ln>
        </p:spPr>
        <p:txBody>
          <a:bodyPr anchorCtr="0" anchor="t" bIns="91425" lIns="182875" spcFirstLastPara="1" rIns="182875" wrap="square" tIns="91425">
            <a:noAutofit/>
          </a:bodyPr>
          <a:lstStyle/>
          <a:p>
            <a:pPr indent="0" lvl="0" marL="0" marR="0" rtl="0" algn="l">
              <a:spcBef>
                <a:spcPts val="0"/>
              </a:spcBef>
              <a:spcAft>
                <a:spcPts val="0"/>
              </a:spcAft>
              <a:buClr>
                <a:srgbClr val="2C4A6E"/>
              </a:buClr>
              <a:buSzPts val="1400"/>
              <a:buFont typeface="Arial"/>
              <a:buNone/>
            </a:pPr>
            <a:r>
              <a:rPr b="1" lang="en-US" sz="1400">
                <a:solidFill>
                  <a:srgbClr val="2C4A6E"/>
                </a:solidFill>
                <a:latin typeface="Arial"/>
                <a:ea typeface="Arial"/>
                <a:cs typeface="Arial"/>
                <a:sym typeface="Arial"/>
              </a:rPr>
              <a:t>α² — amplitude</a:t>
            </a:r>
            <a:endParaRPr/>
          </a:p>
          <a:p>
            <a:pPr indent="0" lvl="0" marL="0" marR="0" rtl="0" algn="l">
              <a:spcBef>
                <a:spcPts val="300"/>
              </a:spcBef>
              <a:spcAft>
                <a:spcPts val="0"/>
              </a:spcAft>
              <a:buClr>
                <a:srgbClr val="1C2433"/>
              </a:buClr>
              <a:buSzPts val="1500"/>
              <a:buFont typeface="Cambria Math"/>
              <a:buNone/>
            </a:pPr>
            <a:r>
              <a:rPr i="1" lang="en-US" sz="1500">
                <a:solidFill>
                  <a:srgbClr val="1C2433"/>
                </a:solidFill>
                <a:latin typeface="Cambria Math"/>
                <a:ea typeface="Cambria Math"/>
                <a:cs typeface="Cambria Math"/>
                <a:sym typeface="Cambria Math"/>
              </a:rPr>
              <a:t>k(x, x) = α²</a:t>
            </a:r>
            <a:r>
              <a:rPr lang="en-US" sz="1500">
                <a:solidFill>
                  <a:srgbClr val="8A8578"/>
                </a:solidFill>
                <a:latin typeface="Arial"/>
                <a:ea typeface="Arial"/>
                <a:cs typeface="Arial"/>
                <a:sym typeface="Arial"/>
              </a:rPr>
              <a:t>  — marginal variance</a:t>
            </a:r>
            <a:endParaRPr/>
          </a:p>
          <a:p>
            <a:pPr indent="0" lvl="0" marL="0" marR="0" rtl="0" algn="l">
              <a:spcBef>
                <a:spcPts val="300"/>
              </a:spcBef>
              <a:spcAft>
                <a:spcPts val="0"/>
              </a:spcAft>
              <a:buClr>
                <a:srgbClr val="2A2F3A"/>
              </a:buClr>
              <a:buSzPts val="1300"/>
              <a:buFont typeface="Arial"/>
              <a:buNone/>
            </a:pPr>
            <a:r>
              <a:rPr lang="en-US" sz="1300">
                <a:solidFill>
                  <a:srgbClr val="2A2F3A"/>
                </a:solidFill>
                <a:latin typeface="Arial"/>
                <a:ea typeface="Arial"/>
                <a:cs typeface="Arial"/>
                <a:sym typeface="Arial"/>
              </a:rPr>
              <a:t>Typical vertical size of function fluctuations.</a:t>
            </a:r>
            <a:endParaRPr/>
          </a:p>
        </p:txBody>
      </p:sp>
      <p:sp>
        <p:nvSpPr>
          <p:cNvPr id="132" name="Google Shape;132;p5"/>
          <p:cNvSpPr txBox="1"/>
          <p:nvPr/>
        </p:nvSpPr>
        <p:spPr>
          <a:xfrm>
            <a:off x="6273800" y="3111500"/>
            <a:ext cx="5080000" cy="1206500"/>
          </a:xfrm>
          <a:prstGeom prst="rect">
            <a:avLst/>
          </a:prstGeom>
          <a:noFill/>
          <a:ln cap="flat" cmpd="sng" w="9525">
            <a:solidFill>
              <a:srgbClr val="B5532A"/>
            </a:solidFill>
            <a:prstDash val="solid"/>
            <a:round/>
            <a:headEnd len="sm" w="sm" type="none"/>
            <a:tailEnd len="sm" w="sm" type="none"/>
          </a:ln>
        </p:spPr>
        <p:txBody>
          <a:bodyPr anchorCtr="0" anchor="t" bIns="91425" lIns="182875" spcFirstLastPara="1" rIns="182875" wrap="square" tIns="91425">
            <a:noAutofit/>
          </a:bodyPr>
          <a:lstStyle/>
          <a:p>
            <a:pPr indent="0" lvl="0" marL="0" marR="0" rtl="0" algn="l">
              <a:spcBef>
                <a:spcPts val="0"/>
              </a:spcBef>
              <a:spcAft>
                <a:spcPts val="0"/>
              </a:spcAft>
              <a:buClr>
                <a:srgbClr val="B5532A"/>
              </a:buClr>
              <a:buSzPts val="1400"/>
              <a:buFont typeface="Arial"/>
              <a:buNone/>
            </a:pPr>
            <a:r>
              <a:rPr b="1" lang="en-US" sz="1400">
                <a:solidFill>
                  <a:srgbClr val="B5532A"/>
                </a:solidFill>
                <a:latin typeface="Arial"/>
                <a:ea typeface="Arial"/>
                <a:cs typeface="Arial"/>
                <a:sym typeface="Arial"/>
              </a:rPr>
              <a:t>ℓ — lengthscale</a:t>
            </a:r>
            <a:endParaRPr/>
          </a:p>
          <a:p>
            <a:pPr indent="0" lvl="0" marL="0" marR="0" rtl="0" algn="l">
              <a:spcBef>
                <a:spcPts val="300"/>
              </a:spcBef>
              <a:spcAft>
                <a:spcPts val="0"/>
              </a:spcAft>
              <a:buClr>
                <a:srgbClr val="1C2433"/>
              </a:buClr>
              <a:buSzPts val="1500"/>
              <a:buFont typeface="Cambria Math"/>
              <a:buNone/>
            </a:pPr>
            <a:r>
              <a:rPr i="1" lang="en-US" sz="1500">
                <a:solidFill>
                  <a:srgbClr val="1C2433"/>
                </a:solidFill>
                <a:latin typeface="Cambria Math"/>
                <a:ea typeface="Cambria Math"/>
                <a:cs typeface="Cambria Math"/>
                <a:sym typeface="Cambria Math"/>
              </a:rPr>
              <a:t>ℓ</a:t>
            </a:r>
            <a:r>
              <a:rPr lang="en-US" sz="1500">
                <a:solidFill>
                  <a:srgbClr val="8A8578"/>
                </a:solidFill>
                <a:latin typeface="Arial"/>
                <a:ea typeface="Arial"/>
                <a:cs typeface="Arial"/>
                <a:sym typeface="Arial"/>
              </a:rPr>
              <a:t>  — rate of correlation decay</a:t>
            </a:r>
            <a:endParaRPr/>
          </a:p>
          <a:p>
            <a:pPr indent="0" lvl="0" marL="0" marR="0" rtl="0" algn="l">
              <a:spcBef>
                <a:spcPts val="300"/>
              </a:spcBef>
              <a:spcAft>
                <a:spcPts val="0"/>
              </a:spcAft>
              <a:buClr>
                <a:srgbClr val="2A2F3A"/>
              </a:buClr>
              <a:buSzPts val="1300"/>
              <a:buFont typeface="Arial"/>
              <a:buNone/>
            </a:pPr>
            <a:r>
              <a:rPr lang="en-US" sz="1300">
                <a:solidFill>
                  <a:srgbClr val="2A2F3A"/>
                </a:solidFill>
                <a:latin typeface="Arial"/>
                <a:ea typeface="Arial"/>
                <a:cs typeface="Arial"/>
                <a:sym typeface="Arial"/>
              </a:rPr>
              <a:t>How far the influence of one point reaches.</a:t>
            </a:r>
            <a:endParaRPr/>
          </a:p>
        </p:txBody>
      </p:sp>
      <p:sp>
        <p:nvSpPr>
          <p:cNvPr id="133" name="Google Shape;133;p5"/>
          <p:cNvSpPr txBox="1"/>
          <p:nvPr/>
        </p:nvSpPr>
        <p:spPr>
          <a:xfrm>
            <a:off x="838200" y="4584700"/>
            <a:ext cx="5080000" cy="10795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B5532A"/>
              </a:buClr>
              <a:buSzPts val="1400"/>
              <a:buFont typeface="Arial"/>
              <a:buNone/>
            </a:pPr>
            <a:r>
              <a:rPr b="1" lang="en-US" sz="1400">
                <a:solidFill>
                  <a:srgbClr val="B5532A"/>
                </a:solidFill>
                <a:latin typeface="Arial"/>
                <a:ea typeface="Arial"/>
                <a:cs typeface="Arial"/>
                <a:sym typeface="Arial"/>
              </a:rPr>
              <a:t>IF x AND x′ ARE CLOSE</a:t>
            </a:r>
            <a:endParaRPr/>
          </a:p>
          <a:p>
            <a:pPr indent="0" lvl="0" marL="0" marR="0" rtl="0" algn="r">
              <a:spcBef>
                <a:spcPts val="400"/>
              </a:spcBef>
              <a:spcAft>
                <a:spcPts val="0"/>
              </a:spcAft>
              <a:buClr>
                <a:srgbClr val="1C2433"/>
              </a:buClr>
              <a:buSzPts val="1500"/>
              <a:buFont typeface="Cambria Math"/>
              <a:buNone/>
            </a:pPr>
            <a:r>
              <a:rPr i="1" lang="en-US" sz="1500">
                <a:solidFill>
                  <a:srgbClr val="1C2433"/>
                </a:solidFill>
                <a:latin typeface="Cambria Math"/>
                <a:ea typeface="Cambria Math"/>
                <a:cs typeface="Cambria Math"/>
                <a:sym typeface="Cambria Math"/>
              </a:rPr>
              <a:t>k(x, x′) ≈ α²</a:t>
            </a:r>
            <a:r>
              <a:rPr lang="en-US" sz="1500">
                <a:solidFill>
                  <a:srgbClr val="2A2F3A"/>
                </a:solidFill>
                <a:latin typeface="Arial"/>
                <a:ea typeface="Arial"/>
                <a:cs typeface="Arial"/>
                <a:sym typeface="Arial"/>
              </a:rPr>
              <a:t>  — strong correlation</a:t>
            </a:r>
            <a:endParaRPr/>
          </a:p>
          <a:p>
            <a:pPr indent="0" lvl="0" marL="0" marR="0" rtl="0" algn="r">
              <a:spcBef>
                <a:spcPts val="300"/>
              </a:spcBef>
              <a:spcAft>
                <a:spcPts val="0"/>
              </a:spcAft>
              <a:buClr>
                <a:srgbClr val="8A8578"/>
              </a:buClr>
              <a:buSzPts val="1400"/>
              <a:buFont typeface="Arial"/>
              <a:buNone/>
            </a:pPr>
            <a:r>
              <a:rPr i="1" lang="en-US" sz="1400">
                <a:solidFill>
                  <a:srgbClr val="8A8578"/>
                </a:solidFill>
                <a:latin typeface="Arial"/>
                <a:ea typeface="Arial"/>
                <a:cs typeface="Arial"/>
                <a:sym typeface="Arial"/>
              </a:rPr>
              <a:t>Nearby inputs → similar function values.</a:t>
            </a:r>
            <a:endParaRPr/>
          </a:p>
        </p:txBody>
      </p:sp>
      <p:sp>
        <p:nvSpPr>
          <p:cNvPr id="134" name="Google Shape;134;p5"/>
          <p:cNvSpPr txBox="1"/>
          <p:nvPr/>
        </p:nvSpPr>
        <p:spPr>
          <a:xfrm>
            <a:off x="838200" y="5680075"/>
            <a:ext cx="5080000" cy="10795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2C4A6E"/>
              </a:buClr>
              <a:buSzPts val="1400"/>
              <a:buFont typeface="Arial"/>
              <a:buNone/>
            </a:pPr>
            <a:r>
              <a:rPr b="1" lang="en-US" sz="1400">
                <a:solidFill>
                  <a:srgbClr val="2C4A6E"/>
                </a:solidFill>
                <a:latin typeface="Arial"/>
                <a:ea typeface="Arial"/>
                <a:cs typeface="Arial"/>
                <a:sym typeface="Arial"/>
              </a:rPr>
              <a:t>IF x AND x′ ARE FAR APART</a:t>
            </a:r>
            <a:endParaRPr/>
          </a:p>
          <a:p>
            <a:pPr indent="0" lvl="0" marL="0" marR="0" rtl="0" algn="r">
              <a:spcBef>
                <a:spcPts val="400"/>
              </a:spcBef>
              <a:spcAft>
                <a:spcPts val="0"/>
              </a:spcAft>
              <a:buClr>
                <a:srgbClr val="1C2433"/>
              </a:buClr>
              <a:buSzPts val="1500"/>
              <a:buFont typeface="Cambria Math"/>
              <a:buNone/>
            </a:pPr>
            <a:r>
              <a:rPr i="1" lang="en-US" sz="1500">
                <a:solidFill>
                  <a:srgbClr val="1C2433"/>
                </a:solidFill>
                <a:latin typeface="Cambria Math"/>
                <a:ea typeface="Cambria Math"/>
                <a:cs typeface="Cambria Math"/>
                <a:sym typeface="Cambria Math"/>
              </a:rPr>
              <a:t>k(x, x′) ≈ 0</a:t>
            </a:r>
            <a:r>
              <a:rPr lang="en-US" sz="1500">
                <a:solidFill>
                  <a:srgbClr val="2A2F3A"/>
                </a:solidFill>
                <a:latin typeface="Arial"/>
                <a:ea typeface="Arial"/>
                <a:cs typeface="Arial"/>
                <a:sym typeface="Arial"/>
              </a:rPr>
              <a:t>  — nearly independent</a:t>
            </a:r>
            <a:endParaRPr/>
          </a:p>
          <a:p>
            <a:pPr indent="0" lvl="0" marL="0" marR="0" rtl="0" algn="r">
              <a:spcBef>
                <a:spcPts val="300"/>
              </a:spcBef>
              <a:spcAft>
                <a:spcPts val="0"/>
              </a:spcAft>
              <a:buClr>
                <a:srgbClr val="8A8578"/>
              </a:buClr>
              <a:buSzPts val="1400"/>
              <a:buFont typeface="Arial"/>
              <a:buNone/>
            </a:pPr>
            <a:r>
              <a:rPr i="1" lang="en-US" sz="1400">
                <a:solidFill>
                  <a:srgbClr val="8A8578"/>
                </a:solidFill>
                <a:latin typeface="Arial"/>
                <a:ea typeface="Arial"/>
                <a:cs typeface="Arial"/>
                <a:sym typeface="Arial"/>
              </a:rPr>
              <a:t>Distant inputs provide little info about each other.</a:t>
            </a:r>
            <a:endParaRPr/>
          </a:p>
        </p:txBody>
      </p:sp>
      <p:sp>
        <p:nvSpPr>
          <p:cNvPr id="135" name="Google Shape;135;p5"/>
          <p:cNvSpPr txBox="1"/>
          <p:nvPr/>
        </p:nvSpPr>
        <p:spPr>
          <a:xfrm>
            <a:off x="6273800" y="4457700"/>
            <a:ext cx="5080000" cy="381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C4A6E"/>
              </a:buClr>
              <a:buSzPts val="1400"/>
              <a:buFont typeface="Arial"/>
              <a:buNone/>
            </a:pPr>
            <a:r>
              <a:rPr b="1" lang="en-US" sz="1400">
                <a:solidFill>
                  <a:srgbClr val="2C4A6E"/>
                </a:solidFill>
                <a:latin typeface="Arial"/>
                <a:ea typeface="Arial"/>
                <a:cs typeface="Arial"/>
                <a:sym typeface="Arial"/>
              </a:rPr>
              <a:t>HOW IT SHAPES THE PRIOR</a:t>
            </a:r>
            <a:endParaRPr/>
          </a:p>
        </p:txBody>
      </p:sp>
      <p:cxnSp>
        <p:nvCxnSpPr>
          <p:cNvPr id="136" name="Google Shape;136;p5"/>
          <p:cNvCxnSpPr/>
          <p:nvPr/>
        </p:nvCxnSpPr>
        <p:spPr>
          <a:xfrm>
            <a:off x="6477000" y="6108700"/>
            <a:ext cx="4572000" cy="0"/>
          </a:xfrm>
          <a:prstGeom prst="straightConnector1">
            <a:avLst/>
          </a:prstGeom>
          <a:noFill/>
          <a:ln cap="flat" cmpd="sng" w="9525">
            <a:solidFill>
              <a:srgbClr val="8A8578"/>
            </a:solidFill>
            <a:prstDash val="solid"/>
            <a:round/>
            <a:headEnd len="sm" w="sm" type="none"/>
            <a:tailEnd len="sm" w="sm" type="none"/>
          </a:ln>
        </p:spPr>
      </p:cxnSp>
      <p:sp>
        <p:nvSpPr>
          <p:cNvPr id="137" name="Google Shape;137;p5"/>
          <p:cNvSpPr/>
          <p:nvPr/>
        </p:nvSpPr>
        <p:spPr>
          <a:xfrm>
            <a:off x="6756400" y="6007100"/>
            <a:ext cx="203200" cy="203200"/>
          </a:xfrm>
          <a:prstGeom prst="ellipse">
            <a:avLst/>
          </a:prstGeom>
          <a:solidFill>
            <a:srgbClr val="2C4A6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8" name="Google Shape;138;p5"/>
          <p:cNvSpPr/>
          <p:nvPr/>
        </p:nvSpPr>
        <p:spPr>
          <a:xfrm>
            <a:off x="7518400" y="6007100"/>
            <a:ext cx="203200" cy="203200"/>
          </a:xfrm>
          <a:prstGeom prst="ellipse">
            <a:avLst/>
          </a:prstGeom>
          <a:solidFill>
            <a:srgbClr val="2C4A6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9" name="Google Shape;139;p5"/>
          <p:cNvSpPr/>
          <p:nvPr/>
        </p:nvSpPr>
        <p:spPr>
          <a:xfrm>
            <a:off x="10312400" y="6007100"/>
            <a:ext cx="203200" cy="203200"/>
          </a:xfrm>
          <a:prstGeom prst="ellipse">
            <a:avLst/>
          </a:prstGeom>
          <a:solidFill>
            <a:srgbClr val="2C4A6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0" name="Google Shape;140;p5"/>
          <p:cNvSpPr txBox="1"/>
          <p:nvPr/>
        </p:nvSpPr>
        <p:spPr>
          <a:xfrm>
            <a:off x="6604000" y="6261100"/>
            <a:ext cx="508000" cy="254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2433"/>
              </a:buClr>
              <a:buSzPts val="1200"/>
              <a:buFont typeface="Cambria Math"/>
              <a:buNone/>
            </a:pPr>
            <a:r>
              <a:rPr i="1" lang="en-US" sz="1200">
                <a:solidFill>
                  <a:srgbClr val="1C2433"/>
                </a:solidFill>
                <a:latin typeface="Cambria Math"/>
                <a:ea typeface="Cambria Math"/>
                <a:cs typeface="Cambria Math"/>
                <a:sym typeface="Cambria Math"/>
              </a:rPr>
              <a:t>x₁</a:t>
            </a:r>
            <a:endParaRPr/>
          </a:p>
        </p:txBody>
      </p:sp>
      <p:sp>
        <p:nvSpPr>
          <p:cNvPr id="141" name="Google Shape;141;p5"/>
          <p:cNvSpPr txBox="1"/>
          <p:nvPr/>
        </p:nvSpPr>
        <p:spPr>
          <a:xfrm>
            <a:off x="7366000" y="6261100"/>
            <a:ext cx="508000" cy="254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2433"/>
              </a:buClr>
              <a:buSzPts val="1200"/>
              <a:buFont typeface="Cambria Math"/>
              <a:buNone/>
            </a:pPr>
            <a:r>
              <a:rPr i="1" lang="en-US" sz="1200">
                <a:solidFill>
                  <a:srgbClr val="1C2433"/>
                </a:solidFill>
                <a:latin typeface="Cambria Math"/>
                <a:ea typeface="Cambria Math"/>
                <a:cs typeface="Cambria Math"/>
                <a:sym typeface="Cambria Math"/>
              </a:rPr>
              <a:t>x₂</a:t>
            </a:r>
            <a:endParaRPr/>
          </a:p>
        </p:txBody>
      </p:sp>
      <p:sp>
        <p:nvSpPr>
          <p:cNvPr id="142" name="Google Shape;142;p5"/>
          <p:cNvSpPr txBox="1"/>
          <p:nvPr/>
        </p:nvSpPr>
        <p:spPr>
          <a:xfrm>
            <a:off x="10160000" y="6261100"/>
            <a:ext cx="508000" cy="254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2433"/>
              </a:buClr>
              <a:buSzPts val="1200"/>
              <a:buFont typeface="Cambria Math"/>
              <a:buNone/>
            </a:pPr>
            <a:r>
              <a:rPr i="1" lang="en-US" sz="1200">
                <a:solidFill>
                  <a:srgbClr val="1C2433"/>
                </a:solidFill>
                <a:latin typeface="Cambria Math"/>
                <a:ea typeface="Cambria Math"/>
                <a:cs typeface="Cambria Math"/>
                <a:sym typeface="Cambria Math"/>
              </a:rPr>
              <a:t>x₃</a:t>
            </a:r>
            <a:endParaRPr/>
          </a:p>
        </p:txBody>
      </p:sp>
      <p:sp>
        <p:nvSpPr>
          <p:cNvPr id="143" name="Google Shape;143;p5"/>
          <p:cNvSpPr/>
          <p:nvPr/>
        </p:nvSpPr>
        <p:spPr>
          <a:xfrm>
            <a:off x="6858000" y="5664200"/>
            <a:ext cx="762000" cy="444500"/>
          </a:xfrm>
          <a:custGeom>
            <a:rect b="b" l="l" r="r" t="t"/>
            <a:pathLst>
              <a:path extrusionOk="0" fill="none" h="444500" w="762000">
                <a:moveTo>
                  <a:pt x="0" y="444500"/>
                </a:moveTo>
                <a:quadBezTo>
                  <a:pt x="381000" y="-190500"/>
                  <a:pt x="762000" y="444500"/>
                </a:quadBezTo>
              </a:path>
            </a:pathLst>
          </a:custGeom>
          <a:noFill/>
          <a:ln cap="flat" cmpd="sng" w="28575">
            <a:solidFill>
              <a:srgbClr val="B5532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4" name="Google Shape;144;p5"/>
          <p:cNvSpPr/>
          <p:nvPr/>
        </p:nvSpPr>
        <p:spPr>
          <a:xfrm>
            <a:off x="6858000" y="5092700"/>
            <a:ext cx="3556000" cy="1016000"/>
          </a:xfrm>
          <a:custGeom>
            <a:rect b="b" l="l" r="r" t="t"/>
            <a:pathLst>
              <a:path extrusionOk="0" fill="none" h="1016000" w="3556000">
                <a:moveTo>
                  <a:pt x="0" y="1016000"/>
                </a:moveTo>
                <a:quadBezTo>
                  <a:pt x="1778000" y="-254000"/>
                  <a:pt x="3556000" y="1016000"/>
                </a:quadBezTo>
              </a:path>
            </a:pathLst>
          </a:custGeom>
          <a:noFill/>
          <a:ln cap="flat" cmpd="sng" w="9525">
            <a:solidFill>
              <a:srgbClr val="8A8578"/>
            </a:solidFill>
            <a:prstDash val="dash"/>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5" name="Google Shape;145;p5"/>
          <p:cNvSpPr txBox="1"/>
          <p:nvPr/>
        </p:nvSpPr>
        <p:spPr>
          <a:xfrm>
            <a:off x="6858000" y="5321300"/>
            <a:ext cx="762000" cy="254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5532A"/>
              </a:buClr>
              <a:buSzPts val="1200"/>
              <a:buFont typeface="Arial"/>
              <a:buNone/>
            </a:pPr>
            <a:r>
              <a:rPr b="1" lang="en-US" sz="1200">
                <a:solidFill>
                  <a:srgbClr val="B5532A"/>
                </a:solidFill>
                <a:latin typeface="Arial"/>
                <a:ea typeface="Arial"/>
                <a:cs typeface="Arial"/>
                <a:sym typeface="Arial"/>
              </a:rPr>
              <a:t>high k</a:t>
            </a:r>
            <a:endParaRPr/>
          </a:p>
        </p:txBody>
      </p:sp>
      <p:sp>
        <p:nvSpPr>
          <p:cNvPr id="146" name="Google Shape;146;p5"/>
          <p:cNvSpPr txBox="1"/>
          <p:nvPr/>
        </p:nvSpPr>
        <p:spPr>
          <a:xfrm>
            <a:off x="9144000" y="4940300"/>
            <a:ext cx="762000" cy="254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8578"/>
              </a:buClr>
              <a:buSzPts val="1200"/>
              <a:buFont typeface="Arial"/>
              <a:buNone/>
            </a:pPr>
            <a:r>
              <a:rPr lang="en-US" sz="1200">
                <a:solidFill>
                  <a:srgbClr val="8A8578"/>
                </a:solidFill>
                <a:latin typeface="Arial"/>
                <a:ea typeface="Arial"/>
                <a:cs typeface="Arial"/>
                <a:sym typeface="Arial"/>
              </a:rPr>
              <a:t>low k</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1C2433"/>
              </a:buClr>
              <a:buSzPts val="4000"/>
              <a:buFont typeface="Playfair Display"/>
              <a:buNone/>
            </a:pPr>
            <a:r>
              <a:rPr b="1" lang="en-US" sz="4000">
                <a:solidFill>
                  <a:srgbClr val="1C2433"/>
                </a:solidFill>
                <a:latin typeface="Playfair Display"/>
                <a:ea typeface="Playfair Display"/>
                <a:cs typeface="Playfair Display"/>
                <a:sym typeface="Playfair Display"/>
              </a:rPr>
              <a:t>Bayesian GP Regression</a:t>
            </a:r>
            <a:endParaRPr/>
          </a:p>
        </p:txBody>
      </p:sp>
      <p:sp>
        <p:nvSpPr>
          <p:cNvPr id="153" name="Google Shape;153;p6"/>
          <p:cNvSpPr txBox="1"/>
          <p:nvPr/>
        </p:nvSpPr>
        <p:spPr>
          <a:xfrm>
            <a:off x="838200" y="1778000"/>
            <a:ext cx="3403600" cy="2159000"/>
          </a:xfrm>
          <a:prstGeom prst="rect">
            <a:avLst/>
          </a:prstGeom>
          <a:noFill/>
          <a:ln cap="flat" cmpd="sng" w="9525">
            <a:solidFill>
              <a:srgbClr val="2C4A6E"/>
            </a:solidFill>
            <a:prstDash val="solid"/>
            <a:round/>
            <a:headEnd len="sm" w="sm" type="none"/>
            <a:tailEnd len="sm" w="sm" type="none"/>
          </a:ln>
        </p:spPr>
        <p:txBody>
          <a:bodyPr anchorCtr="0" anchor="t" bIns="137150" lIns="137150" spcFirstLastPara="1" rIns="137150" wrap="square" tIns="137150">
            <a:noAutofit/>
          </a:bodyPr>
          <a:lstStyle/>
          <a:p>
            <a:pPr indent="0" lvl="0" marL="0" marR="0" rtl="0" algn="l">
              <a:spcBef>
                <a:spcPts val="0"/>
              </a:spcBef>
              <a:spcAft>
                <a:spcPts val="0"/>
              </a:spcAft>
              <a:buClr>
                <a:srgbClr val="2C4A6E"/>
              </a:buClr>
              <a:buSzPts val="1300"/>
              <a:buFont typeface="Arial"/>
              <a:buNone/>
            </a:pPr>
            <a:r>
              <a:rPr b="1" lang="en-US" sz="1300">
                <a:solidFill>
                  <a:srgbClr val="2C4A6E"/>
                </a:solidFill>
                <a:latin typeface="Arial"/>
                <a:ea typeface="Arial"/>
                <a:cs typeface="Arial"/>
                <a:sym typeface="Arial"/>
              </a:rPr>
              <a:t>PRIOR ON THE FUNCTION</a:t>
            </a:r>
            <a:endParaRPr/>
          </a:p>
          <a:p>
            <a:pPr indent="0" lvl="0" marL="0" marR="0" rtl="0" algn="ctr">
              <a:spcBef>
                <a:spcPts val="500"/>
              </a:spcBef>
              <a:spcAft>
                <a:spcPts val="0"/>
              </a:spcAft>
              <a:buClr>
                <a:srgbClr val="1C2433"/>
              </a:buClr>
              <a:buSzPts val="1600"/>
              <a:buFont typeface="Cambria Math"/>
              <a:buNone/>
            </a:pPr>
            <a:r>
              <a:rPr i="1" lang="en-US" sz="1600">
                <a:solidFill>
                  <a:srgbClr val="1C2433"/>
                </a:solidFill>
                <a:latin typeface="Cambria Math"/>
                <a:ea typeface="Cambria Math"/>
                <a:cs typeface="Cambria Math"/>
                <a:sym typeface="Cambria Math"/>
              </a:rPr>
              <a:t>f ∼ 𝒢𝒫(m, k</a:t>
            </a:r>
            <a:r>
              <a:rPr baseline="-25000" i="1" lang="en-US" sz="1600">
                <a:solidFill>
                  <a:srgbClr val="1C2433"/>
                </a:solidFill>
                <a:latin typeface="Cambria Math"/>
                <a:ea typeface="Cambria Math"/>
                <a:cs typeface="Cambria Math"/>
                <a:sym typeface="Cambria Math"/>
              </a:rPr>
              <a:t>θ</a:t>
            </a:r>
            <a:r>
              <a:rPr i="1" lang="en-US" sz="1600">
                <a:solidFill>
                  <a:srgbClr val="1C2433"/>
                </a:solidFill>
                <a:latin typeface="Cambria Math"/>
                <a:ea typeface="Cambria Math"/>
                <a:cs typeface="Cambria Math"/>
                <a:sym typeface="Cambria Math"/>
              </a:rPr>
              <a:t>)</a:t>
            </a:r>
            <a:endParaRPr/>
          </a:p>
          <a:p>
            <a:pPr indent="0" lvl="0" marL="0" marR="0" rtl="0" algn="l">
              <a:spcBef>
                <a:spcPts val="500"/>
              </a:spcBef>
              <a:spcAft>
                <a:spcPts val="0"/>
              </a:spcAft>
              <a:buClr>
                <a:srgbClr val="8A8578"/>
              </a:buClr>
              <a:buSzPts val="1200"/>
              <a:buFont typeface="Arial"/>
              <a:buNone/>
            </a:pPr>
            <a:r>
              <a:rPr lang="en-US" sz="1200">
                <a:solidFill>
                  <a:srgbClr val="8A8578"/>
                </a:solidFill>
                <a:latin typeface="Arial"/>
                <a:ea typeface="Arial"/>
                <a:cs typeface="Arial"/>
                <a:sym typeface="Arial"/>
              </a:rPr>
              <a:t>θ = (α, ℓ) are the kernel hyperparameters.</a:t>
            </a:r>
            <a:endParaRPr/>
          </a:p>
        </p:txBody>
      </p:sp>
      <p:sp>
        <p:nvSpPr>
          <p:cNvPr id="154" name="Google Shape;154;p6"/>
          <p:cNvSpPr txBox="1"/>
          <p:nvPr/>
        </p:nvSpPr>
        <p:spPr>
          <a:xfrm>
            <a:off x="4394200" y="1778000"/>
            <a:ext cx="3403600" cy="2159000"/>
          </a:xfrm>
          <a:prstGeom prst="rect">
            <a:avLst/>
          </a:prstGeom>
          <a:noFill/>
          <a:ln cap="flat" cmpd="sng" w="9525">
            <a:solidFill>
              <a:srgbClr val="8A7A5C"/>
            </a:solidFill>
            <a:prstDash val="solid"/>
            <a:round/>
            <a:headEnd len="sm" w="sm" type="none"/>
            <a:tailEnd len="sm" w="sm" type="none"/>
          </a:ln>
        </p:spPr>
        <p:txBody>
          <a:bodyPr anchorCtr="0" anchor="t" bIns="137150" lIns="137150" spcFirstLastPara="1" rIns="137150" wrap="square" tIns="137150">
            <a:noAutofit/>
          </a:bodyPr>
          <a:lstStyle/>
          <a:p>
            <a:pPr indent="0" lvl="0" marL="0" marR="0" rtl="0" algn="l">
              <a:spcBef>
                <a:spcPts val="0"/>
              </a:spcBef>
              <a:spcAft>
                <a:spcPts val="0"/>
              </a:spcAft>
              <a:buClr>
                <a:srgbClr val="8A7A5C"/>
              </a:buClr>
              <a:buSzPts val="1300"/>
              <a:buFont typeface="Arial"/>
              <a:buNone/>
            </a:pPr>
            <a:r>
              <a:rPr b="1" lang="en-US" sz="1300">
                <a:solidFill>
                  <a:srgbClr val="8A7A5C"/>
                </a:solidFill>
                <a:latin typeface="Arial"/>
                <a:ea typeface="Arial"/>
                <a:cs typeface="Arial"/>
                <a:sym typeface="Arial"/>
              </a:rPr>
              <a:t>LIKELIHOOD</a:t>
            </a:r>
            <a:endParaRPr/>
          </a:p>
          <a:p>
            <a:pPr indent="0" lvl="0" marL="0" marR="0" rtl="0" algn="ctr">
              <a:spcBef>
                <a:spcPts val="500"/>
              </a:spcBef>
              <a:spcAft>
                <a:spcPts val="0"/>
              </a:spcAft>
              <a:buClr>
                <a:srgbClr val="1C2433"/>
              </a:buClr>
              <a:buSzPts val="1500"/>
              <a:buFont typeface="Cambria Math"/>
              <a:buNone/>
            </a:pPr>
            <a:r>
              <a:rPr i="1" lang="en-US" sz="1500">
                <a:solidFill>
                  <a:srgbClr val="1C2433"/>
                </a:solidFill>
                <a:latin typeface="Cambria Math"/>
                <a:ea typeface="Cambria Math"/>
                <a:cs typeface="Cambria Math"/>
                <a:sym typeface="Cambria Math"/>
              </a:rPr>
              <a:t>yᵢ | f(xᵢ), σ² ∼ 𝒩(f(xᵢ), σ²)</a:t>
            </a:r>
            <a:endParaRPr/>
          </a:p>
          <a:p>
            <a:pPr indent="0" lvl="0" marL="0" marR="0" rtl="0" algn="l">
              <a:spcBef>
                <a:spcPts val="500"/>
              </a:spcBef>
              <a:spcAft>
                <a:spcPts val="0"/>
              </a:spcAft>
              <a:buClr>
                <a:srgbClr val="8A8578"/>
              </a:buClr>
              <a:buSzPts val="1200"/>
              <a:buFont typeface="Arial"/>
              <a:buNone/>
            </a:pPr>
            <a:r>
              <a:rPr lang="en-US" sz="1200">
                <a:solidFill>
                  <a:srgbClr val="8A8578"/>
                </a:solidFill>
                <a:latin typeface="Arial"/>
                <a:ea typeface="Arial"/>
                <a:cs typeface="Arial"/>
                <a:sym typeface="Arial"/>
              </a:rPr>
              <a:t>Gaussian noise: y = f(x) + ε, with ε ∼ 𝒩(0, σ²).</a:t>
            </a:r>
            <a:endParaRPr/>
          </a:p>
        </p:txBody>
      </p:sp>
      <p:sp>
        <p:nvSpPr>
          <p:cNvPr id="155" name="Google Shape;155;p6"/>
          <p:cNvSpPr txBox="1"/>
          <p:nvPr/>
        </p:nvSpPr>
        <p:spPr>
          <a:xfrm>
            <a:off x="7950200" y="1778000"/>
            <a:ext cx="3403600" cy="2159000"/>
          </a:xfrm>
          <a:prstGeom prst="rect">
            <a:avLst/>
          </a:prstGeom>
          <a:noFill/>
          <a:ln cap="flat" cmpd="sng" w="9525">
            <a:solidFill>
              <a:srgbClr val="B5532A"/>
            </a:solidFill>
            <a:prstDash val="solid"/>
            <a:round/>
            <a:headEnd len="sm" w="sm" type="none"/>
            <a:tailEnd len="sm" w="sm" type="none"/>
          </a:ln>
        </p:spPr>
        <p:txBody>
          <a:bodyPr anchorCtr="0" anchor="t" bIns="137150" lIns="137150" spcFirstLastPara="1" rIns="137150" wrap="square" tIns="137150">
            <a:noAutofit/>
          </a:bodyPr>
          <a:lstStyle/>
          <a:p>
            <a:pPr indent="0" lvl="0" marL="0" marR="0" rtl="0" algn="l">
              <a:spcBef>
                <a:spcPts val="0"/>
              </a:spcBef>
              <a:spcAft>
                <a:spcPts val="0"/>
              </a:spcAft>
              <a:buClr>
                <a:srgbClr val="B5532A"/>
              </a:buClr>
              <a:buSzPts val="1300"/>
              <a:buFont typeface="Arial"/>
              <a:buNone/>
            </a:pPr>
            <a:r>
              <a:rPr b="1" lang="en-US" sz="1300">
                <a:solidFill>
                  <a:srgbClr val="B5532A"/>
                </a:solidFill>
                <a:latin typeface="Arial"/>
                <a:ea typeface="Arial"/>
                <a:cs typeface="Arial"/>
                <a:sym typeface="Arial"/>
              </a:rPr>
              <a:t>HYPERPRIORS</a:t>
            </a:r>
            <a:endParaRPr/>
          </a:p>
          <a:p>
            <a:pPr indent="0" lvl="0" marL="0" marR="0" rtl="0" algn="ctr">
              <a:spcBef>
                <a:spcPts val="500"/>
              </a:spcBef>
              <a:spcAft>
                <a:spcPts val="0"/>
              </a:spcAft>
              <a:buClr>
                <a:srgbClr val="1C2433"/>
              </a:buClr>
              <a:buSzPts val="1500"/>
              <a:buFont typeface="Cambria Math"/>
              <a:buNone/>
            </a:pPr>
            <a:r>
              <a:rPr i="1" lang="en-US" sz="1500">
                <a:solidFill>
                  <a:srgbClr val="1C2433"/>
                </a:solidFill>
                <a:latin typeface="Cambria Math"/>
                <a:ea typeface="Cambria Math"/>
                <a:cs typeface="Cambria Math"/>
                <a:sym typeface="Cambria Math"/>
              </a:rPr>
              <a:t>α ∼ p(α), ℓ ∼ p(ℓ), σ² ∼ p(σ²)</a:t>
            </a:r>
            <a:endParaRPr/>
          </a:p>
          <a:p>
            <a:pPr indent="0" lvl="0" marL="0" marR="0" rtl="0" algn="l">
              <a:spcBef>
                <a:spcPts val="500"/>
              </a:spcBef>
              <a:spcAft>
                <a:spcPts val="0"/>
              </a:spcAft>
              <a:buClr>
                <a:srgbClr val="8A8578"/>
              </a:buClr>
              <a:buSzPts val="1200"/>
              <a:buFont typeface="Arial"/>
              <a:buNone/>
            </a:pPr>
            <a:r>
              <a:rPr lang="en-US" sz="1200">
                <a:solidFill>
                  <a:srgbClr val="8A8578"/>
                </a:solidFill>
                <a:latin typeface="Arial"/>
                <a:ea typeface="Arial"/>
                <a:cs typeface="Arial"/>
                <a:sym typeface="Arial"/>
              </a:rPr>
              <a:t>Fully Bayesian: priors on the kernel params and noise.</a:t>
            </a:r>
            <a:endParaRPr/>
          </a:p>
        </p:txBody>
      </p:sp>
      <p:sp>
        <p:nvSpPr>
          <p:cNvPr id="156" name="Google Shape;156;p6"/>
          <p:cNvSpPr txBox="1"/>
          <p:nvPr/>
        </p:nvSpPr>
        <p:spPr>
          <a:xfrm>
            <a:off x="838200" y="4089400"/>
            <a:ext cx="10515600" cy="381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C4A6E"/>
              </a:buClr>
              <a:buSzPts val="1500"/>
              <a:buFont typeface="Playfair Display"/>
              <a:buNone/>
            </a:pPr>
            <a:r>
              <a:rPr i="1" lang="en-US" sz="1500">
                <a:solidFill>
                  <a:srgbClr val="2C4A6E"/>
                </a:solidFill>
                <a:latin typeface="Playfair Display"/>
                <a:ea typeface="Playfair Display"/>
                <a:cs typeface="Playfair Display"/>
                <a:sym typeface="Playfair Display"/>
              </a:rPr>
              <a:t>Hierarchical:  </a:t>
            </a:r>
            <a:r>
              <a:rPr i="1" lang="en-US" sz="1600">
                <a:solidFill>
                  <a:srgbClr val="1C2433"/>
                </a:solidFill>
                <a:latin typeface="Cambria Math"/>
                <a:ea typeface="Cambria Math"/>
                <a:cs typeface="Cambria Math"/>
                <a:sym typeface="Cambria Math"/>
              </a:rPr>
              <a:t>α, ℓ, σ² → f → y</a:t>
            </a:r>
            <a:endParaRPr/>
          </a:p>
        </p:txBody>
      </p:sp>
      <p:sp>
        <p:nvSpPr>
          <p:cNvPr id="157" name="Google Shape;157;p6"/>
          <p:cNvSpPr txBox="1"/>
          <p:nvPr/>
        </p:nvSpPr>
        <p:spPr>
          <a:xfrm>
            <a:off x="838200" y="4635500"/>
            <a:ext cx="10515600" cy="571500"/>
          </a:xfrm>
          <a:prstGeom prst="rect">
            <a:avLst/>
          </a:prstGeom>
          <a:solidFill>
            <a:srgbClr val="E8E1D4"/>
          </a:solidFill>
          <a:ln>
            <a:noFill/>
          </a:ln>
        </p:spPr>
        <p:txBody>
          <a:bodyPr anchorCtr="0" anchor="ctr" bIns="45700" lIns="228600" spcFirstLastPara="1" rIns="228600" wrap="square" tIns="45700">
            <a:noAutofit/>
          </a:bodyPr>
          <a:lstStyle/>
          <a:p>
            <a:pPr indent="0" lvl="0" marL="0" marR="0" rtl="0" algn="ctr">
              <a:spcBef>
                <a:spcPts val="0"/>
              </a:spcBef>
              <a:spcAft>
                <a:spcPts val="0"/>
              </a:spcAft>
              <a:buClr>
                <a:srgbClr val="B5532A"/>
              </a:buClr>
              <a:buSzPts val="1300"/>
              <a:buFont typeface="Arial"/>
              <a:buNone/>
            </a:pPr>
            <a:r>
              <a:rPr b="1" lang="en-US" sz="1300">
                <a:solidFill>
                  <a:srgbClr val="B5532A"/>
                </a:solidFill>
                <a:latin typeface="Arial"/>
                <a:ea typeface="Arial"/>
                <a:cs typeface="Arial"/>
                <a:sym typeface="Arial"/>
              </a:rPr>
              <a:t>POSTERIOR PREDICTIVE AT A NEW INPUT  ·  </a:t>
            </a:r>
            <a:r>
              <a:rPr i="1" lang="en-US" sz="1800">
                <a:solidFill>
                  <a:srgbClr val="1C2433"/>
                </a:solidFill>
                <a:latin typeface="Cambria Math"/>
                <a:ea typeface="Cambria Math"/>
                <a:cs typeface="Cambria Math"/>
                <a:sym typeface="Cambria Math"/>
              </a:rPr>
              <a:t>f(x*) | y ∼ 𝒩(μ*, v*)</a:t>
            </a:r>
            <a:endParaRPr/>
          </a:p>
        </p:txBody>
      </p:sp>
      <p:sp>
        <p:nvSpPr>
          <p:cNvPr id="158" name="Google Shape;158;p6"/>
          <p:cNvSpPr txBox="1"/>
          <p:nvPr/>
        </p:nvSpPr>
        <p:spPr>
          <a:xfrm>
            <a:off x="838200" y="5397500"/>
            <a:ext cx="5080000" cy="1079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C4A6E"/>
              </a:buClr>
              <a:buSzPts val="1300"/>
              <a:buFont typeface="Arial"/>
              <a:buNone/>
            </a:pPr>
            <a:r>
              <a:rPr b="1" lang="en-US" sz="1300">
                <a:solidFill>
                  <a:srgbClr val="2C4A6E"/>
                </a:solidFill>
                <a:latin typeface="Arial"/>
                <a:ea typeface="Arial"/>
                <a:cs typeface="Arial"/>
                <a:sym typeface="Arial"/>
              </a:rPr>
              <a:t>POSTERIOR MEAN</a:t>
            </a:r>
            <a:endParaRPr/>
          </a:p>
          <a:p>
            <a:pPr indent="0" lvl="0" marL="0" marR="0" rtl="0" algn="ctr">
              <a:spcBef>
                <a:spcPts val="300"/>
              </a:spcBef>
              <a:spcAft>
                <a:spcPts val="0"/>
              </a:spcAft>
              <a:buClr>
                <a:srgbClr val="1C2433"/>
              </a:buClr>
              <a:buSzPts val="1500"/>
              <a:buFont typeface="Cambria Math"/>
              <a:buNone/>
            </a:pPr>
            <a:r>
              <a:rPr i="1" lang="en-US" sz="1500">
                <a:solidFill>
                  <a:srgbClr val="1C2433"/>
                </a:solidFill>
                <a:latin typeface="Cambria Math"/>
                <a:ea typeface="Cambria Math"/>
                <a:cs typeface="Cambria Math"/>
                <a:sym typeface="Cambria Math"/>
              </a:rPr>
              <a:t>μ* = m(x*) + k*ᵀ(K</a:t>
            </a:r>
            <a:r>
              <a:rPr baseline="-25000" i="1" lang="en-US" sz="1500">
                <a:solidFill>
                  <a:srgbClr val="1C2433"/>
                </a:solidFill>
                <a:latin typeface="Cambria Math"/>
                <a:ea typeface="Cambria Math"/>
                <a:cs typeface="Cambria Math"/>
                <a:sym typeface="Cambria Math"/>
              </a:rPr>
              <a:t>θ</a:t>
            </a:r>
            <a:r>
              <a:rPr i="1" lang="en-US" sz="1500">
                <a:solidFill>
                  <a:srgbClr val="1C2433"/>
                </a:solidFill>
                <a:latin typeface="Cambria Math"/>
                <a:ea typeface="Cambria Math"/>
                <a:cs typeface="Cambria Math"/>
                <a:sym typeface="Cambria Math"/>
              </a:rPr>
              <a:t> + σ²I)⁻¹(y − m)</a:t>
            </a:r>
            <a:endParaRPr/>
          </a:p>
          <a:p>
            <a:pPr indent="0" lvl="0" marL="0" marR="0" rtl="0" algn="l">
              <a:spcBef>
                <a:spcPts val="300"/>
              </a:spcBef>
              <a:spcAft>
                <a:spcPts val="0"/>
              </a:spcAft>
              <a:buClr>
                <a:srgbClr val="8A8578"/>
              </a:buClr>
              <a:buSzPts val="1200"/>
              <a:buFont typeface="Arial"/>
              <a:buNone/>
            </a:pPr>
            <a:r>
              <a:rPr i="1" lang="en-US" sz="1200">
                <a:solidFill>
                  <a:srgbClr val="8A8578"/>
                </a:solidFill>
                <a:latin typeface="Arial"/>
                <a:ea typeface="Arial"/>
                <a:cs typeface="Arial"/>
                <a:sym typeface="Arial"/>
              </a:rPr>
              <a:t>estimated function value at x*</a:t>
            </a:r>
            <a:endParaRPr/>
          </a:p>
        </p:txBody>
      </p:sp>
      <p:sp>
        <p:nvSpPr>
          <p:cNvPr id="159" name="Google Shape;159;p6"/>
          <p:cNvSpPr txBox="1"/>
          <p:nvPr/>
        </p:nvSpPr>
        <p:spPr>
          <a:xfrm>
            <a:off x="6273800" y="5397500"/>
            <a:ext cx="5080000" cy="1079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B5532A"/>
              </a:buClr>
              <a:buSzPts val="1300"/>
              <a:buFont typeface="Arial"/>
              <a:buNone/>
            </a:pPr>
            <a:r>
              <a:rPr b="1" lang="en-US" sz="1300">
                <a:solidFill>
                  <a:srgbClr val="B5532A"/>
                </a:solidFill>
                <a:latin typeface="Arial"/>
                <a:ea typeface="Arial"/>
                <a:cs typeface="Arial"/>
                <a:sym typeface="Arial"/>
              </a:rPr>
              <a:t>POSTERIOR VARIANCE</a:t>
            </a:r>
            <a:endParaRPr/>
          </a:p>
          <a:p>
            <a:pPr indent="0" lvl="0" marL="0" marR="0" rtl="0" algn="ctr">
              <a:spcBef>
                <a:spcPts val="300"/>
              </a:spcBef>
              <a:spcAft>
                <a:spcPts val="0"/>
              </a:spcAft>
              <a:buClr>
                <a:srgbClr val="1C2433"/>
              </a:buClr>
              <a:buSzPts val="1500"/>
              <a:buFont typeface="Cambria Math"/>
              <a:buNone/>
            </a:pPr>
            <a:r>
              <a:rPr i="1" lang="en-US" sz="1500">
                <a:solidFill>
                  <a:srgbClr val="1C2433"/>
                </a:solidFill>
                <a:latin typeface="Cambria Math"/>
                <a:ea typeface="Cambria Math"/>
                <a:cs typeface="Cambria Math"/>
                <a:sym typeface="Cambria Math"/>
              </a:rPr>
              <a:t>v* = k(x*, x*) − k*ᵀ(K</a:t>
            </a:r>
            <a:r>
              <a:rPr baseline="-25000" i="1" lang="en-US" sz="1500">
                <a:solidFill>
                  <a:srgbClr val="1C2433"/>
                </a:solidFill>
                <a:latin typeface="Cambria Math"/>
                <a:ea typeface="Cambria Math"/>
                <a:cs typeface="Cambria Math"/>
                <a:sym typeface="Cambria Math"/>
              </a:rPr>
              <a:t>θ</a:t>
            </a:r>
            <a:r>
              <a:rPr i="1" lang="en-US" sz="1500">
                <a:solidFill>
                  <a:srgbClr val="1C2433"/>
                </a:solidFill>
                <a:latin typeface="Cambria Math"/>
                <a:ea typeface="Cambria Math"/>
                <a:cs typeface="Cambria Math"/>
                <a:sym typeface="Cambria Math"/>
              </a:rPr>
              <a:t> + σ²I)⁻¹k*</a:t>
            </a:r>
            <a:endParaRPr/>
          </a:p>
          <a:p>
            <a:pPr indent="0" lvl="0" marL="0" marR="0" rtl="0" algn="l">
              <a:spcBef>
                <a:spcPts val="300"/>
              </a:spcBef>
              <a:spcAft>
                <a:spcPts val="0"/>
              </a:spcAft>
              <a:buClr>
                <a:srgbClr val="8A8578"/>
              </a:buClr>
              <a:buSzPts val="1200"/>
              <a:buFont typeface="Arial"/>
              <a:buNone/>
            </a:pPr>
            <a:r>
              <a:rPr i="1" lang="en-US" sz="1200">
                <a:solidFill>
                  <a:srgbClr val="8A8578"/>
                </a:solidFill>
                <a:latin typeface="Arial"/>
                <a:ea typeface="Arial"/>
                <a:cs typeface="Arial"/>
                <a:sym typeface="Arial"/>
              </a:rPr>
              <a:t>principled uncertainty — shrinks near data</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7"/>
          <p:cNvSpPr txBox="1"/>
          <p:nvPr>
            <p:ph type="title"/>
          </p:nvPr>
        </p:nvSpPr>
        <p:spPr>
          <a:xfrm>
            <a:off x="838200" y="45861"/>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1C2433"/>
              </a:buClr>
              <a:buSzPts val="3600"/>
              <a:buFont typeface="Playfair Display"/>
              <a:buNone/>
            </a:pPr>
            <a:r>
              <a:rPr b="1" lang="en-US" sz="3600">
                <a:solidFill>
                  <a:srgbClr val="1C2433"/>
                </a:solidFill>
                <a:latin typeface="Playfair Display"/>
                <a:ea typeface="Playfair Display"/>
                <a:cs typeface="Playfair Display"/>
                <a:sym typeface="Playfair Display"/>
              </a:rPr>
              <a:t>Toy Example: Recovering a Hidden Drift Field</a:t>
            </a:r>
            <a:endParaRPr/>
          </a:p>
        </p:txBody>
      </p:sp>
      <p:sp>
        <p:nvSpPr>
          <p:cNvPr id="165" name="Google Shape;165;p7"/>
          <p:cNvSpPr txBox="1"/>
          <p:nvPr/>
        </p:nvSpPr>
        <p:spPr>
          <a:xfrm>
            <a:off x="838200" y="1083733"/>
            <a:ext cx="10515600" cy="92445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1700">
                <a:solidFill>
                  <a:srgbClr val="2A2F3A"/>
                </a:solidFill>
                <a:latin typeface="Arial"/>
                <a:ea typeface="Arial"/>
                <a:cs typeface="Arial"/>
                <a:sym typeface="Arial"/>
              </a:rPr>
              <a:t>Particles in ℝ² do a random walk (Gaussian noise) and are driven by unknown vector field </a:t>
            </a:r>
            <a:r>
              <a:rPr i="1" lang="en-US" sz="1700">
                <a:solidFill>
                  <a:srgbClr val="1C2433"/>
                </a:solidFill>
                <a:latin typeface="Cambria Math"/>
                <a:ea typeface="Cambria Math"/>
                <a:cs typeface="Cambria Math"/>
                <a:sym typeface="Cambria Math"/>
              </a:rPr>
              <a:t>F</a:t>
            </a:r>
            <a:r>
              <a:rPr lang="en-US" sz="1700">
                <a:solidFill>
                  <a:srgbClr val="2A2F3A"/>
                </a:solidFill>
                <a:latin typeface="Arial"/>
                <a:ea typeface="Arial"/>
                <a:cs typeface="Arial"/>
                <a:sym typeface="Arial"/>
              </a:rPr>
              <a:t>.  We only observe the particle trajectories;  we want to recover </a:t>
            </a:r>
            <a:r>
              <a:rPr i="1" lang="en-US" sz="1700">
                <a:solidFill>
                  <a:srgbClr val="1C2433"/>
                </a:solidFill>
                <a:latin typeface="Cambria Math"/>
                <a:ea typeface="Cambria Math"/>
                <a:cs typeface="Cambria Math"/>
                <a:sym typeface="Cambria Math"/>
              </a:rPr>
              <a:t>F</a:t>
            </a:r>
            <a:r>
              <a:rPr lang="en-US" sz="1700">
                <a:solidFill>
                  <a:srgbClr val="2A2F3A"/>
                </a:solidFill>
                <a:latin typeface="Arial"/>
                <a:ea typeface="Arial"/>
                <a:cs typeface="Arial"/>
                <a:sym typeface="Arial"/>
              </a:rPr>
              <a:t>.</a:t>
            </a:r>
            <a:endParaRPr/>
          </a:p>
        </p:txBody>
      </p:sp>
      <p:pic>
        <p:nvPicPr>
          <p:cNvPr id="166" name="Google Shape;166;p7"/>
          <p:cNvPicPr preferRelativeResize="0"/>
          <p:nvPr/>
        </p:nvPicPr>
        <p:blipFill rotWithShape="1">
          <a:blip r:embed="rId3">
            <a:alphaModFix/>
          </a:blip>
          <a:srcRect b="0" l="0" r="0" t="0"/>
          <a:stretch/>
        </p:blipFill>
        <p:spPr>
          <a:xfrm>
            <a:off x="1052513" y="2008188"/>
            <a:ext cx="4355227" cy="4432653"/>
          </a:xfrm>
          <a:prstGeom prst="rect">
            <a:avLst/>
          </a:prstGeom>
          <a:noFill/>
          <a:ln>
            <a:noFill/>
          </a:ln>
        </p:spPr>
      </p:pic>
      <p:pic>
        <p:nvPicPr>
          <p:cNvPr id="167" name="Google Shape;167;p7"/>
          <p:cNvPicPr preferRelativeResize="0"/>
          <p:nvPr/>
        </p:nvPicPr>
        <p:blipFill rotWithShape="1">
          <a:blip r:embed="rId4">
            <a:alphaModFix/>
          </a:blip>
          <a:srcRect b="0" l="0" r="0" t="0"/>
          <a:stretch/>
        </p:blipFill>
        <p:spPr>
          <a:xfrm>
            <a:off x="6509416" y="2008187"/>
            <a:ext cx="4355227" cy="4432653"/>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8"/>
          <p:cNvSpPr txBox="1"/>
          <p:nvPr>
            <p:ph type="title"/>
          </p:nvPr>
        </p:nvSpPr>
        <p:spPr>
          <a:xfrm>
            <a:off x="838200" y="0"/>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1C2433"/>
              </a:buClr>
              <a:buSzPts val="3600"/>
              <a:buFont typeface="Playfair Display"/>
              <a:buNone/>
            </a:pPr>
            <a:r>
              <a:rPr b="1" lang="en-US" sz="3600">
                <a:solidFill>
                  <a:srgbClr val="1C2433"/>
                </a:solidFill>
                <a:latin typeface="Playfair Display"/>
                <a:ea typeface="Playfair Display"/>
                <a:cs typeface="Playfair Display"/>
                <a:sym typeface="Playfair Display"/>
              </a:rPr>
              <a:t>Toy Example: Recovering a Hidden Drift Field</a:t>
            </a:r>
            <a:endParaRPr/>
          </a:p>
        </p:txBody>
      </p:sp>
      <p:sp>
        <p:nvSpPr>
          <p:cNvPr id="173" name="Google Shape;173;p8"/>
          <p:cNvSpPr txBox="1"/>
          <p:nvPr/>
        </p:nvSpPr>
        <p:spPr>
          <a:xfrm>
            <a:off x="838200" y="1460500"/>
            <a:ext cx="10515600" cy="635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2F3A"/>
              </a:buClr>
              <a:buSzPts val="1700"/>
              <a:buFont typeface="Arial"/>
              <a:buNone/>
            </a:pPr>
            <a:r>
              <a:rPr lang="en-US" sz="1700">
                <a:solidFill>
                  <a:srgbClr val="2A2F3A"/>
                </a:solidFill>
                <a:latin typeface="Arial"/>
                <a:ea typeface="Arial"/>
                <a:cs typeface="Arial"/>
                <a:sym typeface="Arial"/>
              </a:rPr>
              <a:t>Particles in ℝ² do a random walk (Gaussian noise) and are driven by unknown vector field </a:t>
            </a:r>
            <a:r>
              <a:rPr i="1" lang="en-US" sz="1700">
                <a:solidFill>
                  <a:srgbClr val="1C2433"/>
                </a:solidFill>
                <a:latin typeface="Cambria Math"/>
                <a:ea typeface="Cambria Math"/>
                <a:cs typeface="Cambria Math"/>
                <a:sym typeface="Cambria Math"/>
              </a:rPr>
              <a:t>F</a:t>
            </a:r>
            <a:r>
              <a:rPr lang="en-US" sz="1700">
                <a:solidFill>
                  <a:srgbClr val="2A2F3A"/>
                </a:solidFill>
                <a:latin typeface="Arial"/>
                <a:ea typeface="Arial"/>
                <a:cs typeface="Arial"/>
                <a:sym typeface="Arial"/>
              </a:rPr>
              <a:t>.  We only observe the particle trajectories; we want to recover </a:t>
            </a:r>
            <a:r>
              <a:rPr i="1" lang="en-US" sz="1700">
                <a:solidFill>
                  <a:srgbClr val="1C2433"/>
                </a:solidFill>
                <a:latin typeface="Cambria Math"/>
                <a:ea typeface="Cambria Math"/>
                <a:cs typeface="Cambria Math"/>
                <a:sym typeface="Cambria Math"/>
              </a:rPr>
              <a:t>F</a:t>
            </a:r>
            <a:r>
              <a:rPr lang="en-US" sz="1700">
                <a:solidFill>
                  <a:srgbClr val="2A2F3A"/>
                </a:solidFill>
                <a:latin typeface="Arial"/>
                <a:ea typeface="Arial"/>
                <a:cs typeface="Arial"/>
                <a:sym typeface="Arial"/>
              </a:rPr>
              <a:t>.</a:t>
            </a:r>
            <a:endParaRPr/>
          </a:p>
        </p:txBody>
      </p:sp>
      <p:sp>
        <p:nvSpPr>
          <p:cNvPr id="174" name="Google Shape;174;p8"/>
          <p:cNvSpPr txBox="1"/>
          <p:nvPr/>
        </p:nvSpPr>
        <p:spPr>
          <a:xfrm>
            <a:off x="838200" y="2291642"/>
            <a:ext cx="10515600" cy="1397000"/>
          </a:xfrm>
          <a:prstGeom prst="rect">
            <a:avLst/>
          </a:prstGeom>
          <a:solidFill>
            <a:srgbClr val="E8E1D4"/>
          </a:solidFill>
          <a:ln>
            <a:noFill/>
          </a:ln>
        </p:spPr>
        <p:txBody>
          <a:bodyPr anchorCtr="0" anchor="ctr" bIns="182875" lIns="228600" spcFirstLastPara="1" rIns="228600" wrap="square" tIns="182875">
            <a:noAutofit/>
          </a:bodyPr>
          <a:lstStyle/>
          <a:p>
            <a:pPr indent="0" lvl="0" marL="0" marR="0" rtl="0" algn="ctr">
              <a:spcBef>
                <a:spcPts val="0"/>
              </a:spcBef>
              <a:spcAft>
                <a:spcPts val="0"/>
              </a:spcAft>
              <a:buClr>
                <a:srgbClr val="1C2433"/>
              </a:buClr>
              <a:buSzPts val="2200"/>
              <a:buFont typeface="Cambria Math"/>
              <a:buNone/>
            </a:pPr>
            <a:r>
              <a:rPr i="1" lang="en-US" sz="2200">
                <a:solidFill>
                  <a:srgbClr val="1C2433"/>
                </a:solidFill>
                <a:latin typeface="Cambria Math"/>
                <a:ea typeface="Cambria Math"/>
                <a:cs typeface="Cambria Math"/>
                <a:sym typeface="Cambria Math"/>
              </a:rPr>
              <a:t>Xₜ₊₁  =  Xₜ  +  F(Xₜ) Δt  +  σ√Δt εₜ  	εₜ ∼ 𝑵(0, I₂)</a:t>
            </a:r>
            <a:endParaRPr/>
          </a:p>
        </p:txBody>
      </p:sp>
      <p:sp>
        <p:nvSpPr>
          <p:cNvPr id="175" name="Google Shape;175;p8"/>
          <p:cNvSpPr txBox="1"/>
          <p:nvPr/>
        </p:nvSpPr>
        <p:spPr>
          <a:xfrm>
            <a:off x="838200" y="5016500"/>
            <a:ext cx="5080000" cy="1397000"/>
          </a:xfrm>
          <a:prstGeom prst="rect">
            <a:avLst/>
          </a:prstGeom>
          <a:noFill/>
          <a:ln cap="flat" cmpd="sng" w="9525">
            <a:solidFill>
              <a:srgbClr val="2C4A6E"/>
            </a:solidFill>
            <a:prstDash val="solid"/>
            <a:round/>
            <a:headEnd len="sm" w="sm" type="none"/>
            <a:tailEnd len="sm" w="sm" type="none"/>
          </a:ln>
        </p:spPr>
        <p:txBody>
          <a:bodyPr anchorCtr="0" anchor="t" bIns="137150" lIns="182875" spcFirstLastPara="1" rIns="182875" wrap="square" tIns="137150">
            <a:noAutofit/>
          </a:bodyPr>
          <a:lstStyle/>
          <a:p>
            <a:pPr indent="0" lvl="0" marL="0" marR="0" rtl="0" algn="l">
              <a:spcBef>
                <a:spcPts val="0"/>
              </a:spcBef>
              <a:spcAft>
                <a:spcPts val="0"/>
              </a:spcAft>
              <a:buClr>
                <a:srgbClr val="2C4A6E"/>
              </a:buClr>
              <a:buSzPts val="1500"/>
              <a:buFont typeface="Arial"/>
              <a:buNone/>
            </a:pPr>
            <a:r>
              <a:rPr b="1" lang="en-US" sz="1500">
                <a:solidFill>
                  <a:srgbClr val="2C4A6E"/>
                </a:solidFill>
                <a:latin typeface="Arial"/>
                <a:ea typeface="Arial"/>
                <a:cs typeface="Arial"/>
                <a:sym typeface="Arial"/>
              </a:rPr>
              <a:t>STEP 1 — Finite-difference velocity</a:t>
            </a:r>
            <a:endParaRPr/>
          </a:p>
          <a:p>
            <a:pPr indent="0" lvl="0" marL="0" marR="0" rtl="0" algn="ctr">
              <a:spcBef>
                <a:spcPts val="700"/>
              </a:spcBef>
              <a:spcAft>
                <a:spcPts val="0"/>
              </a:spcAft>
              <a:buClr>
                <a:srgbClr val="1C2433"/>
              </a:buClr>
              <a:buSzPts val="1800"/>
              <a:buFont typeface="Cambria Math"/>
              <a:buNone/>
            </a:pPr>
            <a:r>
              <a:rPr i="1" lang="en-US" sz="1800">
                <a:solidFill>
                  <a:srgbClr val="1C2433"/>
                </a:solidFill>
                <a:latin typeface="Cambria Math"/>
                <a:ea typeface="Cambria Math"/>
                <a:cs typeface="Cambria Math"/>
                <a:sym typeface="Cambria Math"/>
              </a:rPr>
              <a:t>Yₜ := (Xₜ₊₁ − Xₜ) / Δt</a:t>
            </a:r>
            <a:endParaRPr/>
          </a:p>
          <a:p>
            <a:pPr indent="0" lvl="0" marL="0" marR="0" rtl="0" algn="l">
              <a:spcBef>
                <a:spcPts val="700"/>
              </a:spcBef>
              <a:spcAft>
                <a:spcPts val="0"/>
              </a:spcAft>
              <a:buClr>
                <a:srgbClr val="2A2F3A"/>
              </a:buClr>
              <a:buSzPts val="1400"/>
              <a:buFont typeface="Arial"/>
              <a:buNone/>
            </a:pPr>
            <a:r>
              <a:rPr lang="en-US" sz="1400">
                <a:solidFill>
                  <a:srgbClr val="2A2F3A"/>
                </a:solidFill>
                <a:latin typeface="Arial"/>
                <a:ea typeface="Arial"/>
                <a:cs typeface="Arial"/>
                <a:sym typeface="Arial"/>
              </a:rPr>
              <a:t>Rearranging the update yields </a:t>
            </a:r>
            <a:r>
              <a:rPr i="1" lang="en-US" sz="1400">
                <a:solidFill>
                  <a:srgbClr val="1C2433"/>
                </a:solidFill>
                <a:latin typeface="Cambria Math"/>
                <a:ea typeface="Cambria Math"/>
                <a:cs typeface="Cambria Math"/>
                <a:sym typeface="Cambria Math"/>
              </a:rPr>
              <a:t>Yₜ = F(Xₜ) + (σ/√Δt) εₜ</a:t>
            </a:r>
            <a:r>
              <a:rPr lang="en-US" sz="1400">
                <a:solidFill>
                  <a:srgbClr val="2A2F3A"/>
                </a:solidFill>
                <a:latin typeface="Arial"/>
                <a:ea typeface="Arial"/>
                <a:cs typeface="Arial"/>
                <a:sym typeface="Arial"/>
              </a:rPr>
              <a:t>.</a:t>
            </a:r>
            <a:endParaRPr/>
          </a:p>
        </p:txBody>
      </p:sp>
      <p:sp>
        <p:nvSpPr>
          <p:cNvPr id="176" name="Google Shape;176;p8"/>
          <p:cNvSpPr txBox="1"/>
          <p:nvPr/>
        </p:nvSpPr>
        <p:spPr>
          <a:xfrm>
            <a:off x="6273800" y="5016500"/>
            <a:ext cx="5080000" cy="1397000"/>
          </a:xfrm>
          <a:prstGeom prst="rect">
            <a:avLst/>
          </a:prstGeom>
          <a:noFill/>
          <a:ln cap="flat" cmpd="sng" w="9525">
            <a:solidFill>
              <a:srgbClr val="B5532A"/>
            </a:solidFill>
            <a:prstDash val="solid"/>
            <a:round/>
            <a:headEnd len="sm" w="sm" type="none"/>
            <a:tailEnd len="sm" w="sm" type="none"/>
          </a:ln>
        </p:spPr>
        <p:txBody>
          <a:bodyPr anchorCtr="0" anchor="t" bIns="137150" lIns="182875" spcFirstLastPara="1" rIns="182875" wrap="square" tIns="137150">
            <a:noAutofit/>
          </a:bodyPr>
          <a:lstStyle/>
          <a:p>
            <a:pPr indent="0" lvl="0" marL="0" marR="0" rtl="0" algn="l">
              <a:spcBef>
                <a:spcPts val="0"/>
              </a:spcBef>
              <a:spcAft>
                <a:spcPts val="0"/>
              </a:spcAft>
              <a:buClr>
                <a:srgbClr val="B5532A"/>
              </a:buClr>
              <a:buSzPts val="1500"/>
              <a:buFont typeface="Arial"/>
              <a:buNone/>
            </a:pPr>
            <a:r>
              <a:rPr b="1" lang="en-US" sz="1500">
                <a:solidFill>
                  <a:srgbClr val="B5532A"/>
                </a:solidFill>
                <a:latin typeface="Arial"/>
                <a:ea typeface="Arial"/>
                <a:cs typeface="Arial"/>
                <a:sym typeface="Arial"/>
              </a:rPr>
              <a:t>STEP 2 — A regression problem emerges</a:t>
            </a:r>
            <a:endParaRPr/>
          </a:p>
          <a:p>
            <a:pPr indent="0" lvl="0" marL="0" marR="0" rtl="0" algn="ctr">
              <a:spcBef>
                <a:spcPts val="700"/>
              </a:spcBef>
              <a:spcAft>
                <a:spcPts val="0"/>
              </a:spcAft>
              <a:buClr>
                <a:srgbClr val="1C2433"/>
              </a:buClr>
              <a:buSzPts val="1800"/>
              <a:buFont typeface="Cambria Math"/>
              <a:buNone/>
            </a:pPr>
            <a:r>
              <a:rPr i="1" lang="en-US" sz="1800">
                <a:solidFill>
                  <a:srgbClr val="1C2433"/>
                </a:solidFill>
                <a:latin typeface="Cambria Math"/>
                <a:ea typeface="Cambria Math"/>
                <a:cs typeface="Cambria Math"/>
                <a:sym typeface="Cambria Math"/>
              </a:rPr>
              <a:t>Yᵢ = F(xᵢ) + ηᵢ</a:t>
            </a:r>
            <a:endParaRPr/>
          </a:p>
          <a:p>
            <a:pPr indent="0" lvl="0" marL="0" marR="0" rtl="0" algn="l">
              <a:spcBef>
                <a:spcPts val="700"/>
              </a:spcBef>
              <a:spcAft>
                <a:spcPts val="0"/>
              </a:spcAft>
              <a:buClr>
                <a:srgbClr val="2A2F3A"/>
              </a:buClr>
              <a:buSzPts val="1400"/>
              <a:buFont typeface="Arial"/>
              <a:buNone/>
            </a:pPr>
            <a:r>
              <a:rPr lang="en-US" sz="1400">
                <a:solidFill>
                  <a:srgbClr val="2A2F3A"/>
                </a:solidFill>
                <a:latin typeface="Arial"/>
                <a:ea typeface="Arial"/>
                <a:cs typeface="Arial"/>
                <a:sym typeface="Arial"/>
              </a:rPr>
              <a:t>Each displacement is a </a:t>
            </a:r>
            <a:r>
              <a:rPr b="1" lang="en-US" sz="1400">
                <a:solidFill>
                  <a:srgbClr val="B5532A"/>
                </a:solidFill>
                <a:latin typeface="Arial"/>
                <a:ea typeface="Arial"/>
                <a:cs typeface="Arial"/>
                <a:sym typeface="Arial"/>
              </a:rPr>
              <a:t>noisy local clue</a:t>
            </a:r>
            <a:r>
              <a:rPr lang="en-US" sz="1400">
                <a:solidFill>
                  <a:srgbClr val="2A2F3A"/>
                </a:solidFill>
                <a:latin typeface="Arial"/>
                <a:ea typeface="Arial"/>
                <a:cs typeface="Arial"/>
                <a:sym typeface="Arial"/>
              </a:rPr>
              <a:t> about </a:t>
            </a:r>
            <a:r>
              <a:rPr i="1" lang="en-US" sz="1400">
                <a:solidFill>
                  <a:srgbClr val="1C2433"/>
                </a:solidFill>
                <a:latin typeface="Cambria Math"/>
                <a:ea typeface="Cambria Math"/>
                <a:cs typeface="Cambria Math"/>
                <a:sym typeface="Cambria Math"/>
              </a:rPr>
              <a:t>F</a:t>
            </a:r>
            <a:r>
              <a:rPr lang="en-US" sz="1400">
                <a:solidFill>
                  <a:srgbClr val="2A2F3A"/>
                </a:solidFill>
                <a:latin typeface="Arial"/>
                <a:ea typeface="Arial"/>
                <a:cs typeface="Arial"/>
                <a:sym typeface="Arial"/>
              </a:rPr>
              <a:t>. A GP prior on </a:t>
            </a:r>
            <a:r>
              <a:rPr i="1" lang="en-US" sz="1400">
                <a:solidFill>
                  <a:srgbClr val="1C2433"/>
                </a:solidFill>
                <a:latin typeface="Cambria Math"/>
                <a:ea typeface="Cambria Math"/>
                <a:cs typeface="Cambria Math"/>
                <a:sym typeface="Cambria Math"/>
              </a:rPr>
              <a:t>F</a:t>
            </a:r>
            <a:r>
              <a:rPr lang="en-US" sz="1400">
                <a:solidFill>
                  <a:srgbClr val="2A2F3A"/>
                </a:solidFill>
                <a:latin typeface="Arial"/>
                <a:ea typeface="Arial"/>
                <a:cs typeface="Arial"/>
                <a:sym typeface="Arial"/>
              </a:rPr>
              <a:t> stitches them together.</a:t>
            </a:r>
            <a:endParaRPr/>
          </a:p>
        </p:txBody>
      </p:sp>
      <p:sp>
        <p:nvSpPr>
          <p:cNvPr id="177" name="Google Shape;177;p8"/>
          <p:cNvSpPr txBox="1"/>
          <p:nvPr/>
        </p:nvSpPr>
        <p:spPr>
          <a:xfrm>
            <a:off x="838200" y="3746500"/>
            <a:ext cx="10515600" cy="1168400"/>
          </a:xfrm>
          <a:prstGeom prst="rect">
            <a:avLst/>
          </a:prstGeom>
          <a:noFill/>
          <a:ln>
            <a:noFill/>
          </a:ln>
        </p:spPr>
        <p:txBody>
          <a:bodyPr anchorCtr="0" anchor="t" bIns="0" lIns="0" spcFirstLastPara="1" rIns="0" wrap="square" tIns="0">
            <a:noAutofit/>
          </a:bodyPr>
          <a:lstStyle/>
          <a:p>
            <a:pPr indent="-182880" lvl="0" marL="182880" marR="0" rtl="0" algn="l">
              <a:spcBef>
                <a:spcPts val="0"/>
              </a:spcBef>
              <a:spcAft>
                <a:spcPts val="0"/>
              </a:spcAft>
              <a:buClr>
                <a:srgbClr val="1C2433"/>
              </a:buClr>
              <a:buSzPts val="1300"/>
              <a:buFont typeface="Arial"/>
              <a:buChar char="•"/>
            </a:pPr>
            <a:r>
              <a:rPr i="1" lang="en-US" sz="1300">
                <a:solidFill>
                  <a:srgbClr val="1C2433"/>
                </a:solidFill>
                <a:latin typeface="Cambria Math"/>
                <a:ea typeface="Cambria Math"/>
                <a:cs typeface="Cambria Math"/>
                <a:sym typeface="Cambria Math"/>
              </a:rPr>
              <a:t>Xₜ </a:t>
            </a:r>
            <a:r>
              <a:rPr lang="en-US" sz="1300">
                <a:solidFill>
                  <a:srgbClr val="2A2F3A"/>
                </a:solidFill>
                <a:latin typeface="Arial"/>
                <a:ea typeface="Arial"/>
                <a:cs typeface="Arial"/>
                <a:sym typeface="Arial"/>
              </a:rPr>
              <a:t>: current particle position                                              •   </a:t>
            </a:r>
            <a:r>
              <a:rPr i="1" lang="en-US" sz="1300">
                <a:solidFill>
                  <a:srgbClr val="1C2433"/>
                </a:solidFill>
                <a:latin typeface="Cambria Math"/>
                <a:ea typeface="Cambria Math"/>
                <a:cs typeface="Cambria Math"/>
                <a:sym typeface="Cambria Math"/>
              </a:rPr>
              <a:t>F(Xₜ)Δt </a:t>
            </a:r>
            <a:r>
              <a:rPr lang="en-US" sz="1300">
                <a:solidFill>
                  <a:srgbClr val="2A2F3A"/>
                </a:solidFill>
                <a:latin typeface="Arial"/>
                <a:ea typeface="Arial"/>
                <a:cs typeface="Arial"/>
                <a:sym typeface="Arial"/>
              </a:rPr>
              <a:t>: deterministic drift from the hidden field over time </a:t>
            </a:r>
            <a:r>
              <a:rPr i="1" lang="en-US" sz="1300">
                <a:solidFill>
                  <a:srgbClr val="1C2433"/>
                </a:solidFill>
                <a:latin typeface="Cambria Math"/>
                <a:ea typeface="Cambria Math"/>
                <a:cs typeface="Cambria Math"/>
                <a:sym typeface="Cambria Math"/>
              </a:rPr>
              <a:t>Δt</a:t>
            </a:r>
            <a:endParaRPr sz="1300">
              <a:solidFill>
                <a:srgbClr val="2A2F3A"/>
              </a:solidFill>
              <a:latin typeface="Arial"/>
              <a:ea typeface="Arial"/>
              <a:cs typeface="Arial"/>
              <a:sym typeface="Arial"/>
            </a:endParaRPr>
          </a:p>
          <a:p>
            <a:pPr indent="-182880" lvl="0" marL="182880" marR="0" rtl="0" algn="l">
              <a:spcBef>
                <a:spcPts val="250"/>
              </a:spcBef>
              <a:spcAft>
                <a:spcPts val="0"/>
              </a:spcAft>
              <a:buClr>
                <a:srgbClr val="1C2433"/>
              </a:buClr>
              <a:buSzPts val="1300"/>
              <a:buFont typeface="Arial"/>
              <a:buChar char="•"/>
            </a:pPr>
            <a:r>
              <a:rPr i="1" lang="en-US" sz="1300">
                <a:solidFill>
                  <a:srgbClr val="1C2433"/>
                </a:solidFill>
                <a:latin typeface="Cambria Math"/>
                <a:ea typeface="Cambria Math"/>
                <a:cs typeface="Cambria Math"/>
                <a:sym typeface="Cambria Math"/>
              </a:rPr>
              <a:t>σ√Δt εₜ </a:t>
            </a:r>
            <a:r>
              <a:rPr lang="en-US" sz="1300">
                <a:solidFill>
                  <a:srgbClr val="2A2F3A"/>
                </a:solidFill>
                <a:latin typeface="Arial"/>
                <a:ea typeface="Arial"/>
                <a:cs typeface="Arial"/>
                <a:sym typeface="Arial"/>
              </a:rPr>
              <a:t>: random perturbation over time </a:t>
            </a:r>
            <a:r>
              <a:rPr i="1" lang="en-US" sz="1300">
                <a:solidFill>
                  <a:srgbClr val="1C2433"/>
                </a:solidFill>
                <a:latin typeface="Cambria Math"/>
                <a:ea typeface="Cambria Math"/>
                <a:cs typeface="Cambria Math"/>
                <a:sym typeface="Cambria Math"/>
              </a:rPr>
              <a:t>Δt              </a:t>
            </a:r>
            <a:r>
              <a:rPr lang="en-US" sz="1300">
                <a:solidFill>
                  <a:srgbClr val="2A2F3A"/>
                </a:solidFill>
                <a:latin typeface="Arial"/>
                <a:ea typeface="Arial"/>
                <a:cs typeface="Arial"/>
                <a:sym typeface="Arial"/>
              </a:rPr>
              <a:t>•   </a:t>
            </a:r>
            <a:r>
              <a:rPr i="1" lang="en-US" sz="1300">
                <a:solidFill>
                  <a:srgbClr val="1C2433"/>
                </a:solidFill>
                <a:latin typeface="Cambria Math"/>
                <a:ea typeface="Cambria Math"/>
                <a:cs typeface="Cambria Math"/>
                <a:sym typeface="Cambria Math"/>
              </a:rPr>
              <a:t>σ &gt; 0 </a:t>
            </a:r>
            <a:r>
              <a:rPr lang="en-US" sz="1300">
                <a:solidFill>
                  <a:srgbClr val="2A2F3A"/>
                </a:solidFill>
                <a:latin typeface="Arial"/>
                <a:ea typeface="Arial"/>
                <a:cs typeface="Arial"/>
                <a:sym typeface="Arial"/>
              </a:rPr>
              <a:t>: sets the noise magnitude</a:t>
            </a:r>
            <a:endParaRPr/>
          </a:p>
          <a:p>
            <a:pPr indent="-100330" lvl="0" marL="182880" marR="0" rtl="0" algn="l">
              <a:spcBef>
                <a:spcPts val="250"/>
              </a:spcBef>
              <a:spcAft>
                <a:spcPts val="0"/>
              </a:spcAft>
              <a:buClr>
                <a:schemeClr val="dk1"/>
              </a:buClr>
              <a:buSzPts val="1300"/>
              <a:buFont typeface="Arial"/>
              <a:buNone/>
            </a:pPr>
            <a:r>
              <a:t/>
            </a:r>
            <a:endParaRPr i="1" sz="1300">
              <a:solidFill>
                <a:srgbClr val="2A2F3A"/>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1C2433"/>
              </a:buClr>
              <a:buSzPts val="4000"/>
              <a:buFont typeface="Playfair Display"/>
              <a:buNone/>
            </a:pPr>
            <a:r>
              <a:rPr b="1" lang="en-US" sz="4000">
                <a:solidFill>
                  <a:srgbClr val="1C2433"/>
                </a:solidFill>
                <a:latin typeface="Playfair Display"/>
                <a:ea typeface="Playfair Display"/>
                <a:cs typeface="Playfair Display"/>
                <a:sym typeface="Playfair Display"/>
              </a:rPr>
              <a:t>Fitting the GP to the Toy Example</a:t>
            </a:r>
            <a:endParaRPr/>
          </a:p>
        </p:txBody>
      </p:sp>
      <p:sp>
        <p:nvSpPr>
          <p:cNvPr id="183" name="Google Shape;183;p9"/>
          <p:cNvSpPr txBox="1"/>
          <p:nvPr/>
        </p:nvSpPr>
        <p:spPr>
          <a:xfrm>
            <a:off x="838200" y="1739900"/>
            <a:ext cx="10515600" cy="279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A2F3A"/>
              </a:buClr>
              <a:buSzPts val="1500"/>
              <a:buFont typeface="Arial"/>
              <a:buNone/>
            </a:pPr>
            <a:r>
              <a:rPr lang="en-US" sz="1500">
                <a:solidFill>
                  <a:srgbClr val="2A2F3A"/>
                </a:solidFill>
                <a:latin typeface="Arial"/>
                <a:ea typeface="Arial"/>
                <a:cs typeface="Arial"/>
                <a:sym typeface="Arial"/>
              </a:rPr>
              <a:t>The unknown object is the hidden vector field </a:t>
            </a:r>
            <a:r>
              <a:rPr lang="en-US" sz="1500">
                <a:solidFill>
                  <a:srgbClr val="1C2433"/>
                </a:solidFill>
                <a:latin typeface="Arial"/>
                <a:ea typeface="Arial"/>
                <a:cs typeface="Arial"/>
                <a:sym typeface="Arial"/>
              </a:rPr>
              <a:t>F</a:t>
            </a:r>
            <a:r>
              <a:rPr lang="en-US" sz="1500">
                <a:solidFill>
                  <a:srgbClr val="2A2F3A"/>
                </a:solidFill>
                <a:latin typeface="Arial"/>
                <a:ea typeface="Arial"/>
                <a:cs typeface="Arial"/>
                <a:sym typeface="Arial"/>
              </a:rPr>
              <a:t>; σ is treated as known.</a:t>
            </a:r>
            <a:endParaRPr/>
          </a:p>
        </p:txBody>
      </p:sp>
      <p:sp>
        <p:nvSpPr>
          <p:cNvPr id="184" name="Google Shape;184;p9"/>
          <p:cNvSpPr txBox="1"/>
          <p:nvPr/>
        </p:nvSpPr>
        <p:spPr>
          <a:xfrm>
            <a:off x="838200" y="2095500"/>
            <a:ext cx="10515600" cy="762000"/>
          </a:xfrm>
          <a:prstGeom prst="rect">
            <a:avLst/>
          </a:prstGeom>
          <a:solidFill>
            <a:srgbClr val="E8E1D4"/>
          </a:solidFill>
          <a:ln>
            <a:noFill/>
          </a:ln>
        </p:spPr>
        <p:txBody>
          <a:bodyPr anchorCtr="0" anchor="t" bIns="91425" lIns="182875" spcFirstLastPara="1" rIns="182875" wrap="square" tIns="91425">
            <a:noAutofit/>
          </a:bodyPr>
          <a:lstStyle/>
          <a:p>
            <a:pPr indent="0" lvl="0" marL="0" marR="0" rtl="0" algn="l">
              <a:spcBef>
                <a:spcPts val="0"/>
              </a:spcBef>
              <a:spcAft>
                <a:spcPts val="0"/>
              </a:spcAft>
              <a:buClr>
                <a:srgbClr val="B5532A"/>
              </a:buClr>
              <a:buSzPts val="1300"/>
              <a:buFont typeface="Arial"/>
              <a:buNone/>
            </a:pPr>
            <a:r>
              <a:rPr b="1" lang="en-US" sz="1300">
                <a:solidFill>
                  <a:srgbClr val="B5532A"/>
                </a:solidFill>
                <a:latin typeface="Arial"/>
                <a:ea typeface="Arial"/>
                <a:cs typeface="Arial"/>
                <a:sym typeface="Arial"/>
              </a:rPr>
              <a:t>THE DATA</a:t>
            </a:r>
            <a:r>
              <a:rPr lang="en-US" sz="1300">
                <a:solidFill>
                  <a:srgbClr val="2A2F3A"/>
                </a:solidFill>
                <a:latin typeface="Arial"/>
                <a:ea typeface="Arial"/>
                <a:cs typeface="Arial"/>
                <a:sym typeface="Arial"/>
              </a:rPr>
              <a:t>  ·  Pairs </a:t>
            </a:r>
            <a:r>
              <a:rPr i="1" lang="en-US" sz="1300">
                <a:solidFill>
                  <a:srgbClr val="1C2433"/>
                </a:solidFill>
                <a:latin typeface="Cambria Math"/>
                <a:ea typeface="Cambria Math"/>
                <a:cs typeface="Cambria Math"/>
                <a:sym typeface="Cambria Math"/>
              </a:rPr>
              <a:t>(xᵢ, Yᵢ)</a:t>
            </a:r>
            <a:r>
              <a:rPr lang="en-US" sz="1300">
                <a:solidFill>
                  <a:srgbClr val="2A2F3A"/>
                </a:solidFill>
                <a:latin typeface="Arial"/>
                <a:ea typeface="Arial"/>
                <a:cs typeface="Arial"/>
                <a:sym typeface="Arial"/>
              </a:rPr>
              <a:t> with </a:t>
            </a:r>
            <a:r>
              <a:rPr i="1" lang="en-US" sz="1300">
                <a:solidFill>
                  <a:srgbClr val="1C2433"/>
                </a:solidFill>
                <a:latin typeface="Cambria Math"/>
                <a:ea typeface="Cambria Math"/>
                <a:cs typeface="Cambria Math"/>
                <a:sym typeface="Cambria Math"/>
              </a:rPr>
              <a:t>xᵢ, Yᵢ ∈ ℝ²</a:t>
            </a:r>
            <a:r>
              <a:rPr lang="en-US" sz="1300">
                <a:solidFill>
                  <a:srgbClr val="2A2F3A"/>
                </a:solidFill>
                <a:latin typeface="Arial"/>
                <a:ea typeface="Arial"/>
                <a:cs typeface="Arial"/>
                <a:sym typeface="Arial"/>
              </a:rPr>
              <a:t> — a position and its noisy local velocity </a:t>
            </a:r>
            <a:r>
              <a:rPr i="1" lang="en-US" sz="1300">
                <a:solidFill>
                  <a:srgbClr val="1C2433"/>
                </a:solidFill>
                <a:latin typeface="Cambria Math"/>
                <a:ea typeface="Cambria Math"/>
                <a:cs typeface="Cambria Math"/>
                <a:sym typeface="Cambria Math"/>
              </a:rPr>
              <a:t>Yᵢ = (Xₜ₊₁ − Xₜ) / Δt</a:t>
            </a:r>
            <a:r>
              <a:rPr lang="en-US" sz="1300">
                <a:solidFill>
                  <a:srgbClr val="2A2F3A"/>
                </a:solidFill>
                <a:latin typeface="Arial"/>
                <a:ea typeface="Arial"/>
                <a:cs typeface="Arial"/>
                <a:sym typeface="Arial"/>
              </a:rPr>
              <a:t>.</a:t>
            </a:r>
            <a:endParaRPr/>
          </a:p>
          <a:p>
            <a:pPr indent="0" lvl="0" marL="0" marR="0" rtl="0" algn="l">
              <a:spcBef>
                <a:spcPts val="300"/>
              </a:spcBef>
              <a:spcAft>
                <a:spcPts val="0"/>
              </a:spcAft>
              <a:buClr>
                <a:srgbClr val="8A8578"/>
              </a:buClr>
              <a:buSzPts val="1200"/>
              <a:buFont typeface="Arial"/>
              <a:buNone/>
            </a:pPr>
            <a:r>
              <a:rPr i="1" lang="en-US" sz="1200">
                <a:solidFill>
                  <a:srgbClr val="8A8578"/>
                </a:solidFill>
                <a:latin typeface="Arial"/>
                <a:ea typeface="Arial"/>
                <a:cs typeface="Arial"/>
                <a:sym typeface="Arial"/>
              </a:rPr>
              <a:t>Each short displacement is a noisy clue about </a:t>
            </a:r>
            <a:r>
              <a:rPr i="1" lang="en-US" sz="1200">
                <a:solidFill>
                  <a:srgbClr val="1C2433"/>
                </a:solidFill>
                <a:latin typeface="Cambria Math"/>
                <a:ea typeface="Cambria Math"/>
                <a:cs typeface="Cambria Math"/>
                <a:sym typeface="Cambria Math"/>
              </a:rPr>
              <a:t>F</a:t>
            </a:r>
            <a:r>
              <a:rPr i="1" lang="en-US" sz="1200">
                <a:solidFill>
                  <a:srgbClr val="8A8578"/>
                </a:solidFill>
                <a:latin typeface="Arial"/>
                <a:ea typeface="Arial"/>
                <a:cs typeface="Arial"/>
                <a:sym typeface="Arial"/>
              </a:rPr>
              <a:t>  at the current location.</a:t>
            </a:r>
            <a:endParaRPr/>
          </a:p>
        </p:txBody>
      </p:sp>
      <p:sp>
        <p:nvSpPr>
          <p:cNvPr id="185" name="Google Shape;185;p9"/>
          <p:cNvSpPr txBox="1"/>
          <p:nvPr/>
        </p:nvSpPr>
        <p:spPr>
          <a:xfrm>
            <a:off x="838200" y="2946400"/>
            <a:ext cx="5080000" cy="1397000"/>
          </a:xfrm>
          <a:prstGeom prst="rect">
            <a:avLst/>
          </a:prstGeom>
          <a:noFill/>
          <a:ln cap="flat" cmpd="sng" w="9525">
            <a:solidFill>
              <a:srgbClr val="2C4A6E"/>
            </a:solidFill>
            <a:prstDash val="solid"/>
            <a:round/>
            <a:headEnd len="sm" w="sm" type="none"/>
            <a:tailEnd len="sm" w="sm" type="none"/>
          </a:ln>
        </p:spPr>
        <p:txBody>
          <a:bodyPr anchorCtr="0" anchor="t" bIns="91425" lIns="182875" spcFirstLastPara="1" rIns="182875" wrap="square" tIns="91425">
            <a:noAutofit/>
          </a:bodyPr>
          <a:lstStyle/>
          <a:p>
            <a:pPr indent="0" lvl="0" marL="0" marR="0" rtl="0" algn="l">
              <a:spcBef>
                <a:spcPts val="0"/>
              </a:spcBef>
              <a:spcAft>
                <a:spcPts val="0"/>
              </a:spcAft>
              <a:buClr>
                <a:srgbClr val="2C4A6E"/>
              </a:buClr>
              <a:buSzPts val="1300"/>
              <a:buFont typeface="Arial"/>
              <a:buNone/>
            </a:pPr>
            <a:r>
              <a:rPr b="1" lang="en-US" sz="1300">
                <a:solidFill>
                  <a:srgbClr val="2C4A6E"/>
                </a:solidFill>
                <a:latin typeface="Arial"/>
                <a:ea typeface="Arial"/>
                <a:cs typeface="Arial"/>
                <a:sym typeface="Arial"/>
              </a:rPr>
              <a:t>LIKELIHOOD</a:t>
            </a:r>
            <a:endParaRPr/>
          </a:p>
          <a:p>
            <a:pPr indent="0" lvl="0" marL="0" marR="0" rtl="0" algn="ctr">
              <a:spcBef>
                <a:spcPts val="400"/>
              </a:spcBef>
              <a:spcAft>
                <a:spcPts val="0"/>
              </a:spcAft>
              <a:buClr>
                <a:srgbClr val="1C2433"/>
              </a:buClr>
              <a:buSzPts val="1500"/>
              <a:buFont typeface="Cambria Math"/>
              <a:buNone/>
            </a:pPr>
            <a:r>
              <a:rPr i="1" lang="en-US" sz="1500">
                <a:solidFill>
                  <a:srgbClr val="1C2433"/>
                </a:solidFill>
                <a:latin typeface="Cambria Math"/>
                <a:ea typeface="Cambria Math"/>
                <a:cs typeface="Cambria Math"/>
                <a:sym typeface="Cambria Math"/>
              </a:rPr>
              <a:t>Yᵢ | F(xᵢ), σ² ∼ 𝒩 (F(xᵢ), (σ²/Δt) I₂)</a:t>
            </a:r>
            <a:endParaRPr/>
          </a:p>
          <a:p>
            <a:pPr indent="0" lvl="0" marL="0" marR="0" rtl="0" algn="l">
              <a:spcBef>
                <a:spcPts val="400"/>
              </a:spcBef>
              <a:spcAft>
                <a:spcPts val="0"/>
              </a:spcAft>
              <a:buClr>
                <a:srgbClr val="8A8578"/>
              </a:buClr>
              <a:buSzPts val="1200"/>
              <a:buFont typeface="Arial"/>
              <a:buNone/>
            </a:pPr>
            <a:r>
              <a:rPr i="1" lang="en-US" sz="1200">
                <a:solidFill>
                  <a:srgbClr val="8A8578"/>
                </a:solidFill>
                <a:latin typeface="Arial"/>
                <a:ea typeface="Arial"/>
                <a:cs typeface="Arial"/>
                <a:sym typeface="Arial"/>
              </a:rPr>
              <a:t>Velocity centered on the true field; noise inflated by 1/Δt.</a:t>
            </a:r>
            <a:endParaRPr/>
          </a:p>
        </p:txBody>
      </p:sp>
      <p:sp>
        <p:nvSpPr>
          <p:cNvPr id="186" name="Google Shape;186;p9"/>
          <p:cNvSpPr txBox="1"/>
          <p:nvPr/>
        </p:nvSpPr>
        <p:spPr>
          <a:xfrm>
            <a:off x="6273800" y="2946400"/>
            <a:ext cx="5080000" cy="1397000"/>
          </a:xfrm>
          <a:prstGeom prst="rect">
            <a:avLst/>
          </a:prstGeom>
          <a:noFill/>
          <a:ln cap="flat" cmpd="sng" w="9525">
            <a:solidFill>
              <a:srgbClr val="B5532A"/>
            </a:solidFill>
            <a:prstDash val="solid"/>
            <a:round/>
            <a:headEnd len="sm" w="sm" type="none"/>
            <a:tailEnd len="sm" w="sm" type="none"/>
          </a:ln>
        </p:spPr>
        <p:txBody>
          <a:bodyPr anchorCtr="0" anchor="t" bIns="91425" lIns="182875" spcFirstLastPara="1" rIns="182875" wrap="square" tIns="91425">
            <a:noAutofit/>
          </a:bodyPr>
          <a:lstStyle/>
          <a:p>
            <a:pPr indent="0" lvl="0" marL="0" marR="0" rtl="0" algn="l">
              <a:spcBef>
                <a:spcPts val="0"/>
              </a:spcBef>
              <a:spcAft>
                <a:spcPts val="0"/>
              </a:spcAft>
              <a:buClr>
                <a:srgbClr val="B5532A"/>
              </a:buClr>
              <a:buSzPts val="1300"/>
              <a:buFont typeface="Arial"/>
              <a:buNone/>
            </a:pPr>
            <a:r>
              <a:rPr b="1" lang="en-US" sz="1300">
                <a:solidFill>
                  <a:srgbClr val="B5532A"/>
                </a:solidFill>
                <a:latin typeface="Arial"/>
                <a:ea typeface="Arial"/>
                <a:cs typeface="Arial"/>
                <a:sym typeface="Arial"/>
              </a:rPr>
              <a:t>GP PRIOR ON THE FIELD</a:t>
            </a:r>
            <a:endParaRPr/>
          </a:p>
          <a:p>
            <a:pPr indent="0" lvl="0" marL="0" marR="0" rtl="0" algn="ctr">
              <a:spcBef>
                <a:spcPts val="400"/>
              </a:spcBef>
              <a:spcAft>
                <a:spcPts val="0"/>
              </a:spcAft>
              <a:buClr>
                <a:srgbClr val="1C2433"/>
              </a:buClr>
              <a:buSzPts val="1500"/>
              <a:buFont typeface="Cambria Math"/>
              <a:buNone/>
            </a:pPr>
            <a:r>
              <a:rPr i="1" lang="en-US" sz="1500">
                <a:solidFill>
                  <a:srgbClr val="1C2433"/>
                </a:solidFill>
                <a:latin typeface="Cambria Math"/>
                <a:ea typeface="Cambria Math"/>
                <a:cs typeface="Cambria Math"/>
                <a:sym typeface="Cambria Math"/>
              </a:rPr>
              <a:t>F₁ ∼ 𝒢𝒫(0, k</a:t>
            </a:r>
            <a:r>
              <a:rPr baseline="-25000" i="1" lang="en-US" sz="1500">
                <a:solidFill>
                  <a:srgbClr val="1C2433"/>
                </a:solidFill>
                <a:latin typeface="Cambria Math"/>
                <a:ea typeface="Cambria Math"/>
                <a:cs typeface="Cambria Math"/>
                <a:sym typeface="Cambria Math"/>
              </a:rPr>
              <a:t>θ</a:t>
            </a:r>
            <a:r>
              <a:rPr i="1" lang="en-US" sz="1500">
                <a:solidFill>
                  <a:srgbClr val="1C2433"/>
                </a:solidFill>
                <a:latin typeface="Cambria Math"/>
                <a:ea typeface="Cambria Math"/>
                <a:cs typeface="Cambria Math"/>
                <a:sym typeface="Cambria Math"/>
              </a:rPr>
              <a:t>),  F₂ ∼ 𝒢𝒫(0, k</a:t>
            </a:r>
            <a:r>
              <a:rPr baseline="-25000" i="1" lang="en-US" sz="1500">
                <a:solidFill>
                  <a:srgbClr val="1C2433"/>
                </a:solidFill>
                <a:latin typeface="Cambria Math"/>
                <a:ea typeface="Cambria Math"/>
                <a:cs typeface="Cambria Math"/>
                <a:sym typeface="Cambria Math"/>
              </a:rPr>
              <a:t>θ</a:t>
            </a:r>
            <a:r>
              <a:rPr i="1" lang="en-US" sz="1500">
                <a:solidFill>
                  <a:srgbClr val="1C2433"/>
                </a:solidFill>
                <a:latin typeface="Cambria Math"/>
                <a:ea typeface="Cambria Math"/>
                <a:cs typeface="Cambria Math"/>
                <a:sym typeface="Cambria Math"/>
              </a:rPr>
              <a:t>)</a:t>
            </a:r>
            <a:endParaRPr/>
          </a:p>
          <a:p>
            <a:pPr indent="0" lvl="0" marL="0" marR="0" rtl="0" algn="l">
              <a:spcBef>
                <a:spcPts val="400"/>
              </a:spcBef>
              <a:spcAft>
                <a:spcPts val="0"/>
              </a:spcAft>
              <a:buClr>
                <a:srgbClr val="8A8578"/>
              </a:buClr>
              <a:buSzPts val="1200"/>
              <a:buFont typeface="Arial"/>
              <a:buNone/>
            </a:pPr>
            <a:r>
              <a:rPr i="1" lang="en-US" sz="1200">
                <a:solidFill>
                  <a:srgbClr val="8A8578"/>
                </a:solidFill>
                <a:latin typeface="Arial"/>
                <a:ea typeface="Arial"/>
                <a:cs typeface="Arial"/>
                <a:sym typeface="Arial"/>
              </a:rPr>
              <a:t>Two independent components, zero mean, shared RBF kernel </a:t>
            </a:r>
            <a:r>
              <a:rPr i="1" lang="en-US" sz="1200">
                <a:solidFill>
                  <a:srgbClr val="1C2433"/>
                </a:solidFill>
                <a:latin typeface="Cambria Math"/>
                <a:ea typeface="Cambria Math"/>
                <a:cs typeface="Cambria Math"/>
                <a:sym typeface="Cambria Math"/>
              </a:rPr>
              <a:t>θ = (α, ℓ)</a:t>
            </a:r>
            <a:r>
              <a:rPr i="1" lang="en-US" sz="1200">
                <a:solidFill>
                  <a:srgbClr val="8A8578"/>
                </a:solidFill>
                <a:latin typeface="Arial"/>
                <a:ea typeface="Arial"/>
                <a:cs typeface="Arial"/>
                <a:sym typeface="Arial"/>
              </a:rPr>
              <a:t>.</a:t>
            </a:r>
            <a:endParaRPr/>
          </a:p>
          <a:p>
            <a:pPr indent="-171450" lvl="0" marL="171450" marR="0" rtl="0" algn="l">
              <a:spcBef>
                <a:spcPts val="400"/>
              </a:spcBef>
              <a:spcAft>
                <a:spcPts val="0"/>
              </a:spcAft>
              <a:buClr>
                <a:srgbClr val="8A8578"/>
              </a:buClr>
              <a:buSzPts val="1200"/>
              <a:buFont typeface="Arial"/>
              <a:buChar char="•"/>
            </a:pPr>
            <a:r>
              <a:rPr i="1" lang="en-US" sz="1200">
                <a:solidFill>
                  <a:srgbClr val="8A8578"/>
                </a:solidFill>
                <a:latin typeface="Arial"/>
                <a:ea typeface="Arial"/>
                <a:cs typeface="Arial"/>
                <a:sym typeface="Arial"/>
              </a:rPr>
              <a:t>Base assumption is m(x)=0 everywhere (purely random walk)</a:t>
            </a:r>
            <a:endParaRPr/>
          </a:p>
        </p:txBody>
      </p:sp>
      <p:sp>
        <p:nvSpPr>
          <p:cNvPr id="187" name="Google Shape;187;p9"/>
          <p:cNvSpPr txBox="1"/>
          <p:nvPr/>
        </p:nvSpPr>
        <p:spPr>
          <a:xfrm>
            <a:off x="838200" y="4445000"/>
            <a:ext cx="5080000" cy="1333500"/>
          </a:xfrm>
          <a:prstGeom prst="rect">
            <a:avLst/>
          </a:prstGeom>
          <a:noFill/>
          <a:ln cap="flat" cmpd="sng" w="9525">
            <a:solidFill>
              <a:srgbClr val="2C4A6E"/>
            </a:solidFill>
            <a:prstDash val="solid"/>
            <a:round/>
            <a:headEnd len="sm" w="sm" type="none"/>
            <a:tailEnd len="sm" w="sm" type="none"/>
          </a:ln>
        </p:spPr>
        <p:txBody>
          <a:bodyPr anchorCtr="0" anchor="t" bIns="91425" lIns="182875" spcFirstLastPara="1" rIns="182875" wrap="square" tIns="91425">
            <a:noAutofit/>
          </a:bodyPr>
          <a:lstStyle/>
          <a:p>
            <a:pPr indent="0" lvl="0" marL="0" marR="0" rtl="0" algn="l">
              <a:spcBef>
                <a:spcPts val="0"/>
              </a:spcBef>
              <a:spcAft>
                <a:spcPts val="0"/>
              </a:spcAft>
              <a:buClr>
                <a:srgbClr val="2C4A6E"/>
              </a:buClr>
              <a:buSzPts val="1300"/>
              <a:buFont typeface="Arial"/>
              <a:buNone/>
            </a:pPr>
            <a:r>
              <a:rPr b="1" lang="en-US" sz="1300">
                <a:solidFill>
                  <a:srgbClr val="2C4A6E"/>
                </a:solidFill>
                <a:latin typeface="Arial"/>
                <a:ea typeface="Arial"/>
                <a:cs typeface="Arial"/>
                <a:sym typeface="Arial"/>
              </a:rPr>
              <a:t>HYPERPRIORS</a:t>
            </a:r>
            <a:endParaRPr/>
          </a:p>
          <a:p>
            <a:pPr indent="0" lvl="0" marL="0" marR="0" rtl="0" algn="ctr">
              <a:spcBef>
                <a:spcPts val="300"/>
              </a:spcBef>
              <a:spcAft>
                <a:spcPts val="0"/>
              </a:spcAft>
              <a:buClr>
                <a:srgbClr val="1C2433"/>
              </a:buClr>
              <a:buSzPts val="1400"/>
              <a:buFont typeface="Cambria Math"/>
              <a:buNone/>
            </a:pPr>
            <a:r>
              <a:rPr i="1" lang="en-US" sz="1400">
                <a:solidFill>
                  <a:srgbClr val="1C2433"/>
                </a:solidFill>
                <a:latin typeface="Cambria Math"/>
                <a:ea typeface="Cambria Math"/>
                <a:cs typeface="Cambria Math"/>
                <a:sym typeface="Cambria Math"/>
              </a:rPr>
              <a:t>α ∼ Half-Normal(2.5), ℓ ∼ Half-Normal(2)</a:t>
            </a:r>
            <a:endParaRPr/>
          </a:p>
          <a:p>
            <a:pPr indent="0" lvl="0" marL="0" marR="0" rtl="0" algn="l">
              <a:spcBef>
                <a:spcPts val="300"/>
              </a:spcBef>
              <a:spcAft>
                <a:spcPts val="0"/>
              </a:spcAft>
              <a:buClr>
                <a:srgbClr val="8A8578"/>
              </a:buClr>
              <a:buSzPts val="1200"/>
              <a:buFont typeface="Arial"/>
              <a:buNone/>
            </a:pPr>
            <a:r>
              <a:rPr i="1" lang="en-US" sz="1200">
                <a:solidFill>
                  <a:srgbClr val="8A8578"/>
                </a:solidFill>
                <a:latin typeface="Arial"/>
                <a:ea typeface="Arial"/>
                <a:cs typeface="Arial"/>
                <a:sym typeface="Arial"/>
              </a:rPr>
              <a:t>Weakly informative:</a:t>
            </a:r>
            <a:endParaRPr/>
          </a:p>
          <a:p>
            <a:pPr indent="-171450" lvl="0" marL="171450" marR="0" rtl="0" algn="l">
              <a:spcBef>
                <a:spcPts val="300"/>
              </a:spcBef>
              <a:spcAft>
                <a:spcPts val="0"/>
              </a:spcAft>
              <a:buClr>
                <a:srgbClr val="1C2433"/>
              </a:buClr>
              <a:buSzPts val="1200"/>
              <a:buFont typeface="Arial"/>
              <a:buChar char="•"/>
            </a:pPr>
            <a:r>
              <a:rPr i="1" lang="en-US" sz="1200">
                <a:solidFill>
                  <a:srgbClr val="1C2433"/>
                </a:solidFill>
                <a:latin typeface="Cambria Math"/>
                <a:ea typeface="Cambria Math"/>
                <a:cs typeface="Cambria Math"/>
                <a:sym typeface="Cambria Math"/>
              </a:rPr>
              <a:t>ℓ : for a 6x6 observation window, allows for some local variation</a:t>
            </a:r>
            <a:endParaRPr/>
          </a:p>
          <a:p>
            <a:pPr indent="-171450" lvl="0" marL="171450" marR="0" rtl="0" algn="l">
              <a:spcBef>
                <a:spcPts val="300"/>
              </a:spcBef>
              <a:spcAft>
                <a:spcPts val="0"/>
              </a:spcAft>
              <a:buClr>
                <a:srgbClr val="1C2433"/>
              </a:buClr>
              <a:buSzPts val="1200"/>
              <a:buFont typeface="Arial"/>
              <a:buChar char="•"/>
            </a:pPr>
            <a:r>
              <a:rPr i="1" lang="en-US" sz="1200">
                <a:solidFill>
                  <a:srgbClr val="1C2433"/>
                </a:solidFill>
                <a:latin typeface="Cambria Math"/>
                <a:ea typeface="Cambria Math"/>
                <a:cs typeface="Cambria Math"/>
                <a:sym typeface="Cambria Math"/>
              </a:rPr>
              <a:t>α :  forces are same order of magnitude as particle stdv (0.5)</a:t>
            </a:r>
            <a:endParaRPr i="1" sz="1200">
              <a:solidFill>
                <a:srgbClr val="8A8578"/>
              </a:solidFill>
              <a:latin typeface="Arial"/>
              <a:ea typeface="Arial"/>
              <a:cs typeface="Arial"/>
              <a:sym typeface="Arial"/>
            </a:endParaRPr>
          </a:p>
        </p:txBody>
      </p:sp>
      <p:sp>
        <p:nvSpPr>
          <p:cNvPr id="188" name="Google Shape;188;p9"/>
          <p:cNvSpPr txBox="1"/>
          <p:nvPr/>
        </p:nvSpPr>
        <p:spPr>
          <a:xfrm>
            <a:off x="6273800" y="4445000"/>
            <a:ext cx="5080000" cy="1333500"/>
          </a:xfrm>
          <a:prstGeom prst="rect">
            <a:avLst/>
          </a:prstGeom>
          <a:noFill/>
          <a:ln cap="flat" cmpd="sng" w="9525">
            <a:solidFill>
              <a:srgbClr val="B5532A"/>
            </a:solidFill>
            <a:prstDash val="solid"/>
            <a:round/>
            <a:headEnd len="sm" w="sm" type="none"/>
            <a:tailEnd len="sm" w="sm" type="none"/>
          </a:ln>
        </p:spPr>
        <p:txBody>
          <a:bodyPr anchorCtr="0" anchor="t" bIns="91425" lIns="182875" spcFirstLastPara="1" rIns="182875" wrap="square" tIns="91425">
            <a:noAutofit/>
          </a:bodyPr>
          <a:lstStyle/>
          <a:p>
            <a:pPr indent="0" lvl="0" marL="0" marR="0" rtl="0" algn="l">
              <a:spcBef>
                <a:spcPts val="0"/>
              </a:spcBef>
              <a:spcAft>
                <a:spcPts val="0"/>
              </a:spcAft>
              <a:buClr>
                <a:srgbClr val="B5532A"/>
              </a:buClr>
              <a:buSzPts val="1300"/>
              <a:buFont typeface="Arial"/>
              <a:buNone/>
            </a:pPr>
            <a:r>
              <a:rPr b="1" lang="en-US" sz="1300">
                <a:solidFill>
                  <a:srgbClr val="B5532A"/>
                </a:solidFill>
                <a:latin typeface="Arial"/>
                <a:ea typeface="Arial"/>
                <a:cs typeface="Arial"/>
                <a:sym typeface="Arial"/>
              </a:rPr>
              <a:t>POSTERIOR TARGET</a:t>
            </a:r>
            <a:endParaRPr/>
          </a:p>
          <a:p>
            <a:pPr indent="0" lvl="0" marL="0" marR="0" rtl="0" algn="ctr">
              <a:spcBef>
                <a:spcPts val="300"/>
              </a:spcBef>
              <a:spcAft>
                <a:spcPts val="0"/>
              </a:spcAft>
              <a:buClr>
                <a:srgbClr val="1C2433"/>
              </a:buClr>
              <a:buSzPts val="1400"/>
              <a:buFont typeface="Cambria Math"/>
              <a:buNone/>
            </a:pPr>
            <a:r>
              <a:rPr i="1" lang="en-US" sz="1400">
                <a:solidFill>
                  <a:srgbClr val="1C2433"/>
                </a:solidFill>
                <a:latin typeface="Cambria Math"/>
                <a:ea typeface="Cambria Math"/>
                <a:cs typeface="Cambria Math"/>
                <a:sym typeface="Cambria Math"/>
              </a:rPr>
              <a:t>p(F₁, F₂, α, ℓ | Y₁, …, Yₙ)</a:t>
            </a:r>
            <a:endParaRPr/>
          </a:p>
          <a:p>
            <a:pPr indent="0" lvl="0" marL="0" marR="0" rtl="0" algn="l">
              <a:spcBef>
                <a:spcPts val="300"/>
              </a:spcBef>
              <a:spcAft>
                <a:spcPts val="0"/>
              </a:spcAft>
              <a:buClr>
                <a:srgbClr val="8A8578"/>
              </a:buClr>
              <a:buSzPts val="1200"/>
              <a:buFont typeface="Arial"/>
              <a:buNone/>
            </a:pPr>
            <a:r>
              <a:rPr i="1" lang="en-US" sz="1200">
                <a:solidFill>
                  <a:srgbClr val="8A8578"/>
                </a:solidFill>
                <a:latin typeface="Arial"/>
                <a:ea typeface="Arial"/>
                <a:cs typeface="Arial"/>
                <a:sym typeface="Arial"/>
              </a:rPr>
              <a:t>Update the prior over smooth vector fields using the observed local velocities.</a:t>
            </a:r>
            <a:endParaRPr/>
          </a:p>
        </p:txBody>
      </p:sp>
      <p:sp>
        <p:nvSpPr>
          <p:cNvPr id="189" name="Google Shape;189;p9"/>
          <p:cNvSpPr txBox="1"/>
          <p:nvPr/>
        </p:nvSpPr>
        <p:spPr>
          <a:xfrm>
            <a:off x="838200" y="5778500"/>
            <a:ext cx="10515600" cy="635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5532A"/>
              </a:buClr>
              <a:buSzPts val="1300"/>
              <a:buFont typeface="Arial"/>
              <a:buNone/>
            </a:pPr>
            <a:r>
              <a:rPr b="1" lang="en-US" sz="1300">
                <a:solidFill>
                  <a:srgbClr val="B5532A"/>
                </a:solidFill>
                <a:latin typeface="Arial"/>
                <a:ea typeface="Arial"/>
                <a:cs typeface="Arial"/>
                <a:sym typeface="Arial"/>
              </a:rPr>
              <a:t>IMPLEMENTATION  ·  </a:t>
            </a:r>
            <a:r>
              <a:rPr lang="en-US" sz="1300">
                <a:solidFill>
                  <a:srgbClr val="2A2F3A"/>
                </a:solidFill>
                <a:latin typeface="Arial"/>
                <a:ea typeface="Arial"/>
                <a:cs typeface="Arial"/>
                <a:sym typeface="Arial"/>
              </a:rPr>
              <a:t>Full Bayesian fit with </a:t>
            </a:r>
            <a:r>
              <a:rPr b="1" lang="en-US" sz="1300">
                <a:solidFill>
                  <a:srgbClr val="2C4A6E"/>
                </a:solidFill>
                <a:latin typeface="Arial"/>
                <a:ea typeface="Arial"/>
                <a:cs typeface="Arial"/>
                <a:sym typeface="Arial"/>
              </a:rPr>
              <a:t>PyMC</a:t>
            </a:r>
            <a:r>
              <a:rPr lang="en-US" sz="1300">
                <a:solidFill>
                  <a:srgbClr val="2A2F3A"/>
                </a:solidFill>
                <a:latin typeface="Arial"/>
                <a:ea typeface="Arial"/>
                <a:cs typeface="Arial"/>
                <a:sym typeface="Arial"/>
              </a:rPr>
              <a:t> (GP priors + MCMC) </a:t>
            </a:r>
            <a:endParaRPr/>
          </a:p>
          <a:p>
            <a:pPr indent="0" lvl="0" marL="0" marR="0" rtl="0" algn="ctr">
              <a:spcBef>
                <a:spcPts val="0"/>
              </a:spcBef>
              <a:spcAft>
                <a:spcPts val="0"/>
              </a:spcAft>
              <a:buClr>
                <a:schemeClr val="dk1"/>
              </a:buClr>
              <a:buSzPts val="1200"/>
              <a:buFont typeface="Arial"/>
              <a:buNone/>
            </a:pPr>
            <a:r>
              <a:t/>
            </a:r>
            <a:endParaRPr i="1" sz="1200">
              <a:solidFill>
                <a:srgbClr val="8A8578"/>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10"/>
          <p:cNvSpPr txBox="1"/>
          <p:nvPr/>
        </p:nvSpPr>
        <p:spPr>
          <a:xfrm>
            <a:off x="508000" y="368300"/>
            <a:ext cx="11176000" cy="698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2433"/>
              </a:buClr>
              <a:buSzPts val="4000"/>
              <a:buFont typeface="Playfair Display"/>
              <a:buNone/>
            </a:pPr>
            <a:r>
              <a:rPr b="1" lang="en-US" sz="4000">
                <a:solidFill>
                  <a:srgbClr val="1C2433"/>
                </a:solidFill>
                <a:latin typeface="Playfair Display"/>
                <a:ea typeface="Playfair Display"/>
                <a:cs typeface="Playfair Display"/>
                <a:sym typeface="Playfair Display"/>
              </a:rPr>
              <a:t>How the Posterior Sharpens with More Data</a:t>
            </a:r>
            <a:endParaRPr/>
          </a:p>
        </p:txBody>
      </p:sp>
      <p:sp>
        <p:nvSpPr>
          <p:cNvPr id="195" name="Google Shape;195;p10"/>
          <p:cNvSpPr txBox="1"/>
          <p:nvPr/>
        </p:nvSpPr>
        <p:spPr>
          <a:xfrm>
            <a:off x="508000" y="1270000"/>
            <a:ext cx="5715000" cy="1206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B5532A"/>
              </a:buClr>
              <a:buSzPts val="1500"/>
              <a:buFont typeface="Arial"/>
              <a:buNone/>
            </a:pPr>
            <a:r>
              <a:rPr b="1" lang="en-US" sz="1500">
                <a:solidFill>
                  <a:srgbClr val="B5532A"/>
                </a:solidFill>
                <a:latin typeface="Arial"/>
                <a:ea typeface="Arial"/>
                <a:cs typeface="Arial"/>
                <a:sym typeface="Arial"/>
              </a:rPr>
              <a:t>10 trajectories</a:t>
            </a:r>
            <a:endParaRPr/>
          </a:p>
          <a:p>
            <a:pPr indent="-182880" lvl="0" marL="182880" marR="0" rtl="0" algn="l">
              <a:spcBef>
                <a:spcPts val="300"/>
              </a:spcBef>
              <a:spcAft>
                <a:spcPts val="0"/>
              </a:spcAft>
              <a:buClr>
                <a:srgbClr val="2A2F3A"/>
              </a:buClr>
              <a:buSzPts val="1300"/>
              <a:buFont typeface="Arial"/>
              <a:buChar char="•"/>
            </a:pPr>
            <a:r>
              <a:rPr lang="en-US" sz="1300">
                <a:solidFill>
                  <a:srgbClr val="2A2F3A"/>
                </a:solidFill>
                <a:latin typeface="Arial"/>
                <a:ea typeface="Arial"/>
                <a:cs typeface="Arial"/>
                <a:sym typeface="Arial"/>
              </a:rPr>
              <a:t>Posterior is still diffuse.</a:t>
            </a:r>
            <a:endParaRPr/>
          </a:p>
          <a:p>
            <a:pPr indent="-182880" lvl="0" marL="182880" marR="0" rtl="0" algn="l">
              <a:spcBef>
                <a:spcPts val="200"/>
              </a:spcBef>
              <a:spcAft>
                <a:spcPts val="0"/>
              </a:spcAft>
              <a:buClr>
                <a:srgbClr val="2A2F3A"/>
              </a:buClr>
              <a:buSzPts val="1300"/>
              <a:buFont typeface="Arial"/>
              <a:buChar char="•"/>
            </a:pPr>
            <a:r>
              <a:rPr lang="en-US" sz="1300">
                <a:solidFill>
                  <a:srgbClr val="2A2F3A"/>
                </a:solidFill>
                <a:latin typeface="Arial"/>
                <a:ea typeface="Arial"/>
                <a:cs typeface="Arial"/>
                <a:sym typeface="Arial"/>
              </a:rPr>
              <a:t>Main directional signal detected, estimate of “center” is off.</a:t>
            </a:r>
            <a:endParaRPr/>
          </a:p>
        </p:txBody>
      </p:sp>
      <p:sp>
        <p:nvSpPr>
          <p:cNvPr id="196" name="Google Shape;196;p10"/>
          <p:cNvSpPr txBox="1"/>
          <p:nvPr/>
        </p:nvSpPr>
        <p:spPr>
          <a:xfrm>
            <a:off x="508000" y="2565400"/>
            <a:ext cx="5715000" cy="1206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C4A6E"/>
              </a:buClr>
              <a:buSzPts val="1500"/>
              <a:buFont typeface="Arial"/>
              <a:buNone/>
            </a:pPr>
            <a:r>
              <a:rPr b="1" lang="en-US" sz="1500">
                <a:solidFill>
                  <a:srgbClr val="2C4A6E"/>
                </a:solidFill>
                <a:latin typeface="Arial"/>
                <a:ea typeface="Arial"/>
                <a:cs typeface="Arial"/>
                <a:sym typeface="Arial"/>
              </a:rPr>
              <a:t>20 trajectories</a:t>
            </a:r>
            <a:endParaRPr/>
          </a:p>
          <a:p>
            <a:pPr indent="-182880" lvl="0" marL="182880" marR="0" rtl="0" algn="l">
              <a:spcBef>
                <a:spcPts val="200"/>
              </a:spcBef>
              <a:spcAft>
                <a:spcPts val="0"/>
              </a:spcAft>
              <a:buClr>
                <a:srgbClr val="2A2F3A"/>
              </a:buClr>
              <a:buSzPts val="1300"/>
              <a:buFont typeface="Arial"/>
              <a:buChar char="•"/>
            </a:pPr>
            <a:r>
              <a:rPr lang="en-US" sz="1300">
                <a:solidFill>
                  <a:srgbClr val="2A2F3A"/>
                </a:solidFill>
                <a:latin typeface="Arial"/>
                <a:ea typeface="Arial"/>
                <a:cs typeface="Arial"/>
                <a:sym typeface="Arial"/>
              </a:rPr>
              <a:t>Data are now strong enough to distinguish signal from noise in most of the interior.</a:t>
            </a:r>
            <a:endParaRPr/>
          </a:p>
          <a:p>
            <a:pPr indent="-182880" lvl="0" marL="182880" marR="0" rtl="0" algn="l">
              <a:spcBef>
                <a:spcPts val="200"/>
              </a:spcBef>
              <a:spcAft>
                <a:spcPts val="0"/>
              </a:spcAft>
              <a:buClr>
                <a:srgbClr val="2A2F3A"/>
              </a:buClr>
              <a:buSzPts val="1300"/>
              <a:buFont typeface="Arial"/>
              <a:buChar char="•"/>
            </a:pPr>
            <a:r>
              <a:rPr lang="en-US" sz="1300">
                <a:solidFill>
                  <a:srgbClr val="2A2F3A"/>
                </a:solidFill>
                <a:latin typeface="Arial"/>
                <a:ea typeface="Arial"/>
                <a:cs typeface="Arial"/>
                <a:sym typeface="Arial"/>
              </a:rPr>
              <a:t>Posterior mean field is becoming stable.</a:t>
            </a:r>
            <a:endParaRPr/>
          </a:p>
        </p:txBody>
      </p:sp>
      <p:sp>
        <p:nvSpPr>
          <p:cNvPr id="197" name="Google Shape;197;p10"/>
          <p:cNvSpPr txBox="1"/>
          <p:nvPr/>
        </p:nvSpPr>
        <p:spPr>
          <a:xfrm>
            <a:off x="508000" y="3860800"/>
            <a:ext cx="5715000" cy="1206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A7A5C"/>
              </a:buClr>
              <a:buSzPts val="1500"/>
              <a:buFont typeface="Arial"/>
              <a:buNone/>
            </a:pPr>
            <a:r>
              <a:rPr b="1" lang="en-US" sz="1500">
                <a:solidFill>
                  <a:srgbClr val="8A7A5C"/>
                </a:solidFill>
                <a:latin typeface="Arial"/>
                <a:ea typeface="Arial"/>
                <a:cs typeface="Arial"/>
                <a:sym typeface="Arial"/>
              </a:rPr>
              <a:t>40 trajectories</a:t>
            </a:r>
            <a:endParaRPr/>
          </a:p>
          <a:p>
            <a:pPr indent="-182880" lvl="0" marL="182880" marR="0" rtl="0" algn="l">
              <a:spcBef>
                <a:spcPts val="200"/>
              </a:spcBef>
              <a:spcAft>
                <a:spcPts val="0"/>
              </a:spcAft>
              <a:buClr>
                <a:srgbClr val="2A2F3A"/>
              </a:buClr>
              <a:buSzPts val="1300"/>
              <a:buFont typeface="Arial"/>
              <a:buChar char="•"/>
            </a:pPr>
            <a:r>
              <a:rPr lang="en-US" sz="1300">
                <a:solidFill>
                  <a:srgbClr val="2A2F3A"/>
                </a:solidFill>
                <a:latin typeface="Arial"/>
                <a:ea typeface="Arial"/>
                <a:cs typeface="Arial"/>
                <a:sym typeface="Arial"/>
              </a:rPr>
              <a:t>Significant uncertainty remains around edges, reflecting lack of data.</a:t>
            </a:r>
            <a:endParaRPr/>
          </a:p>
          <a:p>
            <a:pPr indent="-182880" lvl="0" marL="182880" marR="0" rtl="0" algn="l">
              <a:spcBef>
                <a:spcPts val="200"/>
              </a:spcBef>
              <a:spcAft>
                <a:spcPts val="0"/>
              </a:spcAft>
              <a:buClr>
                <a:srgbClr val="2A2F3A"/>
              </a:buClr>
              <a:buSzPts val="1300"/>
              <a:buFont typeface="Arial"/>
              <a:buChar char="•"/>
            </a:pPr>
            <a:r>
              <a:rPr lang="en-US" sz="1300">
                <a:solidFill>
                  <a:srgbClr val="2A2F3A"/>
                </a:solidFill>
                <a:latin typeface="Arial"/>
                <a:ea typeface="Arial"/>
                <a:cs typeface="Arial"/>
                <a:sym typeface="Arial"/>
              </a:rPr>
              <a:t>Global structure has converged.</a:t>
            </a:r>
            <a:endParaRPr/>
          </a:p>
        </p:txBody>
      </p:sp>
      <p:sp>
        <p:nvSpPr>
          <p:cNvPr id="198" name="Google Shape;198;p10"/>
          <p:cNvSpPr txBox="1"/>
          <p:nvPr/>
        </p:nvSpPr>
        <p:spPr>
          <a:xfrm>
            <a:off x="508000" y="5156200"/>
            <a:ext cx="5715000" cy="1206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B5532A"/>
              </a:buClr>
              <a:buSzPts val="1500"/>
              <a:buFont typeface="Arial"/>
              <a:buNone/>
            </a:pPr>
            <a:r>
              <a:rPr b="1" lang="en-US" sz="1500">
                <a:solidFill>
                  <a:srgbClr val="B5532A"/>
                </a:solidFill>
                <a:latin typeface="Arial"/>
                <a:ea typeface="Arial"/>
                <a:cs typeface="Arial"/>
                <a:sym typeface="Arial"/>
              </a:rPr>
              <a:t>100 trajectories</a:t>
            </a:r>
            <a:endParaRPr/>
          </a:p>
          <a:p>
            <a:pPr indent="-182880" lvl="0" marL="182880" marR="0" rtl="0" algn="l">
              <a:spcBef>
                <a:spcPts val="300"/>
              </a:spcBef>
              <a:spcAft>
                <a:spcPts val="0"/>
              </a:spcAft>
              <a:buClr>
                <a:srgbClr val="2A2F3A"/>
              </a:buClr>
              <a:buSzPts val="1300"/>
              <a:buFont typeface="Arial"/>
              <a:buChar char="•"/>
            </a:pPr>
            <a:r>
              <a:rPr lang="en-US" sz="1300">
                <a:solidFill>
                  <a:srgbClr val="2A2F3A"/>
                </a:solidFill>
                <a:latin typeface="Arial"/>
                <a:ea typeface="Arial"/>
                <a:cs typeface="Arial"/>
                <a:sym typeface="Arial"/>
              </a:rPr>
              <a:t>Posterior has concentrated strongly around the true field.</a:t>
            </a:r>
            <a:endParaRPr/>
          </a:p>
          <a:p>
            <a:pPr indent="-182880" lvl="0" marL="182880" marR="0" rtl="0" algn="l">
              <a:spcBef>
                <a:spcPts val="200"/>
              </a:spcBef>
              <a:spcAft>
                <a:spcPts val="0"/>
              </a:spcAft>
              <a:buClr>
                <a:srgbClr val="2A2F3A"/>
              </a:buClr>
              <a:buSzPts val="1300"/>
              <a:buFont typeface="Arial"/>
              <a:buChar char="•"/>
            </a:pPr>
            <a:r>
              <a:rPr lang="en-US" sz="1300">
                <a:solidFill>
                  <a:srgbClr val="2A2F3A"/>
                </a:solidFill>
                <a:latin typeface="Arial"/>
                <a:ea typeface="Arial"/>
                <a:cs typeface="Arial"/>
                <a:sym typeface="Arial"/>
              </a:rPr>
              <a:t>Posterior uncertainty reduced by an order of magnitude on majority of domain.</a:t>
            </a:r>
            <a:endParaRPr/>
          </a:p>
        </p:txBody>
      </p:sp>
      <p:pic>
        <p:nvPicPr>
          <p:cNvPr id="199" name="Google Shape;199;p10"/>
          <p:cNvPicPr preferRelativeResize="0"/>
          <p:nvPr/>
        </p:nvPicPr>
        <p:blipFill rotWithShape="1">
          <a:blip r:embed="rId3">
            <a:alphaModFix/>
          </a:blip>
          <a:srcRect b="0" l="0" r="0" t="0"/>
          <a:stretch/>
        </p:blipFill>
        <p:spPr>
          <a:xfrm>
            <a:off x="6325419" y="1066800"/>
            <a:ext cx="5496232" cy="529521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11"/>
          <p:cNvSpPr txBox="1"/>
          <p:nvPr>
            <p:ph type="title"/>
          </p:nvPr>
        </p:nvSpPr>
        <p:spPr>
          <a:xfrm>
            <a:off x="838200" y="355475"/>
            <a:ext cx="10515600" cy="823800"/>
          </a:xfrm>
          <a:prstGeom prst="rect">
            <a:avLst/>
          </a:prstGeom>
          <a:solidFill>
            <a:srgbClr val="000000">
              <a:alpha val="0"/>
            </a:srgbClr>
          </a:solidFill>
          <a:ln>
            <a:noFill/>
          </a:ln>
        </p:spPr>
        <p:txBody>
          <a:bodyPr anchorCtr="0" anchor="ctr" bIns="47625" lIns="95250" spcFirstLastPara="1" rIns="95250" wrap="square" tIns="47625">
            <a:normAutofit/>
          </a:bodyPr>
          <a:lstStyle/>
          <a:p>
            <a:pPr indent="0" lvl="0" marL="0" rtl="0" algn="l">
              <a:lnSpc>
                <a:spcPct val="90000"/>
              </a:lnSpc>
              <a:spcBef>
                <a:spcPts val="0"/>
              </a:spcBef>
              <a:spcAft>
                <a:spcPts val="0"/>
              </a:spcAft>
              <a:buClr>
                <a:srgbClr val="1C2433"/>
              </a:buClr>
              <a:buSzPts val="4000"/>
              <a:buFont typeface="Playfair Display"/>
              <a:buNone/>
            </a:pPr>
            <a:r>
              <a:rPr b="1" lang="en-US" sz="4000">
                <a:solidFill>
                  <a:srgbClr val="1C2433"/>
                </a:solidFill>
                <a:latin typeface="Playfair Display"/>
                <a:ea typeface="Playfair Display"/>
                <a:cs typeface="Playfair Display"/>
                <a:sym typeface="Playfair Display"/>
              </a:rPr>
              <a:t>Case Study: California Housing Dataset</a:t>
            </a:r>
            <a:endParaRPr b="1" sz="4000">
              <a:solidFill>
                <a:srgbClr val="1C2433"/>
              </a:solidFill>
              <a:latin typeface="Playfair Display"/>
              <a:ea typeface="Playfair Display"/>
              <a:cs typeface="Playfair Display"/>
              <a:sym typeface="Playfair Display"/>
            </a:endParaRPr>
          </a:p>
        </p:txBody>
      </p:sp>
      <p:pic>
        <p:nvPicPr>
          <p:cNvPr id="205" name="Google Shape;205;p11"/>
          <p:cNvPicPr preferRelativeResize="0"/>
          <p:nvPr/>
        </p:nvPicPr>
        <p:blipFill rotWithShape="1">
          <a:blip r:embed="rId3">
            <a:alphaModFix/>
          </a:blip>
          <a:srcRect b="308" l="0" r="0" t="308"/>
          <a:stretch/>
        </p:blipFill>
        <p:spPr>
          <a:xfrm>
            <a:off x="122903" y="1345751"/>
            <a:ext cx="3810000" cy="3429000"/>
          </a:xfrm>
          <a:prstGeom prst="rect">
            <a:avLst/>
          </a:prstGeom>
          <a:noFill/>
          <a:ln>
            <a:noFill/>
          </a:ln>
        </p:spPr>
      </p:pic>
      <p:sp>
        <p:nvSpPr>
          <p:cNvPr id="206" name="Google Shape;206;p11"/>
          <p:cNvSpPr txBox="1"/>
          <p:nvPr/>
        </p:nvSpPr>
        <p:spPr>
          <a:xfrm>
            <a:off x="122903" y="5009360"/>
            <a:ext cx="3810000" cy="28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2433"/>
              </a:buClr>
              <a:buSzPts val="1200"/>
              <a:buFont typeface="Arial"/>
              <a:buNone/>
            </a:pPr>
            <a:r>
              <a:rPr b="1" lang="en-US" sz="1200">
                <a:solidFill>
                  <a:srgbClr val="1C2433"/>
                </a:solidFill>
                <a:latin typeface="Arial"/>
                <a:ea typeface="Arial"/>
                <a:cs typeface="Arial"/>
                <a:sym typeface="Arial"/>
              </a:rPr>
              <a:t>Full Dataset (N=20640)</a:t>
            </a:r>
            <a:endParaRPr b="1" sz="1200">
              <a:solidFill>
                <a:srgbClr val="1C2433"/>
              </a:solidFill>
              <a:latin typeface="Arial"/>
              <a:ea typeface="Arial"/>
              <a:cs typeface="Arial"/>
              <a:sym typeface="Arial"/>
            </a:endParaRPr>
          </a:p>
        </p:txBody>
      </p:sp>
      <p:graphicFrame>
        <p:nvGraphicFramePr>
          <p:cNvPr id="207" name="Google Shape;207;p11"/>
          <p:cNvGraphicFramePr/>
          <p:nvPr/>
        </p:nvGraphicFramePr>
        <p:xfrm>
          <a:off x="4191000" y="1778000"/>
          <a:ext cx="3000000" cy="3000000"/>
        </p:xfrm>
        <a:graphic>
          <a:graphicData uri="http://schemas.openxmlformats.org/drawingml/2006/table">
            <a:tbl>
              <a:tblPr bandRow="1" firstRow="1">
                <a:noFill/>
                <a:tableStyleId>{C4B4C612-A854-4467-B27F-2AA4FA1A2282}</a:tableStyleId>
              </a:tblPr>
              <a:tblGrid>
                <a:gridCol w="1651000"/>
                <a:gridCol w="889000"/>
                <a:gridCol w="5207000"/>
              </a:tblGrid>
              <a:tr h="381000">
                <a:tc>
                  <a:txBody>
                    <a:bodyPr/>
                    <a:lstStyle/>
                    <a:p>
                      <a:pPr indent="0" lvl="0" marL="0" marR="0" rtl="0" algn="l">
                        <a:spcBef>
                          <a:spcPts val="0"/>
                        </a:spcBef>
                        <a:spcAft>
                          <a:spcPts val="0"/>
                        </a:spcAft>
                        <a:buNone/>
                      </a:pPr>
                      <a:r>
                        <a:rPr b="1" lang="en-US" sz="1200" u="none" cap="none" strike="noStrike">
                          <a:solidFill>
                            <a:srgbClr val="FFFFFF"/>
                          </a:solidFill>
                          <a:latin typeface="Arial"/>
                          <a:ea typeface="Arial"/>
                          <a:cs typeface="Arial"/>
                          <a:sym typeface="Arial"/>
                        </a:rPr>
                        <a:t>Column</a:t>
                      </a:r>
                      <a:endParaRPr/>
                    </a:p>
                  </a:txBody>
                  <a:tcPr marT="45725" marB="45725" marR="91450" marL="91450" anchor="ctr">
                    <a:solidFill>
                      <a:srgbClr val="2C4A6E"/>
                    </a:solidFill>
                  </a:tcPr>
                </a:tc>
                <a:tc>
                  <a:txBody>
                    <a:bodyPr/>
                    <a:lstStyle/>
                    <a:p>
                      <a:pPr indent="0" lvl="0" marL="0" marR="0" rtl="0" algn="l">
                        <a:spcBef>
                          <a:spcPts val="0"/>
                        </a:spcBef>
                        <a:spcAft>
                          <a:spcPts val="0"/>
                        </a:spcAft>
                        <a:buNone/>
                      </a:pPr>
                      <a:r>
                        <a:rPr b="1" lang="en-US" sz="1200" u="none" cap="none" strike="noStrike">
                          <a:solidFill>
                            <a:srgbClr val="FFFFFF"/>
                          </a:solidFill>
                          <a:latin typeface="Arial"/>
                          <a:ea typeface="Arial"/>
                          <a:cs typeface="Arial"/>
                          <a:sym typeface="Arial"/>
                        </a:rPr>
                        <a:t>Type</a:t>
                      </a:r>
                      <a:endParaRPr/>
                    </a:p>
                  </a:txBody>
                  <a:tcPr marT="45725" marB="45725" marR="91450" marL="91450" anchor="ctr">
                    <a:solidFill>
                      <a:srgbClr val="2C4A6E"/>
                    </a:solidFill>
                  </a:tcPr>
                </a:tc>
                <a:tc>
                  <a:txBody>
                    <a:bodyPr/>
                    <a:lstStyle/>
                    <a:p>
                      <a:pPr indent="0" lvl="0" marL="0" marR="0" rtl="0" algn="l">
                        <a:spcBef>
                          <a:spcPts val="0"/>
                        </a:spcBef>
                        <a:spcAft>
                          <a:spcPts val="0"/>
                        </a:spcAft>
                        <a:buNone/>
                      </a:pPr>
                      <a:r>
                        <a:rPr b="1" lang="en-US" sz="1200" u="none" cap="none" strike="noStrike">
                          <a:solidFill>
                            <a:srgbClr val="FFFFFF"/>
                          </a:solidFill>
                          <a:latin typeface="Arial"/>
                          <a:ea typeface="Arial"/>
                          <a:cs typeface="Arial"/>
                          <a:sym typeface="Arial"/>
                        </a:rPr>
                        <a:t>Description</a:t>
                      </a:r>
                      <a:endParaRPr/>
                    </a:p>
                  </a:txBody>
                  <a:tcPr marT="45725" marB="45725" marR="91450" marL="91450" anchor="ctr">
                    <a:solidFill>
                      <a:srgbClr val="2C4A6E"/>
                    </a:solidFill>
                  </a:tcPr>
                </a:tc>
              </a:tr>
              <a:tr h="355600">
                <a:tc>
                  <a:txBody>
                    <a:bodyPr/>
                    <a:lstStyle/>
                    <a:p>
                      <a:pPr indent="0" lvl="0" marL="0" marR="0" rtl="0" algn="l">
                        <a:spcBef>
                          <a:spcPts val="0"/>
                        </a:spcBef>
                        <a:spcAft>
                          <a:spcPts val="0"/>
                        </a:spcAft>
                        <a:buNone/>
                      </a:pPr>
                      <a:r>
                        <a:rPr b="1" lang="en-US" sz="1100" u="none" cap="none" strike="noStrike">
                          <a:solidFill>
                            <a:srgbClr val="1C2433"/>
                          </a:solidFill>
                          <a:latin typeface="Consolas"/>
                          <a:ea typeface="Consolas"/>
                          <a:cs typeface="Consolas"/>
                          <a:sym typeface="Consolas"/>
                        </a:rPr>
                        <a:t>MedInc</a:t>
                      </a:r>
                      <a:endParaRPr/>
                    </a:p>
                  </a:txBody>
                  <a:tcPr marT="45725" marB="45725" marR="91450" marL="91450" anchor="ctr">
                    <a:solidFill>
                      <a:srgbClr val="FFFFFF"/>
                    </a:solidFill>
                  </a:tcPr>
                </a:tc>
                <a:tc>
                  <a:txBody>
                    <a:bodyPr/>
                    <a:lstStyle/>
                    <a:p>
                      <a:pPr indent="0" lvl="0" marL="0" marR="0" rtl="0" algn="l">
                        <a:spcBef>
                          <a:spcPts val="0"/>
                        </a:spcBef>
                        <a:spcAft>
                          <a:spcPts val="0"/>
                        </a:spcAft>
                        <a:buNone/>
                      </a:pPr>
                      <a:r>
                        <a:rPr b="0" lang="en-US" sz="1100" u="none" cap="none" strike="noStrike">
                          <a:solidFill>
                            <a:srgbClr val="1C2433"/>
                          </a:solidFill>
                          <a:latin typeface="Arial"/>
                          <a:ea typeface="Arial"/>
                          <a:cs typeface="Arial"/>
                          <a:sym typeface="Arial"/>
                        </a:rPr>
                        <a:t>Float</a:t>
                      </a:r>
                      <a:endParaRPr/>
                    </a:p>
                  </a:txBody>
                  <a:tcPr marT="45725" marB="45725" marR="91450" marL="91450" anchor="ctr">
                    <a:solidFill>
                      <a:srgbClr val="FFFFFF"/>
                    </a:solidFill>
                  </a:tcPr>
                </a:tc>
                <a:tc>
                  <a:txBody>
                    <a:bodyPr/>
                    <a:lstStyle/>
                    <a:p>
                      <a:pPr indent="0" lvl="0" marL="0" marR="0" rtl="0" algn="l">
                        <a:spcBef>
                          <a:spcPts val="0"/>
                        </a:spcBef>
                        <a:spcAft>
                          <a:spcPts val="0"/>
                        </a:spcAft>
                        <a:buNone/>
                      </a:pPr>
                      <a:r>
                        <a:rPr b="0" lang="en-US" sz="1100" u="none" cap="none" strike="noStrike">
                          <a:solidFill>
                            <a:srgbClr val="1C2433"/>
                          </a:solidFill>
                          <a:latin typeface="Arial"/>
                          <a:ea typeface="Arial"/>
                          <a:cs typeface="Arial"/>
                          <a:sym typeface="Arial"/>
                        </a:rPr>
                        <a:t>Median income in the block group</a:t>
                      </a:r>
                      <a:endParaRPr/>
                    </a:p>
                  </a:txBody>
                  <a:tcPr marT="45725" marB="45725" marR="91450" marL="91450" anchor="ctr">
                    <a:solidFill>
                      <a:srgbClr val="FFFFFF"/>
                    </a:solidFill>
                  </a:tcPr>
                </a:tc>
              </a:tr>
              <a:tr h="355600">
                <a:tc>
                  <a:txBody>
                    <a:bodyPr/>
                    <a:lstStyle/>
                    <a:p>
                      <a:pPr indent="0" lvl="0" marL="0" marR="0" rtl="0" algn="l">
                        <a:spcBef>
                          <a:spcPts val="0"/>
                        </a:spcBef>
                        <a:spcAft>
                          <a:spcPts val="0"/>
                        </a:spcAft>
                        <a:buNone/>
                      </a:pPr>
                      <a:r>
                        <a:rPr b="1" lang="en-US" sz="1100" u="none" cap="none" strike="noStrike">
                          <a:solidFill>
                            <a:srgbClr val="1C2433"/>
                          </a:solidFill>
                          <a:latin typeface="Consolas"/>
                          <a:ea typeface="Consolas"/>
                          <a:cs typeface="Consolas"/>
                          <a:sym typeface="Consolas"/>
                        </a:rPr>
                        <a:t>HouseAge</a:t>
                      </a:r>
                      <a:endParaRPr/>
                    </a:p>
                  </a:txBody>
                  <a:tcPr marT="45725" marB="45725" marR="91450" marL="91450" anchor="ctr">
                    <a:solidFill>
                      <a:srgbClr val="FBF8F3"/>
                    </a:solidFill>
                  </a:tcPr>
                </a:tc>
                <a:tc>
                  <a:txBody>
                    <a:bodyPr/>
                    <a:lstStyle/>
                    <a:p>
                      <a:pPr indent="0" lvl="0" marL="0" marR="0" rtl="0" algn="l">
                        <a:spcBef>
                          <a:spcPts val="0"/>
                        </a:spcBef>
                        <a:spcAft>
                          <a:spcPts val="0"/>
                        </a:spcAft>
                        <a:buNone/>
                      </a:pPr>
                      <a:r>
                        <a:rPr b="0" lang="en-US" sz="1100" u="none" cap="none" strike="noStrike">
                          <a:solidFill>
                            <a:srgbClr val="1C2433"/>
                          </a:solidFill>
                          <a:latin typeface="Arial"/>
                          <a:ea typeface="Arial"/>
                          <a:cs typeface="Arial"/>
                          <a:sym typeface="Arial"/>
                        </a:rPr>
                        <a:t>Float</a:t>
                      </a:r>
                      <a:endParaRPr/>
                    </a:p>
                  </a:txBody>
                  <a:tcPr marT="45725" marB="45725" marR="91450" marL="91450" anchor="ctr">
                    <a:solidFill>
                      <a:srgbClr val="FBF8F3"/>
                    </a:solidFill>
                  </a:tcPr>
                </a:tc>
                <a:tc>
                  <a:txBody>
                    <a:bodyPr/>
                    <a:lstStyle/>
                    <a:p>
                      <a:pPr indent="0" lvl="0" marL="0" marR="0" rtl="0" algn="l">
                        <a:spcBef>
                          <a:spcPts val="0"/>
                        </a:spcBef>
                        <a:spcAft>
                          <a:spcPts val="0"/>
                        </a:spcAft>
                        <a:buNone/>
                      </a:pPr>
                      <a:r>
                        <a:rPr b="0" lang="en-US" sz="1100" u="none" cap="none" strike="noStrike">
                          <a:solidFill>
                            <a:srgbClr val="1C2433"/>
                          </a:solidFill>
                          <a:latin typeface="Arial"/>
                          <a:ea typeface="Arial"/>
                          <a:cs typeface="Arial"/>
                          <a:sym typeface="Arial"/>
                        </a:rPr>
                        <a:t>Median house age in the block group</a:t>
                      </a:r>
                      <a:endParaRPr/>
                    </a:p>
                  </a:txBody>
                  <a:tcPr marT="45725" marB="45725" marR="91450" marL="91450" anchor="ctr">
                    <a:solidFill>
                      <a:srgbClr val="FBF8F3"/>
                    </a:solidFill>
                  </a:tcPr>
                </a:tc>
              </a:tr>
              <a:tr h="355600">
                <a:tc>
                  <a:txBody>
                    <a:bodyPr/>
                    <a:lstStyle/>
                    <a:p>
                      <a:pPr indent="0" lvl="0" marL="0" marR="0" rtl="0" algn="l">
                        <a:spcBef>
                          <a:spcPts val="0"/>
                        </a:spcBef>
                        <a:spcAft>
                          <a:spcPts val="0"/>
                        </a:spcAft>
                        <a:buNone/>
                      </a:pPr>
                      <a:r>
                        <a:rPr b="1" lang="en-US" sz="1100" u="none" cap="none" strike="noStrike">
                          <a:solidFill>
                            <a:srgbClr val="1C2433"/>
                          </a:solidFill>
                          <a:latin typeface="Consolas"/>
                          <a:ea typeface="Consolas"/>
                          <a:cs typeface="Consolas"/>
                          <a:sym typeface="Consolas"/>
                        </a:rPr>
                        <a:t>AveRooms</a:t>
                      </a:r>
                      <a:endParaRPr/>
                    </a:p>
                  </a:txBody>
                  <a:tcPr marT="45725" marB="45725" marR="91450" marL="91450" anchor="ctr">
                    <a:solidFill>
                      <a:srgbClr val="FFFFFF"/>
                    </a:solidFill>
                  </a:tcPr>
                </a:tc>
                <a:tc>
                  <a:txBody>
                    <a:bodyPr/>
                    <a:lstStyle/>
                    <a:p>
                      <a:pPr indent="0" lvl="0" marL="0" marR="0" rtl="0" algn="l">
                        <a:spcBef>
                          <a:spcPts val="0"/>
                        </a:spcBef>
                        <a:spcAft>
                          <a:spcPts val="0"/>
                        </a:spcAft>
                        <a:buNone/>
                      </a:pPr>
                      <a:r>
                        <a:rPr b="0" lang="en-US" sz="1100" u="none" cap="none" strike="noStrike">
                          <a:solidFill>
                            <a:srgbClr val="1C2433"/>
                          </a:solidFill>
                          <a:latin typeface="Arial"/>
                          <a:ea typeface="Arial"/>
                          <a:cs typeface="Arial"/>
                          <a:sym typeface="Arial"/>
                        </a:rPr>
                        <a:t>Float</a:t>
                      </a:r>
                      <a:endParaRPr/>
                    </a:p>
                  </a:txBody>
                  <a:tcPr marT="45725" marB="45725" marR="91450" marL="91450" anchor="ctr">
                    <a:solidFill>
                      <a:srgbClr val="FFFFFF"/>
                    </a:solidFill>
                  </a:tcPr>
                </a:tc>
                <a:tc>
                  <a:txBody>
                    <a:bodyPr/>
                    <a:lstStyle/>
                    <a:p>
                      <a:pPr indent="0" lvl="0" marL="0" marR="0" rtl="0" algn="l">
                        <a:spcBef>
                          <a:spcPts val="0"/>
                        </a:spcBef>
                        <a:spcAft>
                          <a:spcPts val="0"/>
                        </a:spcAft>
                        <a:buNone/>
                      </a:pPr>
                      <a:r>
                        <a:rPr b="0" lang="en-US" sz="1100" u="none" cap="none" strike="noStrike">
                          <a:solidFill>
                            <a:srgbClr val="1C2433"/>
                          </a:solidFill>
                          <a:latin typeface="Arial"/>
                          <a:ea typeface="Arial"/>
                          <a:cs typeface="Arial"/>
                          <a:sym typeface="Arial"/>
                        </a:rPr>
                        <a:t>Average number of rooms per household</a:t>
                      </a:r>
                      <a:endParaRPr/>
                    </a:p>
                  </a:txBody>
                  <a:tcPr marT="45725" marB="45725" marR="91450" marL="91450" anchor="ctr">
                    <a:solidFill>
                      <a:srgbClr val="FFFFFF"/>
                    </a:solidFill>
                  </a:tcPr>
                </a:tc>
              </a:tr>
              <a:tr h="355600">
                <a:tc>
                  <a:txBody>
                    <a:bodyPr/>
                    <a:lstStyle/>
                    <a:p>
                      <a:pPr indent="0" lvl="0" marL="0" marR="0" rtl="0" algn="l">
                        <a:spcBef>
                          <a:spcPts val="0"/>
                        </a:spcBef>
                        <a:spcAft>
                          <a:spcPts val="0"/>
                        </a:spcAft>
                        <a:buNone/>
                      </a:pPr>
                      <a:r>
                        <a:rPr b="1" lang="en-US" sz="1100" u="none" cap="none" strike="noStrike">
                          <a:solidFill>
                            <a:srgbClr val="1C2433"/>
                          </a:solidFill>
                          <a:latin typeface="Consolas"/>
                          <a:ea typeface="Consolas"/>
                          <a:cs typeface="Consolas"/>
                          <a:sym typeface="Consolas"/>
                        </a:rPr>
                        <a:t>AveBedrms</a:t>
                      </a:r>
                      <a:endParaRPr/>
                    </a:p>
                  </a:txBody>
                  <a:tcPr marT="45725" marB="45725" marR="91450" marL="91450" anchor="ctr">
                    <a:solidFill>
                      <a:srgbClr val="FBF8F3"/>
                    </a:solidFill>
                  </a:tcPr>
                </a:tc>
                <a:tc>
                  <a:txBody>
                    <a:bodyPr/>
                    <a:lstStyle/>
                    <a:p>
                      <a:pPr indent="0" lvl="0" marL="0" marR="0" rtl="0" algn="l">
                        <a:spcBef>
                          <a:spcPts val="0"/>
                        </a:spcBef>
                        <a:spcAft>
                          <a:spcPts val="0"/>
                        </a:spcAft>
                        <a:buNone/>
                      </a:pPr>
                      <a:r>
                        <a:rPr b="0" lang="en-US" sz="1100" u="none" cap="none" strike="noStrike">
                          <a:solidFill>
                            <a:srgbClr val="1C2433"/>
                          </a:solidFill>
                          <a:latin typeface="Arial"/>
                          <a:ea typeface="Arial"/>
                          <a:cs typeface="Arial"/>
                          <a:sym typeface="Arial"/>
                        </a:rPr>
                        <a:t>Float</a:t>
                      </a:r>
                      <a:endParaRPr/>
                    </a:p>
                  </a:txBody>
                  <a:tcPr marT="45725" marB="45725" marR="91450" marL="91450" anchor="ctr">
                    <a:solidFill>
                      <a:srgbClr val="FBF8F3"/>
                    </a:solidFill>
                  </a:tcPr>
                </a:tc>
                <a:tc>
                  <a:txBody>
                    <a:bodyPr/>
                    <a:lstStyle/>
                    <a:p>
                      <a:pPr indent="0" lvl="0" marL="0" marR="0" rtl="0" algn="l">
                        <a:spcBef>
                          <a:spcPts val="0"/>
                        </a:spcBef>
                        <a:spcAft>
                          <a:spcPts val="0"/>
                        </a:spcAft>
                        <a:buNone/>
                      </a:pPr>
                      <a:r>
                        <a:rPr b="0" lang="en-US" sz="1100" u="none" cap="none" strike="noStrike">
                          <a:solidFill>
                            <a:srgbClr val="1C2433"/>
                          </a:solidFill>
                          <a:latin typeface="Arial"/>
                          <a:ea typeface="Arial"/>
                          <a:cs typeface="Arial"/>
                          <a:sym typeface="Arial"/>
                        </a:rPr>
                        <a:t>Average number of bedrooms per household</a:t>
                      </a:r>
                      <a:endParaRPr/>
                    </a:p>
                  </a:txBody>
                  <a:tcPr marT="45725" marB="45725" marR="91450" marL="91450" anchor="ctr">
                    <a:solidFill>
                      <a:srgbClr val="FBF8F3"/>
                    </a:solidFill>
                  </a:tcPr>
                </a:tc>
              </a:tr>
              <a:tr h="355600">
                <a:tc>
                  <a:txBody>
                    <a:bodyPr/>
                    <a:lstStyle/>
                    <a:p>
                      <a:pPr indent="0" lvl="0" marL="0" marR="0" rtl="0" algn="l">
                        <a:spcBef>
                          <a:spcPts val="0"/>
                        </a:spcBef>
                        <a:spcAft>
                          <a:spcPts val="0"/>
                        </a:spcAft>
                        <a:buNone/>
                      </a:pPr>
                      <a:r>
                        <a:rPr b="1" lang="en-US" sz="1100" u="none" cap="none" strike="noStrike">
                          <a:solidFill>
                            <a:srgbClr val="1C2433"/>
                          </a:solidFill>
                          <a:latin typeface="Consolas"/>
                          <a:ea typeface="Consolas"/>
                          <a:cs typeface="Consolas"/>
                          <a:sym typeface="Consolas"/>
                        </a:rPr>
                        <a:t>Population</a:t>
                      </a:r>
                      <a:endParaRPr/>
                    </a:p>
                  </a:txBody>
                  <a:tcPr marT="45725" marB="45725" marR="91450" marL="91450" anchor="ctr">
                    <a:solidFill>
                      <a:srgbClr val="FFFFFF"/>
                    </a:solidFill>
                  </a:tcPr>
                </a:tc>
                <a:tc>
                  <a:txBody>
                    <a:bodyPr/>
                    <a:lstStyle/>
                    <a:p>
                      <a:pPr indent="0" lvl="0" marL="0" marR="0" rtl="0" algn="l">
                        <a:spcBef>
                          <a:spcPts val="0"/>
                        </a:spcBef>
                        <a:spcAft>
                          <a:spcPts val="0"/>
                        </a:spcAft>
                        <a:buNone/>
                      </a:pPr>
                      <a:r>
                        <a:rPr b="0" lang="en-US" sz="1100" u="none" cap="none" strike="noStrike">
                          <a:solidFill>
                            <a:srgbClr val="1C2433"/>
                          </a:solidFill>
                          <a:latin typeface="Arial"/>
                          <a:ea typeface="Arial"/>
                          <a:cs typeface="Arial"/>
                          <a:sym typeface="Arial"/>
                        </a:rPr>
                        <a:t>Float</a:t>
                      </a:r>
                      <a:endParaRPr/>
                    </a:p>
                  </a:txBody>
                  <a:tcPr marT="45725" marB="45725" marR="91450" marL="91450" anchor="ctr">
                    <a:solidFill>
                      <a:srgbClr val="FFFFFF"/>
                    </a:solidFill>
                  </a:tcPr>
                </a:tc>
                <a:tc>
                  <a:txBody>
                    <a:bodyPr/>
                    <a:lstStyle/>
                    <a:p>
                      <a:pPr indent="0" lvl="0" marL="0" marR="0" rtl="0" algn="l">
                        <a:spcBef>
                          <a:spcPts val="0"/>
                        </a:spcBef>
                        <a:spcAft>
                          <a:spcPts val="0"/>
                        </a:spcAft>
                        <a:buNone/>
                      </a:pPr>
                      <a:r>
                        <a:rPr b="0" lang="en-US" sz="1100" u="none" cap="none" strike="noStrike">
                          <a:solidFill>
                            <a:srgbClr val="1C2433"/>
                          </a:solidFill>
                          <a:latin typeface="Arial"/>
                          <a:ea typeface="Arial"/>
                          <a:cs typeface="Arial"/>
                          <a:sym typeface="Arial"/>
                        </a:rPr>
                        <a:t>Total block group population</a:t>
                      </a:r>
                      <a:endParaRPr/>
                    </a:p>
                  </a:txBody>
                  <a:tcPr marT="45725" marB="45725" marR="91450" marL="91450" anchor="ctr">
                    <a:solidFill>
                      <a:srgbClr val="FFFFFF"/>
                    </a:solidFill>
                  </a:tcPr>
                </a:tc>
              </a:tr>
              <a:tr h="355600">
                <a:tc>
                  <a:txBody>
                    <a:bodyPr/>
                    <a:lstStyle/>
                    <a:p>
                      <a:pPr indent="0" lvl="0" marL="0" marR="0" rtl="0" algn="l">
                        <a:spcBef>
                          <a:spcPts val="0"/>
                        </a:spcBef>
                        <a:spcAft>
                          <a:spcPts val="0"/>
                        </a:spcAft>
                        <a:buNone/>
                      </a:pPr>
                      <a:r>
                        <a:rPr b="1" lang="en-US" sz="1100" u="none" cap="none" strike="noStrike">
                          <a:solidFill>
                            <a:srgbClr val="1C2433"/>
                          </a:solidFill>
                          <a:latin typeface="Consolas"/>
                          <a:ea typeface="Consolas"/>
                          <a:cs typeface="Consolas"/>
                          <a:sym typeface="Consolas"/>
                        </a:rPr>
                        <a:t>AveOccup</a:t>
                      </a:r>
                      <a:endParaRPr/>
                    </a:p>
                  </a:txBody>
                  <a:tcPr marT="45725" marB="45725" marR="91450" marL="91450" anchor="ctr">
                    <a:solidFill>
                      <a:srgbClr val="FBF8F3"/>
                    </a:solidFill>
                  </a:tcPr>
                </a:tc>
                <a:tc>
                  <a:txBody>
                    <a:bodyPr/>
                    <a:lstStyle/>
                    <a:p>
                      <a:pPr indent="0" lvl="0" marL="0" marR="0" rtl="0" algn="l">
                        <a:spcBef>
                          <a:spcPts val="0"/>
                        </a:spcBef>
                        <a:spcAft>
                          <a:spcPts val="0"/>
                        </a:spcAft>
                        <a:buNone/>
                      </a:pPr>
                      <a:r>
                        <a:rPr b="0" lang="en-US" sz="1100" u="none" cap="none" strike="noStrike">
                          <a:solidFill>
                            <a:srgbClr val="1C2433"/>
                          </a:solidFill>
                          <a:latin typeface="Arial"/>
                          <a:ea typeface="Arial"/>
                          <a:cs typeface="Arial"/>
                          <a:sym typeface="Arial"/>
                        </a:rPr>
                        <a:t>Float</a:t>
                      </a:r>
                      <a:endParaRPr/>
                    </a:p>
                  </a:txBody>
                  <a:tcPr marT="45725" marB="45725" marR="91450" marL="91450" anchor="ctr">
                    <a:solidFill>
                      <a:srgbClr val="FBF8F3"/>
                    </a:solidFill>
                  </a:tcPr>
                </a:tc>
                <a:tc>
                  <a:txBody>
                    <a:bodyPr/>
                    <a:lstStyle/>
                    <a:p>
                      <a:pPr indent="0" lvl="0" marL="0" marR="0" rtl="0" algn="l">
                        <a:spcBef>
                          <a:spcPts val="0"/>
                        </a:spcBef>
                        <a:spcAft>
                          <a:spcPts val="0"/>
                        </a:spcAft>
                        <a:buNone/>
                      </a:pPr>
                      <a:r>
                        <a:rPr b="0" lang="en-US" sz="1100" u="none" cap="none" strike="noStrike">
                          <a:solidFill>
                            <a:srgbClr val="1C2433"/>
                          </a:solidFill>
                          <a:latin typeface="Arial"/>
                          <a:ea typeface="Arial"/>
                          <a:cs typeface="Arial"/>
                          <a:sym typeface="Arial"/>
                        </a:rPr>
                        <a:t>Average number of household members</a:t>
                      </a:r>
                      <a:endParaRPr/>
                    </a:p>
                  </a:txBody>
                  <a:tcPr marT="45725" marB="45725" marR="91450" marL="91450" anchor="ctr">
                    <a:solidFill>
                      <a:srgbClr val="FBF8F3"/>
                    </a:solidFill>
                  </a:tcPr>
                </a:tc>
              </a:tr>
              <a:tr h="355600">
                <a:tc>
                  <a:txBody>
                    <a:bodyPr/>
                    <a:lstStyle/>
                    <a:p>
                      <a:pPr indent="0" lvl="0" marL="0" marR="0" rtl="0" algn="l">
                        <a:spcBef>
                          <a:spcPts val="0"/>
                        </a:spcBef>
                        <a:spcAft>
                          <a:spcPts val="0"/>
                        </a:spcAft>
                        <a:buNone/>
                      </a:pPr>
                      <a:r>
                        <a:rPr b="1" lang="en-US" sz="1100" u="none" cap="none" strike="noStrike">
                          <a:solidFill>
                            <a:srgbClr val="1C2433"/>
                          </a:solidFill>
                          <a:latin typeface="Consolas"/>
                          <a:ea typeface="Consolas"/>
                          <a:cs typeface="Consolas"/>
                          <a:sym typeface="Consolas"/>
                        </a:rPr>
                        <a:t>Latitude</a:t>
                      </a:r>
                      <a:endParaRPr/>
                    </a:p>
                  </a:txBody>
                  <a:tcPr marT="45725" marB="45725" marR="91450" marL="91450" anchor="ctr">
                    <a:solidFill>
                      <a:srgbClr val="EAF0F5"/>
                    </a:solidFill>
                  </a:tcPr>
                </a:tc>
                <a:tc>
                  <a:txBody>
                    <a:bodyPr/>
                    <a:lstStyle/>
                    <a:p>
                      <a:pPr indent="0" lvl="0" marL="0" marR="0" rtl="0" algn="l">
                        <a:spcBef>
                          <a:spcPts val="0"/>
                        </a:spcBef>
                        <a:spcAft>
                          <a:spcPts val="0"/>
                        </a:spcAft>
                        <a:buNone/>
                      </a:pPr>
                      <a:r>
                        <a:rPr b="0" lang="en-US" sz="1100" u="none" cap="none" strike="noStrike">
                          <a:solidFill>
                            <a:srgbClr val="1C2433"/>
                          </a:solidFill>
                          <a:latin typeface="Arial"/>
                          <a:ea typeface="Arial"/>
                          <a:cs typeface="Arial"/>
                          <a:sym typeface="Arial"/>
                        </a:rPr>
                        <a:t>Float</a:t>
                      </a:r>
                      <a:endParaRPr/>
                    </a:p>
                  </a:txBody>
                  <a:tcPr marT="45725" marB="45725" marR="91450" marL="91450" anchor="ctr">
                    <a:solidFill>
                      <a:srgbClr val="EAF0F5"/>
                    </a:solidFill>
                  </a:tcPr>
                </a:tc>
                <a:tc>
                  <a:txBody>
                    <a:bodyPr/>
                    <a:lstStyle/>
                    <a:p>
                      <a:pPr indent="0" lvl="0" marL="0" marR="0" rtl="0" algn="l">
                        <a:spcBef>
                          <a:spcPts val="0"/>
                        </a:spcBef>
                        <a:spcAft>
                          <a:spcPts val="0"/>
                        </a:spcAft>
                        <a:buNone/>
                      </a:pPr>
                      <a:r>
                        <a:rPr b="1" lang="en-US" sz="1100" u="none" cap="none" strike="noStrike">
                          <a:solidFill>
                            <a:srgbClr val="1C2433"/>
                          </a:solidFill>
                          <a:latin typeface="Arial"/>
                          <a:ea typeface="Arial"/>
                          <a:cs typeface="Arial"/>
                          <a:sym typeface="Arial"/>
                        </a:rPr>
                        <a:t>Spatial input (X₂): block group latitude</a:t>
                      </a:r>
                      <a:endParaRPr/>
                    </a:p>
                  </a:txBody>
                  <a:tcPr marT="45725" marB="45725" marR="91450" marL="91450" anchor="ctr">
                    <a:solidFill>
                      <a:srgbClr val="EAF0F5"/>
                    </a:solidFill>
                  </a:tcPr>
                </a:tc>
              </a:tr>
              <a:tr h="355600">
                <a:tc>
                  <a:txBody>
                    <a:bodyPr/>
                    <a:lstStyle/>
                    <a:p>
                      <a:pPr indent="0" lvl="0" marL="0" marR="0" rtl="0" algn="l">
                        <a:spcBef>
                          <a:spcPts val="0"/>
                        </a:spcBef>
                        <a:spcAft>
                          <a:spcPts val="0"/>
                        </a:spcAft>
                        <a:buNone/>
                      </a:pPr>
                      <a:r>
                        <a:rPr b="1" lang="en-US" sz="1100" u="none" cap="none" strike="noStrike">
                          <a:solidFill>
                            <a:srgbClr val="1C2433"/>
                          </a:solidFill>
                          <a:latin typeface="Consolas"/>
                          <a:ea typeface="Consolas"/>
                          <a:cs typeface="Consolas"/>
                          <a:sym typeface="Consolas"/>
                        </a:rPr>
                        <a:t>Longitude</a:t>
                      </a:r>
                      <a:endParaRPr/>
                    </a:p>
                  </a:txBody>
                  <a:tcPr marT="45725" marB="45725" marR="91450" marL="91450" anchor="ctr">
                    <a:solidFill>
                      <a:srgbClr val="EAF0F5"/>
                    </a:solidFill>
                  </a:tcPr>
                </a:tc>
                <a:tc>
                  <a:txBody>
                    <a:bodyPr/>
                    <a:lstStyle/>
                    <a:p>
                      <a:pPr indent="0" lvl="0" marL="0" marR="0" rtl="0" algn="l">
                        <a:spcBef>
                          <a:spcPts val="0"/>
                        </a:spcBef>
                        <a:spcAft>
                          <a:spcPts val="0"/>
                        </a:spcAft>
                        <a:buNone/>
                      </a:pPr>
                      <a:r>
                        <a:rPr b="0" lang="en-US" sz="1100" u="none" cap="none" strike="noStrike">
                          <a:solidFill>
                            <a:srgbClr val="1C2433"/>
                          </a:solidFill>
                          <a:latin typeface="Arial"/>
                          <a:ea typeface="Arial"/>
                          <a:cs typeface="Arial"/>
                          <a:sym typeface="Arial"/>
                        </a:rPr>
                        <a:t>Float</a:t>
                      </a:r>
                      <a:endParaRPr/>
                    </a:p>
                  </a:txBody>
                  <a:tcPr marT="45725" marB="45725" marR="91450" marL="91450" anchor="ctr">
                    <a:solidFill>
                      <a:srgbClr val="EAF0F5"/>
                    </a:solidFill>
                  </a:tcPr>
                </a:tc>
                <a:tc>
                  <a:txBody>
                    <a:bodyPr/>
                    <a:lstStyle/>
                    <a:p>
                      <a:pPr indent="0" lvl="0" marL="0" marR="0" rtl="0" algn="l">
                        <a:spcBef>
                          <a:spcPts val="0"/>
                        </a:spcBef>
                        <a:spcAft>
                          <a:spcPts val="0"/>
                        </a:spcAft>
                        <a:buNone/>
                      </a:pPr>
                      <a:r>
                        <a:rPr b="1" lang="en-US" sz="1100" u="none" cap="none" strike="noStrike">
                          <a:solidFill>
                            <a:srgbClr val="1C2433"/>
                          </a:solidFill>
                          <a:latin typeface="Arial"/>
                          <a:ea typeface="Arial"/>
                          <a:cs typeface="Arial"/>
                          <a:sym typeface="Arial"/>
                        </a:rPr>
                        <a:t>Spatial input (X₁): block group longitude</a:t>
                      </a:r>
                      <a:endParaRPr/>
                    </a:p>
                  </a:txBody>
                  <a:tcPr marT="45725" marB="45725" marR="91450" marL="91450" anchor="ctr">
                    <a:solidFill>
                      <a:srgbClr val="EAF0F5"/>
                    </a:solidFill>
                  </a:tcPr>
                </a:tc>
              </a:tr>
              <a:tr h="355600">
                <a:tc>
                  <a:txBody>
                    <a:bodyPr/>
                    <a:lstStyle/>
                    <a:p>
                      <a:pPr indent="0" lvl="0" marL="0" marR="0" rtl="0" algn="l">
                        <a:spcBef>
                          <a:spcPts val="0"/>
                        </a:spcBef>
                        <a:spcAft>
                          <a:spcPts val="0"/>
                        </a:spcAft>
                        <a:buNone/>
                      </a:pPr>
                      <a:r>
                        <a:rPr b="1" lang="en-US" sz="1100" u="none" cap="none" strike="noStrike">
                          <a:solidFill>
                            <a:srgbClr val="1C2433"/>
                          </a:solidFill>
                          <a:latin typeface="Consolas"/>
                          <a:ea typeface="Consolas"/>
                          <a:cs typeface="Consolas"/>
                          <a:sym typeface="Consolas"/>
                        </a:rPr>
                        <a:t>MedHouseVal</a:t>
                      </a:r>
                      <a:endParaRPr/>
                    </a:p>
                  </a:txBody>
                  <a:tcPr marT="45725" marB="45725" marR="91450" marL="91450" anchor="ctr">
                    <a:solidFill>
                      <a:srgbClr val="F0E6D2"/>
                    </a:solidFill>
                  </a:tcPr>
                </a:tc>
                <a:tc>
                  <a:txBody>
                    <a:bodyPr/>
                    <a:lstStyle/>
                    <a:p>
                      <a:pPr indent="0" lvl="0" marL="0" marR="0" rtl="0" algn="l">
                        <a:spcBef>
                          <a:spcPts val="0"/>
                        </a:spcBef>
                        <a:spcAft>
                          <a:spcPts val="0"/>
                        </a:spcAft>
                        <a:buNone/>
                      </a:pPr>
                      <a:r>
                        <a:rPr b="0" lang="en-US" sz="1100" u="none" cap="none" strike="noStrike">
                          <a:solidFill>
                            <a:srgbClr val="1C2433"/>
                          </a:solidFill>
                          <a:latin typeface="Arial"/>
                          <a:ea typeface="Arial"/>
                          <a:cs typeface="Arial"/>
                          <a:sym typeface="Arial"/>
                        </a:rPr>
                        <a:t>Float</a:t>
                      </a:r>
                      <a:endParaRPr/>
                    </a:p>
                  </a:txBody>
                  <a:tcPr marT="45725" marB="45725" marR="91450" marL="91450" anchor="ctr">
                    <a:solidFill>
                      <a:srgbClr val="F0E6D2"/>
                    </a:solidFill>
                  </a:tcPr>
                </a:tc>
                <a:tc>
                  <a:txBody>
                    <a:bodyPr/>
                    <a:lstStyle/>
                    <a:p>
                      <a:pPr indent="0" lvl="0" marL="0" marR="0" rtl="0" algn="l">
                        <a:spcBef>
                          <a:spcPts val="0"/>
                        </a:spcBef>
                        <a:spcAft>
                          <a:spcPts val="0"/>
                        </a:spcAft>
                        <a:buNone/>
                      </a:pPr>
                      <a:r>
                        <a:rPr b="1" lang="en-US" sz="1100" u="none" cap="none" strike="noStrike">
                          <a:solidFill>
                            <a:srgbClr val="1C2433"/>
                          </a:solidFill>
                          <a:latin typeface="Arial"/>
                          <a:ea typeface="Arial"/>
                          <a:cs typeface="Arial"/>
                          <a:sym typeface="Arial"/>
                        </a:rPr>
                        <a:t>Target: median house value (×$100,000)</a:t>
                      </a:r>
                      <a:endParaRPr/>
                    </a:p>
                  </a:txBody>
                  <a:tcPr marT="45725" marB="45725" marR="91450" marL="91450" anchor="ctr">
                    <a:solidFill>
                      <a:srgbClr val="F0E6D2"/>
                    </a:solidFill>
                  </a:tcPr>
                </a:tc>
              </a:tr>
            </a:tbl>
          </a:graphicData>
        </a:graphic>
      </p:graphicFrame>
      <p:sp>
        <p:nvSpPr>
          <p:cNvPr id="208" name="Google Shape;208;p11"/>
          <p:cNvSpPr txBox="1"/>
          <p:nvPr/>
        </p:nvSpPr>
        <p:spPr>
          <a:xfrm>
            <a:off x="4191000" y="1270000"/>
            <a:ext cx="7747000" cy="508000"/>
          </a:xfrm>
          <a:prstGeom prst="rect">
            <a:avLst/>
          </a:prstGeom>
          <a:noFill/>
          <a:ln>
            <a:noFill/>
          </a:ln>
        </p:spPr>
        <p:txBody>
          <a:bodyPr anchorCtr="0" anchor="t" bIns="45700" lIns="91425" spcFirstLastPara="1" rIns="91425" wrap="square" tIns="45700">
            <a:normAutofit lnSpcReduction="10000"/>
          </a:bodyPr>
          <a:lstStyle/>
          <a:p>
            <a:pPr indent="0" lvl="0" marL="0" marR="0" rtl="0" algn="l">
              <a:spcBef>
                <a:spcPts val="0"/>
              </a:spcBef>
              <a:spcAft>
                <a:spcPts val="0"/>
              </a:spcAft>
              <a:buClr>
                <a:srgbClr val="1C2433"/>
              </a:buClr>
              <a:buSzPts val="1400"/>
              <a:buFont typeface="Arial"/>
              <a:buNone/>
            </a:pPr>
            <a:r>
              <a:rPr b="1" lang="en-US" sz="1400">
                <a:solidFill>
                  <a:srgbClr val="1C2433"/>
                </a:solidFill>
                <a:latin typeface="Arial"/>
                <a:ea typeface="Arial"/>
                <a:cs typeface="Arial"/>
                <a:sym typeface="Arial"/>
              </a:rPr>
              <a:t>Dataset Overview</a:t>
            </a:r>
            <a:endParaRPr/>
          </a:p>
          <a:p>
            <a:pPr indent="0" lvl="0" marL="0" marR="0" rtl="0" algn="l">
              <a:spcBef>
                <a:spcPts val="400"/>
              </a:spcBef>
              <a:spcAft>
                <a:spcPts val="0"/>
              </a:spcAft>
              <a:buClr>
                <a:srgbClr val="2A2F3A"/>
              </a:buClr>
              <a:buSzPts val="1200"/>
              <a:buFont typeface="Arial"/>
              <a:buNone/>
            </a:pPr>
            <a:r>
              <a:rPr lang="en-US" sz="1200">
                <a:solidFill>
                  <a:srgbClr val="2A2F3A"/>
                </a:solidFill>
                <a:latin typeface="Arial"/>
                <a:ea typeface="Arial"/>
                <a:cs typeface="Arial"/>
                <a:sym typeface="Arial"/>
              </a:rPr>
              <a:t>Based on the 1990 U.S. Census. Each row is a "block group" (600–3,000 people); target is median house value.</a:t>
            </a:r>
            <a:endParaRPr/>
          </a:p>
        </p:txBody>
      </p:sp>
      <p:sp>
        <p:nvSpPr>
          <p:cNvPr id="209" name="Google Shape;209;p11"/>
          <p:cNvSpPr txBox="1"/>
          <p:nvPr/>
        </p:nvSpPr>
        <p:spPr>
          <a:xfrm>
            <a:off x="4191000" y="5486400"/>
            <a:ext cx="7747000" cy="2794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64748B"/>
              </a:buClr>
              <a:buSzPts val="1100"/>
              <a:buFont typeface="Arial"/>
              <a:buNone/>
            </a:pPr>
            <a:r>
              <a:rPr i="1" lang="en-US" sz="1100">
                <a:solidFill>
                  <a:srgbClr val="64748B"/>
                </a:solidFill>
                <a:latin typeface="Arial"/>
                <a:ea typeface="Arial"/>
                <a:cs typeface="Arial"/>
                <a:sym typeface="Arial"/>
              </a:rPr>
              <a:t>Spatial inputs highlighted in blue; target variable highlighted in tan.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12"/>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1C2433"/>
              </a:buClr>
              <a:buSzPts val="4000"/>
              <a:buFont typeface="Playfair Display"/>
              <a:buNone/>
            </a:pPr>
            <a:r>
              <a:rPr b="1" lang="en-US" sz="4000"/>
              <a:t>Standardization </a:t>
            </a:r>
            <a:r>
              <a:rPr b="1" lang="en-US" sz="4000">
                <a:solidFill>
                  <a:srgbClr val="1C2433"/>
                </a:solidFill>
                <a:latin typeface="Playfair Display"/>
                <a:ea typeface="Playfair Display"/>
                <a:cs typeface="Playfair Display"/>
                <a:sym typeface="Playfair Display"/>
              </a:rPr>
              <a:t>&amp; Feature Selection</a:t>
            </a:r>
            <a:endParaRPr/>
          </a:p>
        </p:txBody>
      </p:sp>
      <p:pic>
        <p:nvPicPr>
          <p:cNvPr id="215" name="Google Shape;215;p12"/>
          <p:cNvPicPr preferRelativeResize="0"/>
          <p:nvPr/>
        </p:nvPicPr>
        <p:blipFill rotWithShape="1">
          <a:blip r:embed="rId3">
            <a:alphaModFix/>
          </a:blip>
          <a:srcRect b="308" l="0" r="0" t="308"/>
          <a:stretch/>
        </p:blipFill>
        <p:spPr>
          <a:xfrm>
            <a:off x="741106" y="1690688"/>
            <a:ext cx="4070801" cy="3672263"/>
          </a:xfrm>
          <a:prstGeom prst="rect">
            <a:avLst/>
          </a:prstGeom>
          <a:noFill/>
          <a:ln>
            <a:noFill/>
          </a:ln>
        </p:spPr>
      </p:pic>
      <p:sp>
        <p:nvSpPr>
          <p:cNvPr id="216" name="Google Shape;216;p12"/>
          <p:cNvSpPr txBox="1"/>
          <p:nvPr/>
        </p:nvSpPr>
        <p:spPr>
          <a:xfrm>
            <a:off x="741106" y="5424044"/>
            <a:ext cx="3810000" cy="28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2433"/>
              </a:buClr>
              <a:buSzPts val="1200"/>
              <a:buFont typeface="Arial"/>
              <a:buNone/>
            </a:pPr>
            <a:r>
              <a:rPr b="1" lang="en-US" sz="1200">
                <a:solidFill>
                  <a:srgbClr val="1C2433"/>
                </a:solidFill>
                <a:latin typeface="Arial"/>
                <a:ea typeface="Arial"/>
                <a:cs typeface="Arial"/>
                <a:sym typeface="Arial"/>
              </a:rPr>
              <a:t>Training Dataset (N=</a:t>
            </a:r>
            <a:r>
              <a:rPr b="1" lang="en-US" sz="1200">
                <a:solidFill>
                  <a:srgbClr val="1C2433"/>
                </a:solidFill>
              </a:rPr>
              <a:t>3</a:t>
            </a:r>
            <a:r>
              <a:rPr b="1" lang="en-US" sz="1200">
                <a:solidFill>
                  <a:srgbClr val="1C2433"/>
                </a:solidFill>
                <a:latin typeface="Arial"/>
                <a:ea typeface="Arial"/>
                <a:cs typeface="Arial"/>
                <a:sym typeface="Arial"/>
              </a:rPr>
              <a:t>00)</a:t>
            </a:r>
            <a:endParaRPr b="1" sz="1200">
              <a:solidFill>
                <a:srgbClr val="1C2433"/>
              </a:solidFill>
              <a:latin typeface="Arial"/>
              <a:ea typeface="Arial"/>
              <a:cs typeface="Arial"/>
              <a:sym typeface="Arial"/>
            </a:endParaRPr>
          </a:p>
        </p:txBody>
      </p:sp>
      <p:sp>
        <p:nvSpPr>
          <p:cNvPr id="217" name="Google Shape;217;p12"/>
          <p:cNvSpPr txBox="1"/>
          <p:nvPr/>
        </p:nvSpPr>
        <p:spPr>
          <a:xfrm>
            <a:off x="5034116" y="1690688"/>
            <a:ext cx="5673300" cy="38865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1400"/>
              <a:buFont typeface="Arial"/>
              <a:buNone/>
            </a:pPr>
            <a:r>
              <a:rPr b="1" lang="en-US">
                <a:solidFill>
                  <a:schemeClr val="dk1"/>
                </a:solidFill>
              </a:rPr>
              <a:t>Standardization: </a:t>
            </a:r>
            <a:r>
              <a:rPr lang="en-US">
                <a:solidFill>
                  <a:schemeClr val="dk1"/>
                </a:solidFill>
              </a:rPr>
              <a:t>We standardized the input features using z-scoring, important for Gaussian Process models since kernels measures distances between inputs.</a:t>
            </a:r>
            <a:endParaRPr b="1" sz="1400">
              <a:solidFill>
                <a:srgbClr val="1C2433"/>
              </a:solidFill>
              <a:latin typeface="Arial"/>
              <a:ea typeface="Arial"/>
              <a:cs typeface="Arial"/>
              <a:sym typeface="Arial"/>
            </a:endParaRPr>
          </a:p>
          <a:p>
            <a:pPr indent="0" lvl="0" marL="0" marR="0" rtl="0" algn="l">
              <a:spcBef>
                <a:spcPts val="0"/>
              </a:spcBef>
              <a:spcAft>
                <a:spcPts val="0"/>
              </a:spcAft>
              <a:buClr>
                <a:schemeClr val="dk1"/>
              </a:buClr>
              <a:buSzPts val="1400"/>
              <a:buFont typeface="Arial"/>
              <a:buNone/>
            </a:pPr>
            <a:r>
              <a:t/>
            </a:r>
            <a:endParaRPr sz="1400">
              <a:solidFill>
                <a:srgbClr val="1C2433"/>
              </a:solidFill>
              <a:latin typeface="Arial"/>
              <a:ea typeface="Arial"/>
              <a:cs typeface="Arial"/>
              <a:sym typeface="Arial"/>
            </a:endParaRPr>
          </a:p>
          <a:p>
            <a:pPr indent="0" lvl="0" marL="0" marR="0" rtl="0" algn="l">
              <a:spcBef>
                <a:spcPts val="0"/>
              </a:spcBef>
              <a:spcAft>
                <a:spcPts val="0"/>
              </a:spcAft>
              <a:buClr>
                <a:schemeClr val="dk1"/>
              </a:buClr>
              <a:buSzPts val="1400"/>
              <a:buFont typeface="Arial"/>
              <a:buNone/>
            </a:pPr>
            <a:r>
              <a:t/>
            </a:r>
            <a:endParaRPr sz="1400">
              <a:solidFill>
                <a:srgbClr val="1C2433"/>
              </a:solidFill>
              <a:latin typeface="Arial"/>
              <a:ea typeface="Arial"/>
              <a:cs typeface="Arial"/>
              <a:sym typeface="Arial"/>
            </a:endParaRPr>
          </a:p>
          <a:p>
            <a:pPr indent="0" lvl="0" marL="0" marR="0" rtl="0" algn="l">
              <a:spcBef>
                <a:spcPts val="0"/>
              </a:spcBef>
              <a:spcAft>
                <a:spcPts val="0"/>
              </a:spcAft>
              <a:buClr>
                <a:schemeClr val="dk1"/>
              </a:buClr>
              <a:buSzPts val="1400"/>
              <a:buFont typeface="Arial"/>
              <a:buNone/>
            </a:pPr>
            <a:r>
              <a:rPr b="1" lang="en-US" sz="1400">
                <a:solidFill>
                  <a:schemeClr val="dk1"/>
                </a:solidFill>
                <a:latin typeface="Arial"/>
                <a:ea typeface="Arial"/>
                <a:cs typeface="Arial"/>
                <a:sym typeface="Arial"/>
              </a:rPr>
              <a:t>Feature Selection: </a:t>
            </a:r>
            <a:r>
              <a:rPr lang="en-US" sz="1400">
                <a:solidFill>
                  <a:srgbClr val="1C2433"/>
                </a:solidFill>
                <a:latin typeface="Arial"/>
                <a:ea typeface="Arial"/>
                <a:cs typeface="Arial"/>
                <a:sym typeface="Arial"/>
              </a:rPr>
              <a:t>We have eight features available but used only longitude and latitude.</a:t>
            </a:r>
            <a:endParaRPr/>
          </a:p>
          <a:p>
            <a:pPr indent="-285750" lvl="0" marL="285750" marR="0" rtl="0" algn="l">
              <a:spcBef>
                <a:spcPts val="900"/>
              </a:spcBef>
              <a:spcAft>
                <a:spcPts val="0"/>
              </a:spcAft>
              <a:buClr>
                <a:schemeClr val="accent2"/>
              </a:buClr>
              <a:buSzPts val="1400"/>
              <a:buFont typeface="Arial"/>
              <a:buChar char="•"/>
            </a:pPr>
            <a:r>
              <a:rPr b="1" lang="en-US" sz="1400">
                <a:solidFill>
                  <a:schemeClr val="accent2"/>
                </a:solidFill>
                <a:latin typeface="Arial"/>
                <a:ea typeface="Arial"/>
                <a:cs typeface="Arial"/>
                <a:sym typeface="Arial"/>
              </a:rPr>
              <a:t>Inductive Bias: </a:t>
            </a:r>
            <a:r>
              <a:rPr lang="en-US" sz="1400">
                <a:solidFill>
                  <a:srgbClr val="2A2F3A"/>
                </a:solidFill>
                <a:latin typeface="Arial"/>
                <a:ea typeface="Arial"/>
                <a:cs typeface="Arial"/>
                <a:sym typeface="Arial"/>
              </a:rPr>
              <a:t>What scale should relate longitude, latitude, house</a:t>
            </a:r>
            <a:r>
              <a:rPr lang="en-US">
                <a:solidFill>
                  <a:srgbClr val="2A2F3A"/>
                </a:solidFill>
              </a:rPr>
              <a:t>, </a:t>
            </a:r>
            <a:r>
              <a:rPr lang="en-US" sz="1400">
                <a:solidFill>
                  <a:srgbClr val="2A2F3A"/>
                </a:solidFill>
                <a:latin typeface="Arial"/>
                <a:ea typeface="Arial"/>
                <a:cs typeface="Arial"/>
                <a:sym typeface="Arial"/>
              </a:rPr>
              <a:t>age</a:t>
            </a:r>
            <a:r>
              <a:rPr lang="en-US">
                <a:solidFill>
                  <a:srgbClr val="2A2F3A"/>
                </a:solidFill>
              </a:rPr>
              <a:t>, </a:t>
            </a:r>
            <a:r>
              <a:rPr lang="en-US" sz="1400">
                <a:solidFill>
                  <a:srgbClr val="2A2F3A"/>
                </a:solidFill>
                <a:latin typeface="Arial"/>
                <a:ea typeface="Arial"/>
                <a:cs typeface="Arial"/>
                <a:sym typeface="Arial"/>
              </a:rPr>
              <a:t>and median income? Using the RBF kernel for all of these implies they are comparable to one another in a meaningful way, which they are not.</a:t>
            </a:r>
            <a:endParaRPr/>
          </a:p>
          <a:p>
            <a:pPr indent="-285750" lvl="0" marL="285750" marR="0" rtl="0" algn="l">
              <a:spcBef>
                <a:spcPts val="900"/>
              </a:spcBef>
              <a:spcAft>
                <a:spcPts val="0"/>
              </a:spcAft>
              <a:buClr>
                <a:schemeClr val="accent4"/>
              </a:buClr>
              <a:buSzPts val="1400"/>
              <a:buFont typeface="Arial"/>
              <a:buChar char="•"/>
            </a:pPr>
            <a:r>
              <a:rPr b="1" lang="en-US" sz="1400">
                <a:solidFill>
                  <a:schemeClr val="accent4"/>
                </a:solidFill>
                <a:latin typeface="Arial"/>
                <a:ea typeface="Arial"/>
                <a:cs typeface="Arial"/>
                <a:sym typeface="Arial"/>
              </a:rPr>
              <a:t>Curse of Dimensionality: </a:t>
            </a:r>
            <a:r>
              <a:rPr lang="en-US" sz="1400">
                <a:solidFill>
                  <a:srgbClr val="2A2F3A"/>
                </a:solidFill>
                <a:latin typeface="Arial"/>
                <a:ea typeface="Arial"/>
                <a:cs typeface="Arial"/>
                <a:sym typeface="Arial"/>
              </a:rPr>
              <a:t>8-dimensional data is sparse and would require a more flexible kernel.</a:t>
            </a:r>
            <a:endParaRPr/>
          </a:p>
          <a:p>
            <a:pPr indent="-285750" lvl="0" marL="285750" marR="0" rtl="0" algn="l">
              <a:spcBef>
                <a:spcPts val="900"/>
              </a:spcBef>
              <a:spcAft>
                <a:spcPts val="0"/>
              </a:spcAft>
              <a:buClr>
                <a:schemeClr val="dk2"/>
              </a:buClr>
              <a:buSzPts val="1400"/>
              <a:buFont typeface="Arial"/>
              <a:buChar char="•"/>
            </a:pPr>
            <a:r>
              <a:rPr b="1" lang="en-US" sz="1400">
                <a:solidFill>
                  <a:schemeClr val="dk2"/>
                </a:solidFill>
                <a:latin typeface="Arial"/>
                <a:ea typeface="Arial"/>
                <a:cs typeface="Arial"/>
                <a:sym typeface="Arial"/>
              </a:rPr>
              <a:t>Computation: </a:t>
            </a:r>
            <a:r>
              <a:rPr lang="en-US" sz="1400">
                <a:solidFill>
                  <a:srgbClr val="2A2F3A"/>
                </a:solidFill>
                <a:latin typeface="Arial"/>
                <a:ea typeface="Arial"/>
                <a:cs typeface="Arial"/>
                <a:sym typeface="Arial"/>
              </a:rPr>
              <a:t>Costs</a:t>
            </a:r>
            <a:r>
              <a:rPr lang="en-US" sz="1400">
                <a:solidFill>
                  <a:srgbClr val="2A2F3A"/>
                </a:solidFill>
                <a:latin typeface="Arial"/>
                <a:ea typeface="Arial"/>
                <a:cs typeface="Arial"/>
                <a:sym typeface="Arial"/>
              </a:rPr>
              <a:t> </a:t>
            </a:r>
            <a:r>
              <a:rPr lang="en-US" sz="1400">
                <a:solidFill>
                  <a:srgbClr val="2A2F3A"/>
                </a:solidFill>
                <a:latin typeface="Arial"/>
                <a:ea typeface="Arial"/>
                <a:cs typeface="Arial"/>
                <a:sym typeface="Arial"/>
              </a:rPr>
              <a:t>scale O(n³) </a:t>
            </a:r>
            <a:r>
              <a:rPr lang="en-US">
                <a:solidFill>
                  <a:srgbClr val="2A2F3A"/>
                </a:solidFill>
              </a:rPr>
              <a:t>with</a:t>
            </a:r>
            <a:r>
              <a:rPr lang="en-US" sz="1400">
                <a:solidFill>
                  <a:srgbClr val="2A2F3A"/>
                </a:solidFill>
                <a:latin typeface="Arial"/>
                <a:ea typeface="Arial"/>
                <a:cs typeface="Arial"/>
                <a:sym typeface="Arial"/>
              </a:rPr>
              <a:t> the number of features, and the posterior geometry becomes complex, requiring longer chains.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13"/>
          <p:cNvSpPr txBox="1"/>
          <p:nvPr>
            <p:ph type="title"/>
          </p:nvPr>
        </p:nvSpPr>
        <p:spPr>
          <a:xfrm>
            <a:off x="838200" y="210343"/>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1C2433"/>
              </a:buClr>
              <a:buSzPts val="4000"/>
              <a:buFont typeface="Playfair Display"/>
              <a:buNone/>
            </a:pPr>
            <a:r>
              <a:rPr b="1" lang="en-US" sz="4000">
                <a:solidFill>
                  <a:srgbClr val="1C2433"/>
                </a:solidFill>
                <a:latin typeface="Playfair Display"/>
                <a:ea typeface="Playfair Display"/>
                <a:cs typeface="Playfair Display"/>
                <a:sym typeface="Playfair Display"/>
              </a:rPr>
              <a:t>Specifying the Model</a:t>
            </a:r>
            <a:endParaRPr/>
          </a:p>
        </p:txBody>
      </p:sp>
      <p:sp>
        <p:nvSpPr>
          <p:cNvPr id="223" name="Google Shape;223;p13"/>
          <p:cNvSpPr txBox="1"/>
          <p:nvPr/>
        </p:nvSpPr>
        <p:spPr>
          <a:xfrm>
            <a:off x="838200" y="1513847"/>
            <a:ext cx="3403500" cy="16566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2C4A6E"/>
              </a:buClr>
              <a:buSzPts val="1300"/>
              <a:buFont typeface="Arial"/>
              <a:buNone/>
            </a:pPr>
            <a:r>
              <a:rPr b="1" lang="en-US" sz="1300">
                <a:solidFill>
                  <a:srgbClr val="2C4A6E"/>
                </a:solidFill>
                <a:latin typeface="Arial"/>
                <a:ea typeface="Arial"/>
                <a:cs typeface="Arial"/>
                <a:sym typeface="Arial"/>
              </a:rPr>
              <a:t>PRIOR ON THE FUNCTION</a:t>
            </a:r>
            <a:endParaRPr/>
          </a:p>
          <a:p>
            <a:pPr indent="0" lvl="0" marL="0" marR="0" rtl="0" algn="ctr">
              <a:spcBef>
                <a:spcPts val="500"/>
              </a:spcBef>
              <a:spcAft>
                <a:spcPts val="0"/>
              </a:spcAft>
              <a:buClr>
                <a:srgbClr val="1C2433"/>
              </a:buClr>
              <a:buSzPts val="1600"/>
              <a:buFont typeface="Cambria Math"/>
              <a:buNone/>
            </a:pPr>
            <a:r>
              <a:rPr i="1" lang="en-US" sz="1600">
                <a:solidFill>
                  <a:srgbClr val="1C2433"/>
                </a:solidFill>
                <a:latin typeface="Cambria Math"/>
                <a:ea typeface="Cambria Math"/>
                <a:cs typeface="Cambria Math"/>
                <a:sym typeface="Cambria Math"/>
              </a:rPr>
              <a:t>f ∼ 𝒢𝒫(0, k</a:t>
            </a:r>
            <a:r>
              <a:rPr baseline="-25000" i="1" lang="en-US" sz="1600">
                <a:solidFill>
                  <a:srgbClr val="1C2433"/>
                </a:solidFill>
                <a:latin typeface="Cambria Math"/>
                <a:ea typeface="Cambria Math"/>
                <a:cs typeface="Cambria Math"/>
                <a:sym typeface="Cambria Math"/>
              </a:rPr>
              <a:t>θ</a:t>
            </a:r>
            <a:r>
              <a:rPr i="1" lang="en-US" sz="1600">
                <a:solidFill>
                  <a:srgbClr val="1C2433"/>
                </a:solidFill>
                <a:latin typeface="Cambria Math"/>
                <a:ea typeface="Cambria Math"/>
                <a:cs typeface="Cambria Math"/>
                <a:sym typeface="Cambria Math"/>
              </a:rPr>
              <a:t>)</a:t>
            </a:r>
            <a:endParaRPr/>
          </a:p>
          <a:p>
            <a:pPr indent="0" lvl="0" marL="0" marR="0" rtl="0" algn="l">
              <a:spcBef>
                <a:spcPts val="500"/>
              </a:spcBef>
              <a:spcAft>
                <a:spcPts val="0"/>
              </a:spcAft>
              <a:buClr>
                <a:srgbClr val="64748B"/>
              </a:buClr>
              <a:buSzPts val="1200"/>
              <a:buFont typeface="Arial"/>
              <a:buNone/>
            </a:pPr>
            <a:r>
              <a:rPr i="1" lang="en-US" sz="1200">
                <a:solidFill>
                  <a:srgbClr val="64748B"/>
                </a:solidFill>
                <a:latin typeface="Arial"/>
                <a:ea typeface="Arial"/>
                <a:cs typeface="Arial"/>
                <a:sym typeface="Arial"/>
              </a:rPr>
              <a:t>Zero-mean GP with RBF (squared exponential) kernel.</a:t>
            </a:r>
            <a:endParaRPr/>
          </a:p>
        </p:txBody>
      </p:sp>
      <p:sp>
        <p:nvSpPr>
          <p:cNvPr id="224" name="Google Shape;224;p13"/>
          <p:cNvSpPr txBox="1"/>
          <p:nvPr/>
        </p:nvSpPr>
        <p:spPr>
          <a:xfrm>
            <a:off x="4394200" y="1513847"/>
            <a:ext cx="3403500" cy="16566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8A7A5C"/>
              </a:buClr>
              <a:buSzPts val="1300"/>
              <a:buFont typeface="Arial"/>
              <a:buNone/>
            </a:pPr>
            <a:r>
              <a:rPr b="1" lang="en-US" sz="1300">
                <a:solidFill>
                  <a:srgbClr val="8A7A5C"/>
                </a:solidFill>
                <a:latin typeface="Arial"/>
                <a:ea typeface="Arial"/>
                <a:cs typeface="Arial"/>
                <a:sym typeface="Arial"/>
              </a:rPr>
              <a:t>LIKELIHOOD</a:t>
            </a:r>
            <a:endParaRPr/>
          </a:p>
          <a:p>
            <a:pPr indent="0" lvl="0" marL="0" marR="0" rtl="0" algn="ctr">
              <a:spcBef>
                <a:spcPts val="500"/>
              </a:spcBef>
              <a:spcAft>
                <a:spcPts val="0"/>
              </a:spcAft>
              <a:buClr>
                <a:srgbClr val="1C2433"/>
              </a:buClr>
              <a:buSzPts val="1500"/>
              <a:buFont typeface="Cambria Math"/>
              <a:buNone/>
            </a:pPr>
            <a:r>
              <a:rPr i="1" lang="en-US" sz="1500">
                <a:solidFill>
                  <a:srgbClr val="1C2433"/>
                </a:solidFill>
                <a:latin typeface="Cambria Math"/>
                <a:ea typeface="Cambria Math"/>
                <a:cs typeface="Cambria Math"/>
                <a:sym typeface="Cambria Math"/>
              </a:rPr>
              <a:t>yᵢ | f(xᵢ), σ² ∼ 𝒩(f(xᵢ), σ²)</a:t>
            </a:r>
            <a:endParaRPr/>
          </a:p>
          <a:p>
            <a:pPr indent="0" lvl="0" marL="0" marR="0" rtl="0" algn="l">
              <a:spcBef>
                <a:spcPts val="500"/>
              </a:spcBef>
              <a:spcAft>
                <a:spcPts val="0"/>
              </a:spcAft>
              <a:buClr>
                <a:srgbClr val="64748B"/>
              </a:buClr>
              <a:buSzPts val="1200"/>
              <a:buFont typeface="Arial"/>
              <a:buNone/>
            </a:pPr>
            <a:r>
              <a:rPr i="1" lang="en-US" sz="1200">
                <a:solidFill>
                  <a:srgbClr val="64748B"/>
                </a:solidFill>
                <a:latin typeface="Arial"/>
                <a:ea typeface="Arial"/>
                <a:cs typeface="Arial"/>
                <a:sym typeface="Arial"/>
              </a:rPr>
              <a:t>Gaussian noise: y = f(x) + ε, with ε ∼ 𝒩(0, σ²).</a:t>
            </a:r>
            <a:endParaRPr/>
          </a:p>
        </p:txBody>
      </p:sp>
      <p:sp>
        <p:nvSpPr>
          <p:cNvPr id="225" name="Google Shape;225;p13"/>
          <p:cNvSpPr txBox="1"/>
          <p:nvPr/>
        </p:nvSpPr>
        <p:spPr>
          <a:xfrm>
            <a:off x="7950200" y="1513847"/>
            <a:ext cx="3403500" cy="16566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B5532A"/>
              </a:buClr>
              <a:buSzPts val="1300"/>
              <a:buFont typeface="Arial"/>
              <a:buNone/>
            </a:pPr>
            <a:r>
              <a:rPr b="1" lang="en-US" sz="1300">
                <a:solidFill>
                  <a:srgbClr val="B5532A"/>
                </a:solidFill>
                <a:latin typeface="Arial"/>
                <a:ea typeface="Arial"/>
                <a:cs typeface="Arial"/>
                <a:sym typeface="Arial"/>
              </a:rPr>
              <a:t>HYPERPRIORS</a:t>
            </a:r>
            <a:endParaRPr/>
          </a:p>
          <a:p>
            <a:pPr indent="0" lvl="0" marL="0" marR="0" rtl="0" algn="ctr">
              <a:spcBef>
                <a:spcPts val="400"/>
              </a:spcBef>
              <a:spcAft>
                <a:spcPts val="0"/>
              </a:spcAft>
              <a:buClr>
                <a:srgbClr val="1C2433"/>
              </a:buClr>
              <a:buSzPts val="1400"/>
              <a:buFont typeface="Cambria Math"/>
              <a:buNone/>
            </a:pPr>
            <a:r>
              <a:rPr i="1" lang="en-US" sz="1400">
                <a:solidFill>
                  <a:srgbClr val="1C2433"/>
                </a:solidFill>
                <a:latin typeface="Cambria Math"/>
                <a:ea typeface="Cambria Math"/>
                <a:cs typeface="Cambria Math"/>
                <a:sym typeface="Cambria Math"/>
              </a:rPr>
              <a:t>α ∼ LogNormal(0, 0.5)</a:t>
            </a:r>
            <a:endParaRPr/>
          </a:p>
          <a:p>
            <a:pPr indent="0" lvl="0" marL="0" marR="0" rtl="0" algn="ctr">
              <a:spcBef>
                <a:spcPts val="200"/>
              </a:spcBef>
              <a:spcAft>
                <a:spcPts val="0"/>
              </a:spcAft>
              <a:buClr>
                <a:srgbClr val="1C2433"/>
              </a:buClr>
              <a:buSzPts val="1400"/>
              <a:buFont typeface="Cambria Math"/>
              <a:buNone/>
            </a:pPr>
            <a:r>
              <a:rPr i="1" lang="en-US">
                <a:solidFill>
                  <a:srgbClr val="1C2433"/>
                </a:solidFill>
                <a:latin typeface="Cambria Math"/>
                <a:ea typeface="Cambria Math"/>
                <a:cs typeface="Cambria Math"/>
                <a:sym typeface="Cambria Math"/>
              </a:rPr>
              <a:t>⍴</a:t>
            </a:r>
            <a:r>
              <a:rPr i="1" lang="en-US" sz="1400">
                <a:solidFill>
                  <a:srgbClr val="1C2433"/>
                </a:solidFill>
                <a:latin typeface="Cambria Math"/>
                <a:ea typeface="Cambria Math"/>
                <a:cs typeface="Cambria Math"/>
                <a:sym typeface="Cambria Math"/>
              </a:rPr>
              <a:t> ∼ LogNormal(0, 0.5)</a:t>
            </a:r>
            <a:endParaRPr/>
          </a:p>
          <a:p>
            <a:pPr indent="0" lvl="0" marL="0" marR="0" rtl="0" algn="ctr">
              <a:spcBef>
                <a:spcPts val="200"/>
              </a:spcBef>
              <a:spcAft>
                <a:spcPts val="0"/>
              </a:spcAft>
              <a:buClr>
                <a:srgbClr val="1C2433"/>
              </a:buClr>
              <a:buSzPts val="1400"/>
              <a:buFont typeface="Cambria Math"/>
              <a:buNone/>
            </a:pPr>
            <a:r>
              <a:rPr i="1" lang="en-US" sz="1400">
                <a:solidFill>
                  <a:srgbClr val="1C2433"/>
                </a:solidFill>
                <a:latin typeface="Cambria Math"/>
                <a:ea typeface="Cambria Math"/>
                <a:cs typeface="Cambria Math"/>
                <a:sym typeface="Cambria Math"/>
              </a:rPr>
              <a:t>σ ∼ LogNormal(−1, 0.5)</a:t>
            </a:r>
            <a:endParaRPr/>
          </a:p>
          <a:p>
            <a:pPr indent="0" lvl="0" marL="0" marR="0" rtl="0" algn="l">
              <a:spcBef>
                <a:spcPts val="400"/>
              </a:spcBef>
              <a:spcAft>
                <a:spcPts val="0"/>
              </a:spcAft>
              <a:buClr>
                <a:srgbClr val="64748B"/>
              </a:buClr>
              <a:buSzPts val="1200"/>
              <a:buFont typeface="Arial"/>
              <a:buNone/>
            </a:pPr>
            <a:r>
              <a:rPr i="1" lang="en-US" sz="1200">
                <a:solidFill>
                  <a:srgbClr val="64748B"/>
                </a:solidFill>
                <a:latin typeface="Arial"/>
                <a:ea typeface="Arial"/>
                <a:cs typeface="Arial"/>
                <a:sym typeface="Arial"/>
              </a:rPr>
              <a:t>Weakly informative priors on positive (α, ℓ, σ).</a:t>
            </a:r>
            <a:endParaRPr/>
          </a:p>
        </p:txBody>
      </p:sp>
      <p:sp>
        <p:nvSpPr>
          <p:cNvPr id="226" name="Google Shape;226;p13"/>
          <p:cNvSpPr txBox="1"/>
          <p:nvPr/>
        </p:nvSpPr>
        <p:spPr>
          <a:xfrm>
            <a:off x="4394200" y="2834640"/>
            <a:ext cx="10515600" cy="381000"/>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rgbClr val="2C4A6E"/>
              </a:buClr>
              <a:buSzPts val="1500"/>
              <a:buFont typeface="Playfair Display"/>
              <a:buNone/>
            </a:pPr>
            <a:r>
              <a:rPr i="1" lang="en-US" sz="1500">
                <a:solidFill>
                  <a:srgbClr val="2C4A6E"/>
                </a:solidFill>
                <a:latin typeface="Playfair Display"/>
                <a:ea typeface="Playfair Display"/>
                <a:cs typeface="Playfair Display"/>
                <a:sym typeface="Playfair Display"/>
              </a:rPr>
              <a:t>Hierarchical:  </a:t>
            </a:r>
            <a:r>
              <a:rPr i="1" lang="en-US" sz="1600">
                <a:solidFill>
                  <a:srgbClr val="1C2433"/>
                </a:solidFill>
                <a:latin typeface="Cambria Math"/>
                <a:ea typeface="Cambria Math"/>
                <a:cs typeface="Cambria Math"/>
                <a:sym typeface="Cambria Math"/>
              </a:rPr>
              <a:t>α, ℓ, σ → f → y</a:t>
            </a:r>
            <a:endParaRPr/>
          </a:p>
        </p:txBody>
      </p:sp>
      <p:sp>
        <p:nvSpPr>
          <p:cNvPr id="227" name="Google Shape;227;p13"/>
          <p:cNvSpPr txBox="1"/>
          <p:nvPr/>
        </p:nvSpPr>
        <p:spPr>
          <a:xfrm>
            <a:off x="660400" y="4784090"/>
            <a:ext cx="10515600" cy="571500"/>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rgbClr val="B5532A"/>
              </a:buClr>
              <a:buSzPts val="1300"/>
              <a:buFont typeface="Arial"/>
              <a:buNone/>
            </a:pPr>
            <a:r>
              <a:rPr b="1" lang="en-US" sz="1300">
                <a:solidFill>
                  <a:srgbClr val="B5532A"/>
                </a:solidFill>
                <a:latin typeface="Arial"/>
                <a:ea typeface="Arial"/>
                <a:cs typeface="Arial"/>
                <a:sym typeface="Arial"/>
              </a:rPr>
              <a:t>POSTERIOR PREDICTIVE AT A NEW INPUT  ·  </a:t>
            </a:r>
            <a:r>
              <a:rPr i="1" lang="en-US" sz="1800">
                <a:solidFill>
                  <a:srgbClr val="1C2433"/>
                </a:solidFill>
                <a:latin typeface="Cambria Math"/>
                <a:ea typeface="Cambria Math"/>
                <a:cs typeface="Cambria Math"/>
                <a:sym typeface="Cambria Math"/>
              </a:rPr>
              <a:t>f(x*) | y ∼ 𝒩(μ*, v*)</a:t>
            </a:r>
            <a:endParaRPr/>
          </a:p>
        </p:txBody>
      </p:sp>
      <p:sp>
        <p:nvSpPr>
          <p:cNvPr id="228" name="Google Shape;228;p13"/>
          <p:cNvSpPr txBox="1"/>
          <p:nvPr/>
        </p:nvSpPr>
        <p:spPr>
          <a:xfrm>
            <a:off x="838200" y="5341620"/>
            <a:ext cx="5080000" cy="1079500"/>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rgbClr val="2C4A6E"/>
              </a:buClr>
              <a:buSzPts val="1300"/>
              <a:buFont typeface="Arial"/>
              <a:buNone/>
            </a:pPr>
            <a:r>
              <a:rPr b="1" lang="en-US" sz="1300">
                <a:solidFill>
                  <a:srgbClr val="2C4A6E"/>
                </a:solidFill>
                <a:latin typeface="Arial"/>
                <a:ea typeface="Arial"/>
                <a:cs typeface="Arial"/>
                <a:sym typeface="Arial"/>
              </a:rPr>
              <a:t>POSTERIOR MEAN</a:t>
            </a:r>
            <a:endParaRPr/>
          </a:p>
          <a:p>
            <a:pPr indent="0" lvl="0" marL="0" marR="0" rtl="0" algn="ctr">
              <a:spcBef>
                <a:spcPts val="300"/>
              </a:spcBef>
              <a:spcAft>
                <a:spcPts val="0"/>
              </a:spcAft>
              <a:buClr>
                <a:srgbClr val="1C2433"/>
              </a:buClr>
              <a:buSzPts val="1400"/>
              <a:buFont typeface="Cambria Math"/>
              <a:buNone/>
            </a:pPr>
            <a:r>
              <a:rPr i="1" lang="en-US" sz="1400">
                <a:solidFill>
                  <a:srgbClr val="1C2433"/>
                </a:solidFill>
                <a:latin typeface="Cambria Math"/>
                <a:ea typeface="Cambria Math"/>
                <a:cs typeface="Cambria Math"/>
                <a:sym typeface="Cambria Math"/>
              </a:rPr>
              <a:t>μ* = k*ᵀ(K</a:t>
            </a:r>
            <a:r>
              <a:rPr baseline="-25000" i="1" lang="en-US" sz="1400">
                <a:solidFill>
                  <a:srgbClr val="1C2433"/>
                </a:solidFill>
                <a:latin typeface="Cambria Math"/>
                <a:ea typeface="Cambria Math"/>
                <a:cs typeface="Cambria Math"/>
                <a:sym typeface="Cambria Math"/>
              </a:rPr>
              <a:t>θ</a:t>
            </a:r>
            <a:r>
              <a:rPr i="1" lang="en-US" sz="1400">
                <a:solidFill>
                  <a:srgbClr val="1C2433"/>
                </a:solidFill>
                <a:latin typeface="Cambria Math"/>
                <a:ea typeface="Cambria Math"/>
                <a:cs typeface="Cambria Math"/>
                <a:sym typeface="Cambria Math"/>
              </a:rPr>
              <a:t> + σ²I)⁻¹ y</a:t>
            </a:r>
            <a:endParaRPr/>
          </a:p>
        </p:txBody>
      </p:sp>
      <p:sp>
        <p:nvSpPr>
          <p:cNvPr id="229" name="Google Shape;229;p13"/>
          <p:cNvSpPr txBox="1"/>
          <p:nvPr/>
        </p:nvSpPr>
        <p:spPr>
          <a:xfrm>
            <a:off x="6273800" y="5341620"/>
            <a:ext cx="5080000" cy="1079500"/>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rgbClr val="B5532A"/>
              </a:buClr>
              <a:buSzPts val="1300"/>
              <a:buFont typeface="Arial"/>
              <a:buNone/>
            </a:pPr>
            <a:r>
              <a:rPr b="1" lang="en-US" sz="1300">
                <a:solidFill>
                  <a:srgbClr val="B5532A"/>
                </a:solidFill>
                <a:latin typeface="Arial"/>
                <a:ea typeface="Arial"/>
                <a:cs typeface="Arial"/>
                <a:sym typeface="Arial"/>
              </a:rPr>
              <a:t>POSTERIOR VARIANCE</a:t>
            </a:r>
            <a:endParaRPr/>
          </a:p>
          <a:p>
            <a:pPr indent="0" lvl="0" marL="0" marR="0" rtl="0" algn="ctr">
              <a:spcBef>
                <a:spcPts val="300"/>
              </a:spcBef>
              <a:spcAft>
                <a:spcPts val="0"/>
              </a:spcAft>
              <a:buClr>
                <a:srgbClr val="1C2433"/>
              </a:buClr>
              <a:buSzPts val="1400"/>
              <a:buFont typeface="Cambria Math"/>
              <a:buNone/>
            </a:pPr>
            <a:r>
              <a:rPr i="1" lang="en-US" sz="1400">
                <a:solidFill>
                  <a:srgbClr val="1C2433"/>
                </a:solidFill>
                <a:latin typeface="Cambria Math"/>
                <a:ea typeface="Cambria Math"/>
                <a:cs typeface="Cambria Math"/>
                <a:sym typeface="Cambria Math"/>
              </a:rPr>
              <a:t>v* = k(x*, x*) − k*ᵀ(K</a:t>
            </a:r>
            <a:r>
              <a:rPr baseline="-25000" i="1" lang="en-US" sz="1400">
                <a:solidFill>
                  <a:srgbClr val="1C2433"/>
                </a:solidFill>
                <a:latin typeface="Cambria Math"/>
                <a:ea typeface="Cambria Math"/>
                <a:cs typeface="Cambria Math"/>
                <a:sym typeface="Cambria Math"/>
              </a:rPr>
              <a:t>θ</a:t>
            </a:r>
            <a:r>
              <a:rPr i="1" lang="en-US" sz="1400">
                <a:solidFill>
                  <a:srgbClr val="1C2433"/>
                </a:solidFill>
                <a:latin typeface="Cambria Math"/>
                <a:ea typeface="Cambria Math"/>
                <a:cs typeface="Cambria Math"/>
                <a:sym typeface="Cambria Math"/>
              </a:rPr>
              <a:t> + σ²I)⁻¹k*</a:t>
            </a:r>
            <a:endParaRPr/>
          </a:p>
        </p:txBody>
      </p:sp>
      <p:grpSp>
        <p:nvGrpSpPr>
          <p:cNvPr id="230" name="Google Shape;230;p13"/>
          <p:cNvGrpSpPr/>
          <p:nvPr/>
        </p:nvGrpSpPr>
        <p:grpSpPr>
          <a:xfrm>
            <a:off x="685800" y="3273425"/>
            <a:ext cx="10668000" cy="1333500"/>
            <a:chOff x="762000" y="3190875"/>
            <a:chExt cx="10668000" cy="1333500"/>
          </a:xfrm>
        </p:grpSpPr>
        <p:sp>
          <p:nvSpPr>
            <p:cNvPr id="231" name="Google Shape;231;p13"/>
            <p:cNvSpPr/>
            <p:nvPr/>
          </p:nvSpPr>
          <p:spPr>
            <a:xfrm>
              <a:off x="762000" y="3190875"/>
              <a:ext cx="10668000" cy="1333500"/>
            </a:xfrm>
            <a:prstGeom prst="roundRect">
              <a:avLst>
                <a:gd fmla="val 8571"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232" name="Google Shape;232;p13"/>
            <p:cNvSpPr txBox="1"/>
            <p:nvPr/>
          </p:nvSpPr>
          <p:spPr>
            <a:xfrm>
              <a:off x="1047750" y="3333750"/>
              <a:ext cx="2381400" cy="1047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800"/>
                <a:buFont typeface="Arial"/>
                <a:buNone/>
              </a:pPr>
              <a:r>
                <a:rPr b="1" lang="en-US" sz="1800">
                  <a:solidFill>
                    <a:srgbClr val="4A5568"/>
                  </a:solidFill>
                  <a:latin typeface="Arial"/>
                  <a:ea typeface="Arial"/>
                  <a:cs typeface="Arial"/>
                  <a:sym typeface="Arial"/>
                </a:rPr>
                <a:t>Joint Distribution</a:t>
              </a:r>
              <a:endParaRPr b="1" sz="1800">
                <a:solidFill>
                  <a:srgbClr val="4A5568"/>
                </a:solidFill>
                <a:latin typeface="Arial"/>
                <a:ea typeface="Arial"/>
                <a:cs typeface="Arial"/>
                <a:sym typeface="Arial"/>
              </a:endParaRPr>
            </a:p>
            <a:p>
              <a:pPr indent="0" lvl="0" marL="0" marR="0" rtl="0" algn="l">
                <a:spcBef>
                  <a:spcPts val="300"/>
                </a:spcBef>
                <a:spcAft>
                  <a:spcPts val="0"/>
                </a:spcAft>
                <a:buClr>
                  <a:srgbClr val="718096"/>
                </a:buClr>
                <a:buSzPts val="1100"/>
                <a:buFont typeface="Arial"/>
                <a:buNone/>
              </a:pPr>
              <a:r>
                <a:rPr b="0" lang="en-US" sz="1100">
                  <a:solidFill>
                    <a:srgbClr val="718096"/>
                  </a:solidFill>
                  <a:latin typeface="Arial"/>
                  <a:ea typeface="Arial"/>
                  <a:cs typeface="Arial"/>
                  <a:sym typeface="Arial"/>
                </a:rPr>
                <a:t>Prior &amp; Observations</a:t>
              </a:r>
              <a:endParaRPr b="0" sz="1100">
                <a:solidFill>
                  <a:srgbClr val="718096"/>
                </a:solidFill>
                <a:latin typeface="Arial"/>
                <a:ea typeface="Arial"/>
                <a:cs typeface="Arial"/>
                <a:sym typeface="Arial"/>
              </a:endParaRPr>
            </a:p>
          </p:txBody>
        </p:sp>
        <p:pic>
          <p:nvPicPr>
            <p:cNvPr id="233" name="Google Shape;233;p13"/>
            <p:cNvPicPr preferRelativeResize="0"/>
            <p:nvPr/>
          </p:nvPicPr>
          <p:blipFill rotWithShape="1">
            <a:blip r:embed="rId3">
              <a:alphaModFix/>
            </a:blip>
            <a:srcRect b="0" l="10" r="10" t="0"/>
            <a:stretch/>
          </p:blipFill>
          <p:spPr>
            <a:xfrm>
              <a:off x="4168625" y="3538575"/>
              <a:ext cx="5277000" cy="638100"/>
            </a:xfrm>
            <a:prstGeom prst="rect">
              <a:avLst/>
            </a:prstGeom>
            <a:noFill/>
            <a:ln>
              <a:noFill/>
            </a:ln>
          </p:spPr>
        </p:pic>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14"/>
          <p:cNvSpPr txBox="1"/>
          <p:nvPr>
            <p:ph type="title"/>
          </p:nvPr>
        </p:nvSpPr>
        <p:spPr>
          <a:xfrm>
            <a:off x="838200" y="0"/>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1C2433"/>
              </a:buClr>
              <a:buSzPts val="4000"/>
              <a:buFont typeface="Playfair Display"/>
              <a:buNone/>
            </a:pPr>
            <a:r>
              <a:rPr b="1" lang="en-US" sz="4000">
                <a:solidFill>
                  <a:srgbClr val="1C2433"/>
                </a:solidFill>
                <a:latin typeface="Playfair Display"/>
                <a:ea typeface="Playfair Display"/>
                <a:cs typeface="Playfair Display"/>
                <a:sym typeface="Playfair Display"/>
              </a:rPr>
              <a:t>Stan Code</a:t>
            </a:r>
            <a:endParaRPr/>
          </a:p>
        </p:txBody>
      </p:sp>
      <p:sp>
        <p:nvSpPr>
          <p:cNvPr id="239" name="Google Shape;239;p14"/>
          <p:cNvSpPr/>
          <p:nvPr/>
        </p:nvSpPr>
        <p:spPr>
          <a:xfrm>
            <a:off x="508000" y="1310640"/>
            <a:ext cx="5588000" cy="5229860"/>
          </a:xfrm>
          <a:prstGeom prst="roundRect">
            <a:avLst>
              <a:gd fmla="val 4000" name="adj"/>
            </a:avLst>
          </a:prstGeom>
          <a:solidFill>
            <a:srgbClr val="F5F1E8"/>
          </a:solidFill>
          <a:ln cap="flat" cmpd="sng" w="9525">
            <a:solidFill>
              <a:srgbClr val="D9CFB8"/>
            </a:solidFill>
            <a:prstDash val="solid"/>
            <a:round/>
            <a:headEnd len="sm" w="sm" type="none"/>
            <a:tailEnd len="sm" w="sm" type="none"/>
          </a:ln>
        </p:spPr>
        <p:txBody>
          <a:bodyPr anchorCtr="0" anchor="t" bIns="91425" lIns="114300" spcFirstLastPara="1" rIns="114300" wrap="square" tIns="91425">
            <a:noAutofit/>
          </a:bodyPr>
          <a:lstStyle/>
          <a:p>
            <a:pPr indent="0" lvl="0" marL="0" marR="0" rtl="0" algn="l">
              <a:spcBef>
                <a:spcPts val="0"/>
              </a:spcBef>
              <a:spcAft>
                <a:spcPts val="0"/>
              </a:spcAft>
              <a:buClr>
                <a:srgbClr val="2C4A6E"/>
              </a:buClr>
              <a:buSzPts val="1200"/>
              <a:buFont typeface="Arial"/>
              <a:buNone/>
            </a:pPr>
            <a:r>
              <a:rPr b="1" lang="en-US" sz="1200">
                <a:solidFill>
                  <a:srgbClr val="2C4A6E"/>
                </a:solidFill>
                <a:latin typeface="Arial"/>
                <a:ea typeface="Arial"/>
                <a:cs typeface="Arial"/>
                <a:sym typeface="Arial"/>
              </a:rPr>
              <a:t>MODEL BLOCK</a:t>
            </a:r>
            <a:endParaRPr/>
          </a:p>
          <a:p>
            <a:pPr indent="0" lvl="0" marL="0" marR="0" rtl="0" algn="l">
              <a:spcBef>
                <a:spcPts val="0"/>
              </a:spcBef>
              <a:spcAft>
                <a:spcPts val="0"/>
              </a:spcAft>
              <a:buClr>
                <a:schemeClr val="dk1"/>
              </a:buClr>
              <a:buSzPts val="600"/>
              <a:buFont typeface="Arial"/>
              <a:buNone/>
            </a:pPr>
            <a:r>
              <a:t/>
            </a:r>
            <a:endParaRPr sz="600">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2C4A6E"/>
              </a:buClr>
              <a:buSzPts val="1050"/>
              <a:buFont typeface="Consolas"/>
              <a:buNone/>
            </a:pPr>
            <a:r>
              <a:rPr b="1" lang="en-US" sz="1050">
                <a:solidFill>
                  <a:srgbClr val="2C4A6E"/>
                </a:solidFill>
                <a:latin typeface="Consolas"/>
                <a:ea typeface="Consolas"/>
                <a:cs typeface="Consolas"/>
                <a:sym typeface="Consolas"/>
              </a:rPr>
              <a:t>model</a:t>
            </a:r>
            <a:r>
              <a:rPr lang="en-US" sz="1050">
                <a:solidFill>
                  <a:srgbClr val="1C2433"/>
                </a:solidFill>
                <a:latin typeface="Consolas"/>
                <a:ea typeface="Consolas"/>
                <a:cs typeface="Consolas"/>
                <a:sym typeface="Consolas"/>
              </a:rPr>
              <a:t> {</a:t>
            </a:r>
            <a:endParaRPr/>
          </a:p>
          <a:p>
            <a:pPr indent="0" lvl="0" marL="0" marR="0" rtl="0" algn="l">
              <a:lnSpc>
                <a:spcPct val="115000"/>
              </a:lnSpc>
              <a:spcBef>
                <a:spcPts val="0"/>
              </a:spcBef>
              <a:spcAft>
                <a:spcPts val="0"/>
              </a:spcAft>
              <a:buClr>
                <a:srgbClr val="1C2433"/>
              </a:buClr>
              <a:buSzPts val="1050"/>
              <a:buFont typeface="Consolas"/>
              <a:buNone/>
            </a:pPr>
            <a:r>
              <a:rPr lang="en-US" sz="1050">
                <a:solidFill>
                  <a:srgbClr val="1C2433"/>
                </a:solidFill>
                <a:latin typeface="Consolas"/>
                <a:ea typeface="Consolas"/>
                <a:cs typeface="Consolas"/>
                <a:sym typeface="Consolas"/>
              </a:rPr>
              <a:t>  </a:t>
            </a:r>
            <a:r>
              <a:rPr b="1" lang="en-US" sz="1050">
                <a:solidFill>
                  <a:srgbClr val="2C4A6E"/>
                </a:solidFill>
                <a:latin typeface="Consolas"/>
                <a:ea typeface="Consolas"/>
                <a:cs typeface="Consolas"/>
                <a:sym typeface="Consolas"/>
              </a:rPr>
              <a:t>matrix</a:t>
            </a:r>
            <a:r>
              <a:rPr lang="en-US" sz="1050">
                <a:solidFill>
                  <a:srgbClr val="1C2433"/>
                </a:solidFill>
                <a:latin typeface="Consolas"/>
                <a:ea typeface="Consolas"/>
                <a:cs typeface="Consolas"/>
                <a:sym typeface="Consolas"/>
              </a:rPr>
              <a:t>[N_train, N_train] K;</a:t>
            </a:r>
            <a:endParaRPr/>
          </a:p>
          <a:p>
            <a:pPr indent="0" lvl="0" marL="0" marR="0" rtl="0" algn="l">
              <a:lnSpc>
                <a:spcPct val="115000"/>
              </a:lnSpc>
              <a:spcBef>
                <a:spcPts val="0"/>
              </a:spcBef>
              <a:spcAft>
                <a:spcPts val="0"/>
              </a:spcAft>
              <a:buClr>
                <a:srgbClr val="1C2433"/>
              </a:buClr>
              <a:buSzPts val="1050"/>
              <a:buFont typeface="Consolas"/>
              <a:buNone/>
            </a:pPr>
            <a:r>
              <a:rPr lang="en-US" sz="1050">
                <a:solidFill>
                  <a:srgbClr val="1C2433"/>
                </a:solidFill>
                <a:latin typeface="Consolas"/>
                <a:ea typeface="Consolas"/>
                <a:cs typeface="Consolas"/>
                <a:sym typeface="Consolas"/>
              </a:rPr>
              <a:t>  </a:t>
            </a:r>
            <a:r>
              <a:rPr b="1" lang="en-US" sz="1050">
                <a:solidFill>
                  <a:srgbClr val="2C4A6E"/>
                </a:solidFill>
                <a:latin typeface="Consolas"/>
                <a:ea typeface="Consolas"/>
                <a:cs typeface="Consolas"/>
                <a:sym typeface="Consolas"/>
              </a:rPr>
              <a:t>matrix</a:t>
            </a:r>
            <a:r>
              <a:rPr lang="en-US" sz="1050">
                <a:solidFill>
                  <a:srgbClr val="1C2433"/>
                </a:solidFill>
                <a:latin typeface="Consolas"/>
                <a:ea typeface="Consolas"/>
                <a:cs typeface="Consolas"/>
                <a:sym typeface="Consolas"/>
              </a:rPr>
              <a:t>[N_train, N_train] L_K;</a:t>
            </a:r>
            <a:endParaRPr sz="1050">
              <a:solidFill>
                <a:srgbClr val="1C2433"/>
              </a:solidFill>
              <a:latin typeface="Consolas"/>
              <a:ea typeface="Consolas"/>
              <a:cs typeface="Consolas"/>
              <a:sym typeface="Consolas"/>
            </a:endParaRPr>
          </a:p>
          <a:p>
            <a:pPr indent="0" lvl="0" marL="0" marR="0" rtl="0" algn="l">
              <a:lnSpc>
                <a:spcPct val="115000"/>
              </a:lnSpc>
              <a:spcBef>
                <a:spcPts val="0"/>
              </a:spcBef>
              <a:spcAft>
                <a:spcPts val="0"/>
              </a:spcAft>
              <a:buClr>
                <a:srgbClr val="1C2433"/>
              </a:buClr>
              <a:buSzPts val="1050"/>
              <a:buFont typeface="Consolas"/>
              <a:buNone/>
            </a:pPr>
            <a:r>
              <a:t/>
            </a:r>
            <a:endParaRPr sz="1050">
              <a:solidFill>
                <a:srgbClr val="1C2433"/>
              </a:solidFill>
              <a:latin typeface="Consolas"/>
              <a:ea typeface="Consolas"/>
              <a:cs typeface="Consolas"/>
              <a:sym typeface="Consolas"/>
            </a:endParaRPr>
          </a:p>
          <a:p>
            <a:pPr indent="0" lvl="0" marL="0" marR="0" rtl="0" algn="l">
              <a:lnSpc>
                <a:spcPct val="115000"/>
              </a:lnSpc>
              <a:spcBef>
                <a:spcPts val="0"/>
              </a:spcBef>
              <a:spcAft>
                <a:spcPts val="0"/>
              </a:spcAft>
              <a:buClr>
                <a:srgbClr val="1C2433"/>
              </a:buClr>
              <a:buSzPts val="1050"/>
              <a:buFont typeface="Consolas"/>
              <a:buNone/>
            </a:pPr>
            <a:r>
              <a:rPr lang="en-US" sz="1050">
                <a:solidFill>
                  <a:srgbClr val="1C2433"/>
                </a:solidFill>
                <a:latin typeface="Consolas"/>
                <a:ea typeface="Consolas"/>
                <a:cs typeface="Consolas"/>
                <a:sym typeface="Consolas"/>
              </a:rPr>
              <a:t>  </a:t>
            </a:r>
            <a:r>
              <a:rPr i="1" lang="en-US" sz="1050">
                <a:solidFill>
                  <a:srgbClr val="8A8578"/>
                </a:solidFill>
                <a:latin typeface="Consolas"/>
                <a:ea typeface="Consolas"/>
                <a:cs typeface="Consolas"/>
                <a:sym typeface="Consolas"/>
              </a:rPr>
              <a:t>// Weakly informative priors for positive</a:t>
            </a:r>
            <a:endParaRPr/>
          </a:p>
          <a:p>
            <a:pPr indent="0" lvl="0" marL="0" marR="0" rtl="0" algn="l">
              <a:lnSpc>
                <a:spcPct val="115000"/>
              </a:lnSpc>
              <a:spcBef>
                <a:spcPts val="0"/>
              </a:spcBef>
              <a:spcAft>
                <a:spcPts val="0"/>
              </a:spcAft>
              <a:buClr>
                <a:srgbClr val="1C2433"/>
              </a:buClr>
              <a:buSzPts val="1050"/>
              <a:buFont typeface="Consolas"/>
              <a:buNone/>
            </a:pPr>
            <a:r>
              <a:rPr lang="en-US" sz="1050">
                <a:solidFill>
                  <a:srgbClr val="1C2433"/>
                </a:solidFill>
                <a:latin typeface="Consolas"/>
                <a:ea typeface="Consolas"/>
                <a:cs typeface="Consolas"/>
                <a:sym typeface="Consolas"/>
              </a:rPr>
              <a:t>  </a:t>
            </a:r>
            <a:r>
              <a:rPr i="1" lang="en-US" sz="1050">
                <a:solidFill>
                  <a:srgbClr val="8A8578"/>
                </a:solidFill>
                <a:latin typeface="Consolas"/>
                <a:ea typeface="Consolas"/>
                <a:cs typeface="Consolas"/>
                <a:sym typeface="Consolas"/>
              </a:rPr>
              <a:t>// GP hyperparameters</a:t>
            </a:r>
            <a:endParaRPr/>
          </a:p>
          <a:p>
            <a:pPr indent="0" lvl="0" marL="0" marR="0" rtl="0" algn="l">
              <a:lnSpc>
                <a:spcPct val="115000"/>
              </a:lnSpc>
              <a:spcBef>
                <a:spcPts val="0"/>
              </a:spcBef>
              <a:spcAft>
                <a:spcPts val="0"/>
              </a:spcAft>
              <a:buClr>
                <a:srgbClr val="1C2433"/>
              </a:buClr>
              <a:buSzPts val="1050"/>
              <a:buFont typeface="Consolas"/>
              <a:buNone/>
            </a:pPr>
            <a:r>
              <a:rPr lang="en-US" sz="1050">
                <a:solidFill>
                  <a:srgbClr val="1C2433"/>
                </a:solidFill>
                <a:latin typeface="Consolas"/>
                <a:ea typeface="Consolas"/>
                <a:cs typeface="Consolas"/>
                <a:sym typeface="Consolas"/>
              </a:rPr>
              <a:t>  alpha ~ </a:t>
            </a:r>
            <a:r>
              <a:rPr lang="en-US" sz="1050">
                <a:solidFill>
                  <a:srgbClr val="B5532A"/>
                </a:solidFill>
                <a:latin typeface="Consolas"/>
                <a:ea typeface="Consolas"/>
                <a:cs typeface="Consolas"/>
                <a:sym typeface="Consolas"/>
              </a:rPr>
              <a:t>lognormal</a:t>
            </a:r>
            <a:r>
              <a:rPr lang="en-US" sz="1050">
                <a:solidFill>
                  <a:srgbClr val="1C2433"/>
                </a:solidFill>
                <a:latin typeface="Consolas"/>
                <a:ea typeface="Consolas"/>
                <a:cs typeface="Consolas"/>
                <a:sym typeface="Consolas"/>
              </a:rPr>
              <a:t>(0, 0.5);</a:t>
            </a:r>
            <a:endParaRPr/>
          </a:p>
          <a:p>
            <a:pPr indent="0" lvl="0" marL="0" marR="0" rtl="0" algn="l">
              <a:lnSpc>
                <a:spcPct val="115000"/>
              </a:lnSpc>
              <a:spcBef>
                <a:spcPts val="0"/>
              </a:spcBef>
              <a:spcAft>
                <a:spcPts val="0"/>
              </a:spcAft>
              <a:buClr>
                <a:srgbClr val="1C2433"/>
              </a:buClr>
              <a:buSzPts val="1050"/>
              <a:buFont typeface="Consolas"/>
              <a:buNone/>
            </a:pPr>
            <a:r>
              <a:rPr lang="en-US" sz="1050">
                <a:solidFill>
                  <a:srgbClr val="1C2433"/>
                </a:solidFill>
                <a:latin typeface="Consolas"/>
                <a:ea typeface="Consolas"/>
                <a:cs typeface="Consolas"/>
                <a:sym typeface="Consolas"/>
              </a:rPr>
              <a:t>  rho   ~ </a:t>
            </a:r>
            <a:r>
              <a:rPr lang="en-US" sz="1050">
                <a:solidFill>
                  <a:srgbClr val="B5532A"/>
                </a:solidFill>
                <a:latin typeface="Consolas"/>
                <a:ea typeface="Consolas"/>
                <a:cs typeface="Consolas"/>
                <a:sym typeface="Consolas"/>
              </a:rPr>
              <a:t>lognormal</a:t>
            </a:r>
            <a:r>
              <a:rPr lang="en-US" sz="1050">
                <a:solidFill>
                  <a:srgbClr val="1C2433"/>
                </a:solidFill>
                <a:latin typeface="Consolas"/>
                <a:ea typeface="Consolas"/>
                <a:cs typeface="Consolas"/>
                <a:sym typeface="Consolas"/>
              </a:rPr>
              <a:t>(0, 0.5);</a:t>
            </a:r>
            <a:endParaRPr/>
          </a:p>
          <a:p>
            <a:pPr indent="0" lvl="0" marL="0" marR="0" rtl="0" algn="l">
              <a:lnSpc>
                <a:spcPct val="115000"/>
              </a:lnSpc>
              <a:spcBef>
                <a:spcPts val="0"/>
              </a:spcBef>
              <a:spcAft>
                <a:spcPts val="0"/>
              </a:spcAft>
              <a:buClr>
                <a:srgbClr val="1C2433"/>
              </a:buClr>
              <a:buSzPts val="1050"/>
              <a:buFont typeface="Consolas"/>
              <a:buNone/>
            </a:pPr>
            <a:r>
              <a:rPr lang="en-US" sz="1050">
                <a:solidFill>
                  <a:srgbClr val="1C2433"/>
                </a:solidFill>
                <a:latin typeface="Consolas"/>
                <a:ea typeface="Consolas"/>
                <a:cs typeface="Consolas"/>
                <a:sym typeface="Consolas"/>
              </a:rPr>
              <a:t>  sigma ~ </a:t>
            </a:r>
            <a:r>
              <a:rPr lang="en-US" sz="1050">
                <a:solidFill>
                  <a:srgbClr val="B5532A"/>
                </a:solidFill>
                <a:latin typeface="Consolas"/>
                <a:ea typeface="Consolas"/>
                <a:cs typeface="Consolas"/>
                <a:sym typeface="Consolas"/>
              </a:rPr>
              <a:t>lognormal</a:t>
            </a:r>
            <a:r>
              <a:rPr lang="en-US" sz="1050">
                <a:solidFill>
                  <a:srgbClr val="1C2433"/>
                </a:solidFill>
                <a:latin typeface="Consolas"/>
                <a:ea typeface="Consolas"/>
                <a:cs typeface="Consolas"/>
                <a:sym typeface="Consolas"/>
              </a:rPr>
              <a:t>(-1, 0.5);</a:t>
            </a:r>
            <a:endParaRPr sz="1050">
              <a:solidFill>
                <a:srgbClr val="1C2433"/>
              </a:solidFill>
              <a:latin typeface="Consolas"/>
              <a:ea typeface="Consolas"/>
              <a:cs typeface="Consolas"/>
              <a:sym typeface="Consolas"/>
            </a:endParaRPr>
          </a:p>
          <a:p>
            <a:pPr indent="0" lvl="0" marL="0" marR="0" rtl="0" algn="l">
              <a:lnSpc>
                <a:spcPct val="115000"/>
              </a:lnSpc>
              <a:spcBef>
                <a:spcPts val="0"/>
              </a:spcBef>
              <a:spcAft>
                <a:spcPts val="0"/>
              </a:spcAft>
              <a:buClr>
                <a:srgbClr val="1C2433"/>
              </a:buClr>
              <a:buSzPts val="1050"/>
              <a:buFont typeface="Consolas"/>
              <a:buNone/>
            </a:pPr>
            <a:r>
              <a:t/>
            </a:r>
            <a:endParaRPr sz="1050">
              <a:solidFill>
                <a:srgbClr val="1C2433"/>
              </a:solidFill>
              <a:latin typeface="Consolas"/>
              <a:ea typeface="Consolas"/>
              <a:cs typeface="Consolas"/>
              <a:sym typeface="Consolas"/>
            </a:endParaRPr>
          </a:p>
          <a:p>
            <a:pPr indent="0" lvl="0" marL="0" marR="0" rtl="0" algn="l">
              <a:lnSpc>
                <a:spcPct val="115000"/>
              </a:lnSpc>
              <a:spcBef>
                <a:spcPts val="0"/>
              </a:spcBef>
              <a:spcAft>
                <a:spcPts val="0"/>
              </a:spcAft>
              <a:buClr>
                <a:srgbClr val="1C2433"/>
              </a:buClr>
              <a:buSzPts val="1050"/>
              <a:buFont typeface="Consolas"/>
              <a:buNone/>
            </a:pPr>
            <a:r>
              <a:rPr lang="en-US" sz="1050">
                <a:solidFill>
                  <a:srgbClr val="1C2433"/>
                </a:solidFill>
                <a:latin typeface="Consolas"/>
                <a:ea typeface="Consolas"/>
                <a:cs typeface="Consolas"/>
                <a:sym typeface="Consolas"/>
              </a:rPr>
              <a:t>  </a:t>
            </a:r>
            <a:r>
              <a:rPr i="1" lang="en-US" sz="1050">
                <a:solidFill>
                  <a:srgbClr val="8A8578"/>
                </a:solidFill>
                <a:latin typeface="Consolas"/>
                <a:ea typeface="Consolas"/>
                <a:cs typeface="Consolas"/>
                <a:sym typeface="Consolas"/>
              </a:rPr>
              <a:t>// Use robust </a:t>
            </a:r>
            <a:r>
              <a:rPr i="1" lang="en-US" sz="1050">
                <a:solidFill>
                  <a:srgbClr val="8A8578"/>
                </a:solidFill>
                <a:latin typeface="Consolas"/>
                <a:ea typeface="Consolas"/>
                <a:cs typeface="Consolas"/>
                <a:sym typeface="Consolas"/>
              </a:rPr>
              <a:t>gp_exp_quad_cov</a:t>
            </a:r>
            <a:r>
              <a:rPr i="1" lang="en-US" sz="1050">
                <a:solidFill>
                  <a:srgbClr val="8A8578"/>
                </a:solidFill>
                <a:latin typeface="Consolas"/>
                <a:ea typeface="Consolas"/>
                <a:cs typeface="Consolas"/>
                <a:sym typeface="Consolas"/>
              </a:rPr>
              <a:t> to avoid</a:t>
            </a:r>
            <a:endParaRPr/>
          </a:p>
          <a:p>
            <a:pPr indent="0" lvl="0" marL="0" marR="0" rtl="0" algn="l">
              <a:lnSpc>
                <a:spcPct val="115000"/>
              </a:lnSpc>
              <a:spcBef>
                <a:spcPts val="0"/>
              </a:spcBef>
              <a:spcAft>
                <a:spcPts val="0"/>
              </a:spcAft>
              <a:buClr>
                <a:srgbClr val="1C2433"/>
              </a:buClr>
              <a:buSzPts val="1050"/>
              <a:buFont typeface="Consolas"/>
              <a:buNone/>
            </a:pPr>
            <a:r>
              <a:rPr lang="en-US" sz="1050">
                <a:solidFill>
                  <a:srgbClr val="1C2433"/>
                </a:solidFill>
                <a:latin typeface="Consolas"/>
                <a:ea typeface="Consolas"/>
                <a:cs typeface="Consolas"/>
                <a:sym typeface="Consolas"/>
              </a:rPr>
              <a:t>  </a:t>
            </a:r>
            <a:r>
              <a:rPr i="1" lang="en-US" sz="1050">
                <a:solidFill>
                  <a:srgbClr val="8A8578"/>
                </a:solidFill>
                <a:latin typeface="Consolas"/>
                <a:ea typeface="Consolas"/>
                <a:cs typeface="Consolas"/>
                <a:sym typeface="Consolas"/>
              </a:rPr>
              <a:t>// 0 * Inf gradient NaNs</a:t>
            </a:r>
            <a:endParaRPr/>
          </a:p>
          <a:p>
            <a:pPr indent="0" lvl="0" marL="0" marR="0" rtl="0" algn="l">
              <a:lnSpc>
                <a:spcPct val="115000"/>
              </a:lnSpc>
              <a:spcBef>
                <a:spcPts val="0"/>
              </a:spcBef>
              <a:spcAft>
                <a:spcPts val="0"/>
              </a:spcAft>
              <a:buClr>
                <a:srgbClr val="1C2433"/>
              </a:buClr>
              <a:buSzPts val="1050"/>
              <a:buFont typeface="Consolas"/>
              <a:buNone/>
            </a:pPr>
            <a:r>
              <a:rPr lang="en-US" sz="1050">
                <a:solidFill>
                  <a:srgbClr val="1C2433"/>
                </a:solidFill>
                <a:latin typeface="Consolas"/>
                <a:ea typeface="Consolas"/>
                <a:cs typeface="Consolas"/>
                <a:sym typeface="Consolas"/>
              </a:rPr>
              <a:t>  K = </a:t>
            </a:r>
            <a:r>
              <a:rPr lang="en-US" sz="1050">
                <a:solidFill>
                  <a:srgbClr val="B5532A"/>
                </a:solidFill>
                <a:latin typeface="Consolas"/>
                <a:ea typeface="Consolas"/>
                <a:cs typeface="Consolas"/>
                <a:sym typeface="Consolas"/>
              </a:rPr>
              <a:t>gp_exp_quad_cov</a:t>
            </a:r>
            <a:r>
              <a:rPr lang="en-US" sz="1050">
                <a:solidFill>
                  <a:srgbClr val="1C2433"/>
                </a:solidFill>
                <a:latin typeface="Consolas"/>
                <a:ea typeface="Consolas"/>
                <a:cs typeface="Consolas"/>
                <a:sym typeface="Consolas"/>
              </a:rPr>
              <a:t>(X_train, alpha, rho);</a:t>
            </a:r>
            <a:endParaRPr/>
          </a:p>
          <a:p>
            <a:pPr indent="0" lvl="0" marL="0" marR="0" rtl="0" algn="l">
              <a:lnSpc>
                <a:spcPct val="115000"/>
              </a:lnSpc>
              <a:spcBef>
                <a:spcPts val="0"/>
              </a:spcBef>
              <a:spcAft>
                <a:spcPts val="0"/>
              </a:spcAft>
              <a:buClr>
                <a:srgbClr val="1C2433"/>
              </a:buClr>
              <a:buSzPts val="1050"/>
              <a:buFont typeface="Consolas"/>
              <a:buNone/>
            </a:pPr>
            <a:r>
              <a:rPr lang="en-US" sz="1050">
                <a:solidFill>
                  <a:srgbClr val="1C2433"/>
                </a:solidFill>
                <a:latin typeface="Consolas"/>
                <a:ea typeface="Consolas"/>
                <a:cs typeface="Consolas"/>
                <a:sym typeface="Consolas"/>
              </a:rPr>
              <a:t>  </a:t>
            </a:r>
            <a:r>
              <a:rPr b="1" lang="en-US" sz="1050">
                <a:solidFill>
                  <a:srgbClr val="2C4A6E"/>
                </a:solidFill>
                <a:latin typeface="Consolas"/>
                <a:ea typeface="Consolas"/>
                <a:cs typeface="Consolas"/>
                <a:sym typeface="Consolas"/>
              </a:rPr>
              <a:t>for</a:t>
            </a:r>
            <a:r>
              <a:rPr lang="en-US" sz="1050">
                <a:solidFill>
                  <a:srgbClr val="1C2433"/>
                </a:solidFill>
                <a:latin typeface="Consolas"/>
                <a:ea typeface="Consolas"/>
                <a:cs typeface="Consolas"/>
                <a:sym typeface="Consolas"/>
              </a:rPr>
              <a:t> (i </a:t>
            </a:r>
            <a:r>
              <a:rPr b="1" lang="en-US" sz="1050">
                <a:solidFill>
                  <a:srgbClr val="2C4A6E"/>
                </a:solidFill>
                <a:latin typeface="Consolas"/>
                <a:ea typeface="Consolas"/>
                <a:cs typeface="Consolas"/>
                <a:sym typeface="Consolas"/>
              </a:rPr>
              <a:t>in</a:t>
            </a:r>
            <a:r>
              <a:rPr lang="en-US" sz="1050">
                <a:solidFill>
                  <a:srgbClr val="1C2433"/>
                </a:solidFill>
                <a:latin typeface="Consolas"/>
                <a:ea typeface="Consolas"/>
                <a:cs typeface="Consolas"/>
                <a:sym typeface="Consolas"/>
              </a:rPr>
              <a:t> 1:N_train) {</a:t>
            </a:r>
            <a:endParaRPr/>
          </a:p>
          <a:p>
            <a:pPr indent="0" lvl="0" marL="0" marR="0" rtl="0" algn="l">
              <a:lnSpc>
                <a:spcPct val="115000"/>
              </a:lnSpc>
              <a:spcBef>
                <a:spcPts val="0"/>
              </a:spcBef>
              <a:spcAft>
                <a:spcPts val="0"/>
              </a:spcAft>
              <a:buClr>
                <a:srgbClr val="1C2433"/>
              </a:buClr>
              <a:buSzPts val="1050"/>
              <a:buFont typeface="Consolas"/>
              <a:buNone/>
            </a:pPr>
            <a:r>
              <a:rPr lang="en-US" sz="1050">
                <a:solidFill>
                  <a:srgbClr val="1C2433"/>
                </a:solidFill>
                <a:latin typeface="Consolas"/>
                <a:ea typeface="Consolas"/>
                <a:cs typeface="Consolas"/>
                <a:sym typeface="Consolas"/>
              </a:rPr>
              <a:t>    K[i, i] = K[i, i] + </a:t>
            </a:r>
            <a:r>
              <a:rPr lang="en-US" sz="1050">
                <a:solidFill>
                  <a:srgbClr val="B5532A"/>
                </a:solidFill>
                <a:latin typeface="Consolas"/>
                <a:ea typeface="Consolas"/>
                <a:cs typeface="Consolas"/>
                <a:sym typeface="Consolas"/>
              </a:rPr>
              <a:t>square</a:t>
            </a:r>
            <a:r>
              <a:rPr lang="en-US" sz="1050">
                <a:solidFill>
                  <a:srgbClr val="1C2433"/>
                </a:solidFill>
                <a:latin typeface="Consolas"/>
                <a:ea typeface="Consolas"/>
                <a:cs typeface="Consolas"/>
                <a:sym typeface="Consolas"/>
              </a:rPr>
              <a:t>(sigma) + jitter;</a:t>
            </a:r>
            <a:endParaRPr/>
          </a:p>
          <a:p>
            <a:pPr indent="0" lvl="0" marL="0" marR="0" rtl="0" algn="l">
              <a:lnSpc>
                <a:spcPct val="115000"/>
              </a:lnSpc>
              <a:spcBef>
                <a:spcPts val="0"/>
              </a:spcBef>
              <a:spcAft>
                <a:spcPts val="0"/>
              </a:spcAft>
              <a:buClr>
                <a:srgbClr val="1C2433"/>
              </a:buClr>
              <a:buSzPts val="1050"/>
              <a:buFont typeface="Consolas"/>
              <a:buNone/>
            </a:pPr>
            <a:r>
              <a:rPr lang="en-US" sz="1050">
                <a:solidFill>
                  <a:srgbClr val="1C2433"/>
                </a:solidFill>
                <a:latin typeface="Consolas"/>
                <a:ea typeface="Consolas"/>
                <a:cs typeface="Consolas"/>
                <a:sym typeface="Consolas"/>
              </a:rPr>
              <a:t>  }</a:t>
            </a:r>
            <a:endParaRPr/>
          </a:p>
          <a:p>
            <a:pPr indent="0" lvl="0" marL="0" marR="0" rtl="0" algn="l">
              <a:lnSpc>
                <a:spcPct val="115000"/>
              </a:lnSpc>
              <a:spcBef>
                <a:spcPts val="0"/>
              </a:spcBef>
              <a:spcAft>
                <a:spcPts val="0"/>
              </a:spcAft>
              <a:buClr>
                <a:srgbClr val="1C2433"/>
              </a:buClr>
              <a:buSzPts val="1050"/>
              <a:buFont typeface="Consolas"/>
              <a:buNone/>
            </a:pPr>
            <a:r>
              <a:rPr lang="en-US" sz="1050">
                <a:solidFill>
                  <a:srgbClr val="1C2433"/>
                </a:solidFill>
                <a:latin typeface="Consolas"/>
                <a:ea typeface="Consolas"/>
                <a:cs typeface="Consolas"/>
                <a:sym typeface="Consolas"/>
              </a:rPr>
              <a:t>  L_K = </a:t>
            </a:r>
            <a:r>
              <a:rPr lang="en-US" sz="1050">
                <a:solidFill>
                  <a:srgbClr val="B5532A"/>
                </a:solidFill>
                <a:latin typeface="Consolas"/>
                <a:ea typeface="Consolas"/>
                <a:cs typeface="Consolas"/>
                <a:sym typeface="Consolas"/>
              </a:rPr>
              <a:t>cholesky_decompose</a:t>
            </a:r>
            <a:r>
              <a:rPr lang="en-US" sz="1050">
                <a:solidFill>
                  <a:srgbClr val="1C2433"/>
                </a:solidFill>
                <a:latin typeface="Consolas"/>
                <a:ea typeface="Consolas"/>
                <a:cs typeface="Consolas"/>
                <a:sym typeface="Consolas"/>
              </a:rPr>
              <a:t>(K);</a:t>
            </a:r>
            <a:endParaRPr/>
          </a:p>
          <a:p>
            <a:pPr indent="0" lvl="0" marL="0" marR="0" rtl="0" algn="l">
              <a:lnSpc>
                <a:spcPct val="115000"/>
              </a:lnSpc>
              <a:spcBef>
                <a:spcPts val="0"/>
              </a:spcBef>
              <a:spcAft>
                <a:spcPts val="0"/>
              </a:spcAft>
              <a:buClr>
                <a:srgbClr val="1C2433"/>
              </a:buClr>
              <a:buSzPts val="1050"/>
              <a:buFont typeface="Consolas"/>
              <a:buNone/>
            </a:pPr>
            <a:r>
              <a:rPr lang="en-US" sz="1050">
                <a:solidFill>
                  <a:srgbClr val="1C2433"/>
                </a:solidFill>
                <a:latin typeface="Consolas"/>
                <a:ea typeface="Consolas"/>
                <a:cs typeface="Consolas"/>
                <a:sym typeface="Consolas"/>
              </a:rPr>
              <a:t>  y_train ~ </a:t>
            </a:r>
            <a:r>
              <a:rPr lang="en-US" sz="1050">
                <a:solidFill>
                  <a:srgbClr val="B5532A"/>
                </a:solidFill>
                <a:latin typeface="Consolas"/>
                <a:ea typeface="Consolas"/>
                <a:cs typeface="Consolas"/>
                <a:sym typeface="Consolas"/>
              </a:rPr>
              <a:t>multi_normal_cholesky</a:t>
            </a:r>
            <a:r>
              <a:rPr lang="en-US" sz="1050">
                <a:solidFill>
                  <a:srgbClr val="1C2433"/>
                </a:solidFill>
                <a:latin typeface="Consolas"/>
                <a:ea typeface="Consolas"/>
                <a:cs typeface="Consolas"/>
                <a:sym typeface="Consolas"/>
              </a:rPr>
              <a:t>(</a:t>
            </a:r>
            <a:endParaRPr/>
          </a:p>
          <a:p>
            <a:pPr indent="0" lvl="0" marL="0" marR="0" rtl="0" algn="l">
              <a:lnSpc>
                <a:spcPct val="115000"/>
              </a:lnSpc>
              <a:spcBef>
                <a:spcPts val="0"/>
              </a:spcBef>
              <a:spcAft>
                <a:spcPts val="0"/>
              </a:spcAft>
              <a:buClr>
                <a:srgbClr val="1C2433"/>
              </a:buClr>
              <a:buSzPts val="1050"/>
              <a:buFont typeface="Consolas"/>
              <a:buNone/>
            </a:pPr>
            <a:r>
              <a:rPr lang="en-US" sz="1050">
                <a:solidFill>
                  <a:srgbClr val="1C2433"/>
                </a:solidFill>
                <a:latin typeface="Consolas"/>
                <a:ea typeface="Consolas"/>
                <a:cs typeface="Consolas"/>
                <a:sym typeface="Consolas"/>
              </a:rPr>
              <a:t>    </a:t>
            </a:r>
            <a:r>
              <a:rPr lang="en-US" sz="1050">
                <a:solidFill>
                  <a:srgbClr val="B5532A"/>
                </a:solidFill>
                <a:latin typeface="Consolas"/>
                <a:ea typeface="Consolas"/>
                <a:cs typeface="Consolas"/>
                <a:sym typeface="Consolas"/>
              </a:rPr>
              <a:t>rep_vector</a:t>
            </a:r>
            <a:r>
              <a:rPr lang="en-US" sz="1050">
                <a:solidFill>
                  <a:srgbClr val="1C2433"/>
                </a:solidFill>
                <a:latin typeface="Consolas"/>
                <a:ea typeface="Consolas"/>
                <a:cs typeface="Consolas"/>
                <a:sym typeface="Consolas"/>
              </a:rPr>
              <a:t>(0, N_train), L_K);</a:t>
            </a:r>
            <a:endParaRPr/>
          </a:p>
          <a:p>
            <a:pPr indent="0" lvl="0" marL="0" marR="0" rtl="0" algn="l">
              <a:lnSpc>
                <a:spcPct val="115000"/>
              </a:lnSpc>
              <a:spcBef>
                <a:spcPts val="0"/>
              </a:spcBef>
              <a:spcAft>
                <a:spcPts val="0"/>
              </a:spcAft>
              <a:buClr>
                <a:srgbClr val="1C2433"/>
              </a:buClr>
              <a:buSzPts val="1050"/>
              <a:buFont typeface="Consolas"/>
              <a:buNone/>
            </a:pPr>
            <a:r>
              <a:rPr lang="en-US" sz="1050">
                <a:solidFill>
                  <a:srgbClr val="1C2433"/>
                </a:solidFill>
                <a:latin typeface="Consolas"/>
                <a:ea typeface="Consolas"/>
                <a:cs typeface="Consolas"/>
                <a:sym typeface="Consolas"/>
              </a:rPr>
              <a:t>}</a:t>
            </a:r>
            <a:endParaRPr/>
          </a:p>
        </p:txBody>
      </p:sp>
      <p:sp>
        <p:nvSpPr>
          <p:cNvPr id="240" name="Google Shape;240;p14"/>
          <p:cNvSpPr/>
          <p:nvPr/>
        </p:nvSpPr>
        <p:spPr>
          <a:xfrm>
            <a:off x="6223000" y="1310640"/>
            <a:ext cx="5461000" cy="5229860"/>
          </a:xfrm>
          <a:prstGeom prst="roundRect">
            <a:avLst>
              <a:gd fmla="val 4000" name="adj"/>
            </a:avLst>
          </a:prstGeom>
          <a:solidFill>
            <a:srgbClr val="F5F1E8"/>
          </a:solidFill>
          <a:ln cap="flat" cmpd="sng" w="9525">
            <a:solidFill>
              <a:srgbClr val="D9CFB8"/>
            </a:solidFill>
            <a:prstDash val="solid"/>
            <a:round/>
            <a:headEnd len="sm" w="sm" type="none"/>
            <a:tailEnd len="sm" w="sm" type="none"/>
          </a:ln>
        </p:spPr>
        <p:txBody>
          <a:bodyPr anchorCtr="0" anchor="t" bIns="91425" lIns="114300" spcFirstLastPara="1" rIns="114300" wrap="square" tIns="91425">
            <a:noAutofit/>
          </a:bodyPr>
          <a:lstStyle/>
          <a:p>
            <a:pPr indent="0" lvl="0" marL="0" marR="0" rtl="0" algn="l">
              <a:spcBef>
                <a:spcPts val="0"/>
              </a:spcBef>
              <a:spcAft>
                <a:spcPts val="0"/>
              </a:spcAft>
              <a:buClr>
                <a:srgbClr val="B5532A"/>
              </a:buClr>
              <a:buSzPts val="1200"/>
              <a:buFont typeface="Arial"/>
              <a:buNone/>
            </a:pPr>
            <a:r>
              <a:rPr b="1" lang="en-US" sz="1200">
                <a:solidFill>
                  <a:srgbClr val="B5532A"/>
                </a:solidFill>
                <a:latin typeface="Arial"/>
                <a:ea typeface="Arial"/>
                <a:cs typeface="Arial"/>
                <a:sym typeface="Arial"/>
              </a:rPr>
              <a:t>GENERATED QUANTITIES BLOCK</a:t>
            </a:r>
            <a:endParaRPr/>
          </a:p>
          <a:p>
            <a:pPr indent="0" lvl="0" marL="0" marR="0" rtl="0" algn="l">
              <a:spcBef>
                <a:spcPts val="0"/>
              </a:spcBef>
              <a:spcAft>
                <a:spcPts val="0"/>
              </a:spcAft>
              <a:buClr>
                <a:schemeClr val="dk1"/>
              </a:buClr>
              <a:buSzPts val="1050"/>
              <a:buFont typeface="Arial"/>
              <a:buNone/>
            </a:pPr>
            <a:r>
              <a:t/>
            </a:r>
            <a:endParaRPr sz="1050">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2C4A6E"/>
              </a:buClr>
              <a:buSzPts val="1050"/>
              <a:buFont typeface="Consolas"/>
              <a:buNone/>
            </a:pPr>
            <a:r>
              <a:rPr b="1" lang="en-US" sz="1050">
                <a:solidFill>
                  <a:srgbClr val="2C4A6E"/>
                </a:solidFill>
                <a:latin typeface="Consolas"/>
                <a:ea typeface="Consolas"/>
                <a:cs typeface="Consolas"/>
                <a:sym typeface="Consolas"/>
              </a:rPr>
              <a:t>generated</a:t>
            </a:r>
            <a:r>
              <a:rPr lang="en-US" sz="1050">
                <a:solidFill>
                  <a:srgbClr val="1C2433"/>
                </a:solidFill>
                <a:latin typeface="Consolas"/>
                <a:ea typeface="Consolas"/>
                <a:cs typeface="Consolas"/>
                <a:sym typeface="Consolas"/>
              </a:rPr>
              <a:t> </a:t>
            </a:r>
            <a:r>
              <a:rPr b="1" lang="en-US" sz="1050">
                <a:solidFill>
                  <a:srgbClr val="2C4A6E"/>
                </a:solidFill>
                <a:latin typeface="Consolas"/>
                <a:ea typeface="Consolas"/>
                <a:cs typeface="Consolas"/>
                <a:sym typeface="Consolas"/>
              </a:rPr>
              <a:t>quantities</a:t>
            </a:r>
            <a:r>
              <a:rPr lang="en-US" sz="1050">
                <a:solidFill>
                  <a:srgbClr val="1C2433"/>
                </a:solidFill>
                <a:latin typeface="Consolas"/>
                <a:ea typeface="Consolas"/>
                <a:cs typeface="Consolas"/>
                <a:sym typeface="Consolas"/>
              </a:rPr>
              <a:t> {</a:t>
            </a:r>
            <a:endParaRPr/>
          </a:p>
          <a:p>
            <a:pPr indent="0" lvl="0" marL="0" marR="0" rtl="0" algn="l">
              <a:lnSpc>
                <a:spcPct val="115000"/>
              </a:lnSpc>
              <a:spcBef>
                <a:spcPts val="0"/>
              </a:spcBef>
              <a:spcAft>
                <a:spcPts val="0"/>
              </a:spcAft>
              <a:buClr>
                <a:srgbClr val="1C2433"/>
              </a:buClr>
              <a:buSzPts val="1050"/>
              <a:buFont typeface="Consolas"/>
              <a:buNone/>
            </a:pPr>
            <a:r>
              <a:rPr lang="en-US" sz="1050">
                <a:solidFill>
                  <a:srgbClr val="1C2433"/>
                </a:solidFill>
                <a:latin typeface="Consolas"/>
                <a:ea typeface="Consolas"/>
                <a:cs typeface="Consolas"/>
                <a:sym typeface="Consolas"/>
              </a:rPr>
              <a:t>  </a:t>
            </a:r>
            <a:r>
              <a:rPr i="1" lang="en-US" sz="1050">
                <a:solidFill>
                  <a:srgbClr val="8A8578"/>
                </a:solidFill>
                <a:latin typeface="Consolas"/>
                <a:ea typeface="Consolas"/>
                <a:cs typeface="Consolas"/>
                <a:sym typeface="Consolas"/>
              </a:rPr>
              <a:t>// Variable definitions redacted for brevity</a:t>
            </a:r>
            <a:endParaRPr/>
          </a:p>
          <a:p>
            <a:pPr indent="0" lvl="0" marL="0" marR="0" rtl="0" algn="l">
              <a:lnSpc>
                <a:spcPct val="115000"/>
              </a:lnSpc>
              <a:spcBef>
                <a:spcPts val="0"/>
              </a:spcBef>
              <a:spcAft>
                <a:spcPts val="0"/>
              </a:spcAft>
              <a:buClr>
                <a:schemeClr val="dk1"/>
              </a:buClr>
              <a:buSzPts val="1050"/>
              <a:buFont typeface="Arial"/>
              <a:buNone/>
            </a:pPr>
            <a:r>
              <a:t/>
            </a:r>
            <a:endParaRPr i="1" sz="1050">
              <a:solidFill>
                <a:srgbClr val="8A8578"/>
              </a:solidFill>
              <a:latin typeface="Consolas"/>
              <a:ea typeface="Consolas"/>
              <a:cs typeface="Consolas"/>
              <a:sym typeface="Consolas"/>
            </a:endParaRPr>
          </a:p>
          <a:p>
            <a:pPr indent="0" lvl="0" marL="0" marR="0" rtl="0" algn="l">
              <a:lnSpc>
                <a:spcPct val="115000"/>
              </a:lnSpc>
              <a:spcBef>
                <a:spcPts val="0"/>
              </a:spcBef>
              <a:spcAft>
                <a:spcPts val="0"/>
              </a:spcAft>
              <a:buClr>
                <a:srgbClr val="1C2433"/>
              </a:buClr>
              <a:buSzPts val="1050"/>
              <a:buFont typeface="Consolas"/>
              <a:buNone/>
            </a:pPr>
            <a:r>
              <a:rPr lang="en-US" sz="1050">
                <a:solidFill>
                  <a:srgbClr val="1C2433"/>
                </a:solidFill>
                <a:latin typeface="Consolas"/>
                <a:ea typeface="Consolas"/>
                <a:cs typeface="Consolas"/>
                <a:sym typeface="Consolas"/>
              </a:rPr>
              <a:t>  </a:t>
            </a:r>
            <a:r>
              <a:rPr i="1" lang="en-US" sz="1050">
                <a:solidFill>
                  <a:srgbClr val="8A8578"/>
                </a:solidFill>
                <a:latin typeface="Consolas"/>
                <a:ea typeface="Consolas"/>
                <a:cs typeface="Consolas"/>
                <a:sym typeface="Consolas"/>
              </a:rPr>
              <a:t>// Rebuild K using the built-in function</a:t>
            </a:r>
            <a:endParaRPr/>
          </a:p>
          <a:p>
            <a:pPr indent="0" lvl="0" marL="0" marR="0" rtl="0" algn="l">
              <a:lnSpc>
                <a:spcPct val="115000"/>
              </a:lnSpc>
              <a:spcBef>
                <a:spcPts val="0"/>
              </a:spcBef>
              <a:spcAft>
                <a:spcPts val="0"/>
              </a:spcAft>
              <a:buClr>
                <a:srgbClr val="1C2433"/>
              </a:buClr>
              <a:buSzPts val="1050"/>
              <a:buFont typeface="Consolas"/>
              <a:buNone/>
            </a:pPr>
            <a:r>
              <a:rPr lang="en-US" sz="1050">
                <a:solidFill>
                  <a:srgbClr val="1C2433"/>
                </a:solidFill>
                <a:latin typeface="Consolas"/>
                <a:ea typeface="Consolas"/>
                <a:cs typeface="Consolas"/>
                <a:sym typeface="Consolas"/>
              </a:rPr>
              <a:t>  K = </a:t>
            </a:r>
            <a:r>
              <a:rPr lang="en-US" sz="1050">
                <a:solidFill>
                  <a:srgbClr val="B5532A"/>
                </a:solidFill>
                <a:latin typeface="Consolas"/>
                <a:ea typeface="Consolas"/>
                <a:cs typeface="Consolas"/>
                <a:sym typeface="Consolas"/>
              </a:rPr>
              <a:t>gp_exp_quad_cov</a:t>
            </a:r>
            <a:r>
              <a:rPr lang="en-US" sz="1050">
                <a:solidFill>
                  <a:srgbClr val="1C2433"/>
                </a:solidFill>
                <a:latin typeface="Consolas"/>
                <a:ea typeface="Consolas"/>
                <a:cs typeface="Consolas"/>
                <a:sym typeface="Consolas"/>
              </a:rPr>
              <a:t>(X_train, alpha, rho);</a:t>
            </a:r>
            <a:endParaRPr/>
          </a:p>
          <a:p>
            <a:pPr indent="0" lvl="0" marL="0" marR="0" rtl="0" algn="l">
              <a:lnSpc>
                <a:spcPct val="115000"/>
              </a:lnSpc>
              <a:spcBef>
                <a:spcPts val="0"/>
              </a:spcBef>
              <a:spcAft>
                <a:spcPts val="0"/>
              </a:spcAft>
              <a:buClr>
                <a:srgbClr val="1C2433"/>
              </a:buClr>
              <a:buSzPts val="1050"/>
              <a:buFont typeface="Consolas"/>
              <a:buNone/>
            </a:pPr>
            <a:r>
              <a:rPr lang="en-US" sz="1050">
                <a:solidFill>
                  <a:srgbClr val="1C2433"/>
                </a:solidFill>
                <a:latin typeface="Consolas"/>
                <a:ea typeface="Consolas"/>
                <a:cs typeface="Consolas"/>
                <a:sym typeface="Consolas"/>
              </a:rPr>
              <a:t>  </a:t>
            </a:r>
            <a:r>
              <a:rPr b="1" lang="en-US" sz="1050">
                <a:solidFill>
                  <a:srgbClr val="2C4A6E"/>
                </a:solidFill>
                <a:latin typeface="Consolas"/>
                <a:ea typeface="Consolas"/>
                <a:cs typeface="Consolas"/>
                <a:sym typeface="Consolas"/>
              </a:rPr>
              <a:t>for</a:t>
            </a:r>
            <a:r>
              <a:rPr lang="en-US" sz="1050">
                <a:solidFill>
                  <a:srgbClr val="1C2433"/>
                </a:solidFill>
                <a:latin typeface="Consolas"/>
                <a:ea typeface="Consolas"/>
                <a:cs typeface="Consolas"/>
                <a:sym typeface="Consolas"/>
              </a:rPr>
              <a:t> (i </a:t>
            </a:r>
            <a:r>
              <a:rPr b="1" lang="en-US" sz="1050">
                <a:solidFill>
                  <a:srgbClr val="2C4A6E"/>
                </a:solidFill>
                <a:latin typeface="Consolas"/>
                <a:ea typeface="Consolas"/>
                <a:cs typeface="Consolas"/>
                <a:sym typeface="Consolas"/>
              </a:rPr>
              <a:t>in</a:t>
            </a:r>
            <a:r>
              <a:rPr lang="en-US" sz="1050">
                <a:solidFill>
                  <a:srgbClr val="1C2433"/>
                </a:solidFill>
                <a:latin typeface="Consolas"/>
                <a:ea typeface="Consolas"/>
                <a:cs typeface="Consolas"/>
                <a:sym typeface="Consolas"/>
              </a:rPr>
              <a:t> 1:N_train) {</a:t>
            </a:r>
            <a:endParaRPr/>
          </a:p>
          <a:p>
            <a:pPr indent="0" lvl="0" marL="0" marR="0" rtl="0" algn="l">
              <a:lnSpc>
                <a:spcPct val="115000"/>
              </a:lnSpc>
              <a:spcBef>
                <a:spcPts val="0"/>
              </a:spcBef>
              <a:spcAft>
                <a:spcPts val="0"/>
              </a:spcAft>
              <a:buClr>
                <a:srgbClr val="1C2433"/>
              </a:buClr>
              <a:buSzPts val="1050"/>
              <a:buFont typeface="Consolas"/>
              <a:buNone/>
            </a:pPr>
            <a:r>
              <a:rPr lang="en-US" sz="1050">
                <a:solidFill>
                  <a:srgbClr val="1C2433"/>
                </a:solidFill>
                <a:latin typeface="Consolas"/>
                <a:ea typeface="Consolas"/>
                <a:cs typeface="Consolas"/>
                <a:sym typeface="Consolas"/>
              </a:rPr>
              <a:t>    K[i, i] = K[i, i] + </a:t>
            </a:r>
            <a:r>
              <a:rPr lang="en-US" sz="1050">
                <a:solidFill>
                  <a:srgbClr val="B5532A"/>
                </a:solidFill>
                <a:latin typeface="Consolas"/>
                <a:ea typeface="Consolas"/>
                <a:cs typeface="Consolas"/>
                <a:sym typeface="Consolas"/>
              </a:rPr>
              <a:t>square</a:t>
            </a:r>
            <a:r>
              <a:rPr lang="en-US" sz="1050">
                <a:solidFill>
                  <a:srgbClr val="1C2433"/>
                </a:solidFill>
                <a:latin typeface="Consolas"/>
                <a:ea typeface="Consolas"/>
                <a:cs typeface="Consolas"/>
                <a:sym typeface="Consolas"/>
              </a:rPr>
              <a:t>(sigma) + jitter;</a:t>
            </a:r>
            <a:endParaRPr/>
          </a:p>
          <a:p>
            <a:pPr indent="0" lvl="0" marL="0" marR="0" rtl="0" algn="l">
              <a:lnSpc>
                <a:spcPct val="115000"/>
              </a:lnSpc>
              <a:spcBef>
                <a:spcPts val="0"/>
              </a:spcBef>
              <a:spcAft>
                <a:spcPts val="0"/>
              </a:spcAft>
              <a:buClr>
                <a:srgbClr val="1C2433"/>
              </a:buClr>
              <a:buSzPts val="1050"/>
              <a:buFont typeface="Consolas"/>
              <a:buNone/>
            </a:pPr>
            <a:r>
              <a:rPr lang="en-US" sz="1050">
                <a:solidFill>
                  <a:srgbClr val="1C2433"/>
                </a:solidFill>
                <a:latin typeface="Consolas"/>
                <a:ea typeface="Consolas"/>
                <a:cs typeface="Consolas"/>
                <a:sym typeface="Consolas"/>
              </a:rPr>
              <a:t>  }</a:t>
            </a:r>
            <a:endParaRPr/>
          </a:p>
          <a:p>
            <a:pPr indent="0" lvl="0" marL="0" marR="0" rtl="0" algn="l">
              <a:lnSpc>
                <a:spcPct val="115000"/>
              </a:lnSpc>
              <a:spcBef>
                <a:spcPts val="0"/>
              </a:spcBef>
              <a:spcAft>
                <a:spcPts val="0"/>
              </a:spcAft>
              <a:buClr>
                <a:srgbClr val="1C2433"/>
              </a:buClr>
              <a:buSzPts val="1050"/>
              <a:buFont typeface="Consolas"/>
              <a:buNone/>
            </a:pPr>
            <a:r>
              <a:rPr lang="en-US" sz="1050">
                <a:solidFill>
                  <a:srgbClr val="1C2433"/>
                </a:solidFill>
                <a:latin typeface="Consolas"/>
                <a:ea typeface="Consolas"/>
                <a:cs typeface="Consolas"/>
                <a:sym typeface="Consolas"/>
              </a:rPr>
              <a:t>  </a:t>
            </a:r>
            <a:r>
              <a:rPr i="1" lang="en-US" sz="1050">
                <a:solidFill>
                  <a:srgbClr val="8A8578"/>
                </a:solidFill>
                <a:latin typeface="Consolas"/>
                <a:ea typeface="Consolas"/>
                <a:cs typeface="Consolas"/>
                <a:sym typeface="Consolas"/>
              </a:rPr>
              <a:t>// Cross and test covariance</a:t>
            </a:r>
            <a:endParaRPr/>
          </a:p>
          <a:p>
            <a:pPr indent="0" lvl="0" marL="0" marR="0" rtl="0" algn="l">
              <a:lnSpc>
                <a:spcPct val="115000"/>
              </a:lnSpc>
              <a:spcBef>
                <a:spcPts val="0"/>
              </a:spcBef>
              <a:spcAft>
                <a:spcPts val="0"/>
              </a:spcAft>
              <a:buClr>
                <a:srgbClr val="1C2433"/>
              </a:buClr>
              <a:buSzPts val="1050"/>
              <a:buFont typeface="Consolas"/>
              <a:buNone/>
            </a:pPr>
            <a:r>
              <a:rPr lang="en-US" sz="1050">
                <a:solidFill>
                  <a:srgbClr val="1C2433"/>
                </a:solidFill>
                <a:latin typeface="Consolas"/>
                <a:ea typeface="Consolas"/>
                <a:cs typeface="Consolas"/>
                <a:sym typeface="Consolas"/>
              </a:rPr>
              <a:t>  K_s  = </a:t>
            </a:r>
            <a:r>
              <a:rPr lang="en-US" sz="1050">
                <a:solidFill>
                  <a:srgbClr val="B5532A"/>
                </a:solidFill>
                <a:latin typeface="Consolas"/>
                <a:ea typeface="Consolas"/>
                <a:cs typeface="Consolas"/>
                <a:sym typeface="Consolas"/>
              </a:rPr>
              <a:t>gp_exp_quad_cov</a:t>
            </a:r>
            <a:r>
              <a:rPr lang="en-US" sz="1050">
                <a:solidFill>
                  <a:srgbClr val="1C2433"/>
                </a:solidFill>
                <a:latin typeface="Consolas"/>
                <a:ea typeface="Consolas"/>
                <a:cs typeface="Consolas"/>
                <a:sym typeface="Consolas"/>
              </a:rPr>
              <a:t>(X_train, X_test, alpha, rho);</a:t>
            </a:r>
            <a:endParaRPr/>
          </a:p>
          <a:p>
            <a:pPr indent="0" lvl="0" marL="0" marR="0" rtl="0" algn="l">
              <a:lnSpc>
                <a:spcPct val="115000"/>
              </a:lnSpc>
              <a:spcBef>
                <a:spcPts val="0"/>
              </a:spcBef>
              <a:spcAft>
                <a:spcPts val="0"/>
              </a:spcAft>
              <a:buClr>
                <a:srgbClr val="1C2433"/>
              </a:buClr>
              <a:buSzPts val="1050"/>
              <a:buFont typeface="Consolas"/>
              <a:buNone/>
            </a:pPr>
            <a:r>
              <a:rPr lang="en-US" sz="1050">
                <a:solidFill>
                  <a:srgbClr val="1C2433"/>
                </a:solidFill>
                <a:latin typeface="Consolas"/>
                <a:ea typeface="Consolas"/>
                <a:cs typeface="Consolas"/>
                <a:sym typeface="Consolas"/>
              </a:rPr>
              <a:t>  K_ss = </a:t>
            </a:r>
            <a:r>
              <a:rPr lang="en-US" sz="1050">
                <a:solidFill>
                  <a:srgbClr val="B5532A"/>
                </a:solidFill>
                <a:latin typeface="Consolas"/>
                <a:ea typeface="Consolas"/>
                <a:cs typeface="Consolas"/>
                <a:sym typeface="Consolas"/>
              </a:rPr>
              <a:t>gp_exp_quad_cov</a:t>
            </a:r>
            <a:r>
              <a:rPr lang="en-US" sz="1050">
                <a:solidFill>
                  <a:srgbClr val="1C2433"/>
                </a:solidFill>
                <a:latin typeface="Consolas"/>
                <a:ea typeface="Consolas"/>
                <a:cs typeface="Consolas"/>
                <a:sym typeface="Consolas"/>
              </a:rPr>
              <a:t>(X_test, alpha, rho);</a:t>
            </a:r>
            <a:endParaRPr/>
          </a:p>
          <a:p>
            <a:pPr indent="0" lvl="0" marL="0" marR="0" rtl="0" algn="l">
              <a:lnSpc>
                <a:spcPct val="115000"/>
              </a:lnSpc>
              <a:spcBef>
                <a:spcPts val="0"/>
              </a:spcBef>
              <a:spcAft>
                <a:spcPts val="0"/>
              </a:spcAft>
              <a:buClr>
                <a:srgbClr val="1C2433"/>
              </a:buClr>
              <a:buSzPts val="1050"/>
              <a:buFont typeface="Consolas"/>
              <a:buNone/>
            </a:pPr>
            <a:r>
              <a:rPr lang="en-US" sz="1050">
                <a:solidFill>
                  <a:srgbClr val="1C2433"/>
                </a:solidFill>
                <a:latin typeface="Consolas"/>
                <a:ea typeface="Consolas"/>
                <a:cs typeface="Consolas"/>
                <a:sym typeface="Consolas"/>
              </a:rPr>
              <a:t>  </a:t>
            </a:r>
            <a:r>
              <a:rPr b="1" lang="en-US" sz="1050">
                <a:solidFill>
                  <a:srgbClr val="2C4A6E"/>
                </a:solidFill>
                <a:latin typeface="Consolas"/>
                <a:ea typeface="Consolas"/>
                <a:cs typeface="Consolas"/>
                <a:sym typeface="Consolas"/>
              </a:rPr>
              <a:t>for</a:t>
            </a:r>
            <a:r>
              <a:rPr lang="en-US" sz="1050">
                <a:solidFill>
                  <a:srgbClr val="1C2433"/>
                </a:solidFill>
                <a:latin typeface="Consolas"/>
                <a:ea typeface="Consolas"/>
                <a:cs typeface="Consolas"/>
                <a:sym typeface="Consolas"/>
              </a:rPr>
              <a:t> (i </a:t>
            </a:r>
            <a:r>
              <a:rPr b="1" lang="en-US" sz="1050">
                <a:solidFill>
                  <a:srgbClr val="2C4A6E"/>
                </a:solidFill>
                <a:latin typeface="Consolas"/>
                <a:ea typeface="Consolas"/>
                <a:cs typeface="Consolas"/>
                <a:sym typeface="Consolas"/>
              </a:rPr>
              <a:t>in</a:t>
            </a:r>
            <a:r>
              <a:rPr lang="en-US" sz="1050">
                <a:solidFill>
                  <a:srgbClr val="1C2433"/>
                </a:solidFill>
                <a:latin typeface="Consolas"/>
                <a:ea typeface="Consolas"/>
                <a:cs typeface="Consolas"/>
                <a:sym typeface="Consolas"/>
              </a:rPr>
              <a:t> 1:N_test) {</a:t>
            </a:r>
            <a:endParaRPr/>
          </a:p>
          <a:p>
            <a:pPr indent="0" lvl="0" marL="0" marR="0" rtl="0" algn="l">
              <a:lnSpc>
                <a:spcPct val="115000"/>
              </a:lnSpc>
              <a:spcBef>
                <a:spcPts val="0"/>
              </a:spcBef>
              <a:spcAft>
                <a:spcPts val="0"/>
              </a:spcAft>
              <a:buClr>
                <a:srgbClr val="1C2433"/>
              </a:buClr>
              <a:buSzPts val="1050"/>
              <a:buFont typeface="Consolas"/>
              <a:buNone/>
            </a:pPr>
            <a:r>
              <a:rPr lang="en-US" sz="1050">
                <a:solidFill>
                  <a:srgbClr val="1C2433"/>
                </a:solidFill>
                <a:latin typeface="Consolas"/>
                <a:ea typeface="Consolas"/>
                <a:cs typeface="Consolas"/>
                <a:sym typeface="Consolas"/>
              </a:rPr>
              <a:t>    K_ss[i, i] = K_ss[i, i] + jitter;</a:t>
            </a:r>
            <a:endParaRPr/>
          </a:p>
          <a:p>
            <a:pPr indent="0" lvl="0" marL="0" marR="0" rtl="0" algn="l">
              <a:lnSpc>
                <a:spcPct val="115000"/>
              </a:lnSpc>
              <a:spcBef>
                <a:spcPts val="0"/>
              </a:spcBef>
              <a:spcAft>
                <a:spcPts val="0"/>
              </a:spcAft>
              <a:buClr>
                <a:srgbClr val="1C2433"/>
              </a:buClr>
              <a:buSzPts val="1050"/>
              <a:buFont typeface="Consolas"/>
              <a:buNone/>
            </a:pPr>
            <a:r>
              <a:rPr lang="en-US" sz="1050">
                <a:solidFill>
                  <a:srgbClr val="1C2433"/>
                </a:solidFill>
                <a:latin typeface="Consolas"/>
                <a:ea typeface="Consolas"/>
                <a:cs typeface="Consolas"/>
                <a:sym typeface="Consolas"/>
              </a:rPr>
              <a:t>  }</a:t>
            </a:r>
            <a:endParaRPr/>
          </a:p>
          <a:p>
            <a:pPr indent="0" lvl="0" marL="0" marR="0" rtl="0" algn="l">
              <a:lnSpc>
                <a:spcPct val="115000"/>
              </a:lnSpc>
              <a:spcBef>
                <a:spcPts val="0"/>
              </a:spcBef>
              <a:spcAft>
                <a:spcPts val="0"/>
              </a:spcAft>
              <a:buClr>
                <a:srgbClr val="1C2433"/>
              </a:buClr>
              <a:buSzPts val="1050"/>
              <a:buFont typeface="Consolas"/>
              <a:buNone/>
            </a:pPr>
            <a:r>
              <a:rPr lang="en-US" sz="1050">
                <a:solidFill>
                  <a:srgbClr val="1C2433"/>
                </a:solidFill>
                <a:latin typeface="Consolas"/>
                <a:ea typeface="Consolas"/>
                <a:cs typeface="Consolas"/>
                <a:sym typeface="Consolas"/>
              </a:rPr>
              <a:t>  </a:t>
            </a:r>
            <a:r>
              <a:rPr i="1" lang="en-US" sz="1050">
                <a:solidFill>
                  <a:srgbClr val="8A8578"/>
                </a:solidFill>
                <a:latin typeface="Consolas"/>
                <a:ea typeface="Consolas"/>
                <a:cs typeface="Consolas"/>
                <a:sym typeface="Consolas"/>
              </a:rPr>
              <a:t>// Posterior predictive mean and covariance</a:t>
            </a:r>
            <a:endParaRPr/>
          </a:p>
          <a:p>
            <a:pPr indent="0" lvl="0" marL="0" marR="0" rtl="0" algn="l">
              <a:lnSpc>
                <a:spcPct val="115000"/>
              </a:lnSpc>
              <a:spcBef>
                <a:spcPts val="0"/>
              </a:spcBef>
              <a:spcAft>
                <a:spcPts val="0"/>
              </a:spcAft>
              <a:buClr>
                <a:srgbClr val="1C2433"/>
              </a:buClr>
              <a:buSzPts val="1050"/>
              <a:buFont typeface="Consolas"/>
              <a:buNone/>
            </a:pPr>
            <a:r>
              <a:rPr lang="en-US" sz="1050">
                <a:solidFill>
                  <a:srgbClr val="1C2433"/>
                </a:solidFill>
                <a:latin typeface="Consolas"/>
                <a:ea typeface="Consolas"/>
                <a:cs typeface="Consolas"/>
                <a:sym typeface="Consolas"/>
              </a:rPr>
              <a:t>  alpha_vec   = </a:t>
            </a:r>
            <a:r>
              <a:rPr lang="en-US" sz="1050">
                <a:solidFill>
                  <a:srgbClr val="B5532A"/>
                </a:solidFill>
                <a:latin typeface="Consolas"/>
                <a:ea typeface="Consolas"/>
                <a:cs typeface="Consolas"/>
                <a:sym typeface="Consolas"/>
              </a:rPr>
              <a:t>mdivide_left_spd</a:t>
            </a:r>
            <a:r>
              <a:rPr lang="en-US" sz="1050">
                <a:solidFill>
                  <a:srgbClr val="1C2433"/>
                </a:solidFill>
                <a:latin typeface="Consolas"/>
                <a:ea typeface="Consolas"/>
                <a:cs typeface="Consolas"/>
                <a:sym typeface="Consolas"/>
              </a:rPr>
              <a:t>(K, y_train);</a:t>
            </a:r>
            <a:endParaRPr/>
          </a:p>
          <a:p>
            <a:pPr indent="0" lvl="0" marL="0" marR="0" rtl="0" algn="l">
              <a:lnSpc>
                <a:spcPct val="115000"/>
              </a:lnSpc>
              <a:spcBef>
                <a:spcPts val="0"/>
              </a:spcBef>
              <a:spcAft>
                <a:spcPts val="0"/>
              </a:spcAft>
              <a:buClr>
                <a:srgbClr val="1C2433"/>
              </a:buClr>
              <a:buSzPts val="1050"/>
              <a:buFont typeface="Consolas"/>
              <a:buNone/>
            </a:pPr>
            <a:r>
              <a:rPr lang="en-US" sz="1050">
                <a:solidFill>
                  <a:srgbClr val="1C2433"/>
                </a:solidFill>
                <a:latin typeface="Consolas"/>
                <a:ea typeface="Consolas"/>
                <a:cs typeface="Consolas"/>
                <a:sym typeface="Consolas"/>
              </a:rPr>
              <a:t>  f_test_mean = K_s' * alpha_vec;</a:t>
            </a:r>
            <a:endParaRPr/>
          </a:p>
          <a:p>
            <a:pPr indent="0" lvl="0" marL="0" marR="0" rtl="0" algn="l">
              <a:lnSpc>
                <a:spcPct val="115000"/>
              </a:lnSpc>
              <a:spcBef>
                <a:spcPts val="0"/>
              </a:spcBef>
              <a:spcAft>
                <a:spcPts val="0"/>
              </a:spcAft>
              <a:buClr>
                <a:srgbClr val="1C2433"/>
              </a:buClr>
              <a:buSzPts val="1050"/>
              <a:buFont typeface="Consolas"/>
              <a:buNone/>
            </a:pPr>
            <a:r>
              <a:rPr lang="en-US" sz="1050">
                <a:solidFill>
                  <a:srgbClr val="1C2433"/>
                </a:solidFill>
                <a:latin typeface="Consolas"/>
                <a:ea typeface="Consolas"/>
                <a:cs typeface="Consolas"/>
                <a:sym typeface="Consolas"/>
              </a:rPr>
              <a:t>  K_pred      = K_ss - K_s' * </a:t>
            </a:r>
            <a:r>
              <a:rPr lang="en-US" sz="1050">
                <a:solidFill>
                  <a:srgbClr val="B5532A"/>
                </a:solidFill>
                <a:latin typeface="Consolas"/>
                <a:ea typeface="Consolas"/>
                <a:cs typeface="Consolas"/>
                <a:sym typeface="Consolas"/>
              </a:rPr>
              <a:t>mdivide_left_spd</a:t>
            </a:r>
            <a:r>
              <a:rPr lang="en-US" sz="1050">
                <a:solidFill>
                  <a:srgbClr val="1C2433"/>
                </a:solidFill>
                <a:latin typeface="Consolas"/>
                <a:ea typeface="Consolas"/>
                <a:cs typeface="Consolas"/>
                <a:sym typeface="Consolas"/>
              </a:rPr>
              <a:t>(K, K_s);</a:t>
            </a:r>
            <a:endParaRPr/>
          </a:p>
          <a:p>
            <a:pPr indent="0" lvl="0" marL="0" marR="0" rtl="0" algn="l">
              <a:lnSpc>
                <a:spcPct val="115000"/>
              </a:lnSpc>
              <a:spcBef>
                <a:spcPts val="0"/>
              </a:spcBef>
              <a:spcAft>
                <a:spcPts val="0"/>
              </a:spcAft>
              <a:buClr>
                <a:srgbClr val="1C2433"/>
              </a:buClr>
              <a:buSzPts val="1050"/>
              <a:buFont typeface="Consolas"/>
              <a:buNone/>
            </a:pPr>
            <a:r>
              <a:rPr lang="en-US" sz="1050">
                <a:solidFill>
                  <a:srgbClr val="1C2433"/>
                </a:solidFill>
                <a:latin typeface="Consolas"/>
                <a:ea typeface="Consolas"/>
                <a:cs typeface="Consolas"/>
                <a:sym typeface="Consolas"/>
              </a:rPr>
              <a:t>  </a:t>
            </a:r>
            <a:r>
              <a:rPr i="1" lang="en-US" sz="1050">
                <a:solidFill>
                  <a:srgbClr val="8A8578"/>
                </a:solidFill>
                <a:latin typeface="Consolas"/>
                <a:ea typeface="Consolas"/>
                <a:cs typeface="Consolas"/>
                <a:sym typeface="Consolas"/>
              </a:rPr>
              <a:t>// Add observation noise + jitter to stabilize</a:t>
            </a:r>
            <a:endParaRPr/>
          </a:p>
          <a:p>
            <a:pPr indent="0" lvl="0" marL="0" marR="0" rtl="0" algn="l">
              <a:lnSpc>
                <a:spcPct val="115000"/>
              </a:lnSpc>
              <a:spcBef>
                <a:spcPts val="0"/>
              </a:spcBef>
              <a:spcAft>
                <a:spcPts val="0"/>
              </a:spcAft>
              <a:buClr>
                <a:srgbClr val="1C2433"/>
              </a:buClr>
              <a:buSzPts val="1050"/>
              <a:buFont typeface="Consolas"/>
              <a:buNone/>
            </a:pPr>
            <a:r>
              <a:rPr lang="en-US" sz="1050">
                <a:solidFill>
                  <a:srgbClr val="1C2433"/>
                </a:solidFill>
                <a:latin typeface="Consolas"/>
                <a:ea typeface="Consolas"/>
                <a:cs typeface="Consolas"/>
                <a:sym typeface="Consolas"/>
              </a:rPr>
              <a:t>  </a:t>
            </a:r>
            <a:r>
              <a:rPr b="1" lang="en-US" sz="1050">
                <a:solidFill>
                  <a:srgbClr val="2C4A6E"/>
                </a:solidFill>
                <a:latin typeface="Consolas"/>
                <a:ea typeface="Consolas"/>
                <a:cs typeface="Consolas"/>
                <a:sym typeface="Consolas"/>
              </a:rPr>
              <a:t>for</a:t>
            </a:r>
            <a:r>
              <a:rPr lang="en-US" sz="1050">
                <a:solidFill>
                  <a:srgbClr val="1C2433"/>
                </a:solidFill>
                <a:latin typeface="Consolas"/>
                <a:ea typeface="Consolas"/>
                <a:cs typeface="Consolas"/>
                <a:sym typeface="Consolas"/>
              </a:rPr>
              <a:t> (i </a:t>
            </a:r>
            <a:r>
              <a:rPr b="1" lang="en-US" sz="1050">
                <a:solidFill>
                  <a:srgbClr val="2C4A6E"/>
                </a:solidFill>
                <a:latin typeface="Consolas"/>
                <a:ea typeface="Consolas"/>
                <a:cs typeface="Consolas"/>
                <a:sym typeface="Consolas"/>
              </a:rPr>
              <a:t>in</a:t>
            </a:r>
            <a:r>
              <a:rPr lang="en-US" sz="1050">
                <a:solidFill>
                  <a:srgbClr val="1C2433"/>
                </a:solidFill>
                <a:latin typeface="Consolas"/>
                <a:ea typeface="Consolas"/>
                <a:cs typeface="Consolas"/>
                <a:sym typeface="Consolas"/>
              </a:rPr>
              <a:t> 1:N_test) {</a:t>
            </a:r>
            <a:endParaRPr/>
          </a:p>
          <a:p>
            <a:pPr indent="0" lvl="0" marL="0" marR="0" rtl="0" algn="l">
              <a:lnSpc>
                <a:spcPct val="115000"/>
              </a:lnSpc>
              <a:spcBef>
                <a:spcPts val="0"/>
              </a:spcBef>
              <a:spcAft>
                <a:spcPts val="0"/>
              </a:spcAft>
              <a:buClr>
                <a:srgbClr val="1C2433"/>
              </a:buClr>
              <a:buSzPts val="1050"/>
              <a:buFont typeface="Consolas"/>
              <a:buNone/>
            </a:pPr>
            <a:r>
              <a:rPr lang="en-US" sz="1050">
                <a:solidFill>
                  <a:srgbClr val="1C2433"/>
                </a:solidFill>
                <a:latin typeface="Consolas"/>
                <a:ea typeface="Consolas"/>
                <a:cs typeface="Consolas"/>
                <a:sym typeface="Consolas"/>
              </a:rPr>
              <a:t>    K_pred[i, i] = K_pred[i, i] + </a:t>
            </a:r>
            <a:r>
              <a:rPr lang="en-US" sz="1050">
                <a:solidFill>
                  <a:srgbClr val="B5532A"/>
                </a:solidFill>
                <a:latin typeface="Consolas"/>
                <a:ea typeface="Consolas"/>
                <a:cs typeface="Consolas"/>
                <a:sym typeface="Consolas"/>
              </a:rPr>
              <a:t>square</a:t>
            </a:r>
            <a:r>
              <a:rPr lang="en-US" sz="1050">
                <a:solidFill>
                  <a:srgbClr val="1C2433"/>
                </a:solidFill>
                <a:latin typeface="Consolas"/>
                <a:ea typeface="Consolas"/>
                <a:cs typeface="Consolas"/>
                <a:sym typeface="Consolas"/>
              </a:rPr>
              <a:t>(sigma) + jitter;</a:t>
            </a:r>
            <a:endParaRPr/>
          </a:p>
          <a:p>
            <a:pPr indent="0" lvl="0" marL="0" marR="0" rtl="0" algn="l">
              <a:lnSpc>
                <a:spcPct val="115000"/>
              </a:lnSpc>
              <a:spcBef>
                <a:spcPts val="0"/>
              </a:spcBef>
              <a:spcAft>
                <a:spcPts val="0"/>
              </a:spcAft>
              <a:buClr>
                <a:srgbClr val="1C2433"/>
              </a:buClr>
              <a:buSzPts val="1050"/>
              <a:buFont typeface="Consolas"/>
              <a:buNone/>
            </a:pPr>
            <a:r>
              <a:rPr lang="en-US" sz="1050">
                <a:solidFill>
                  <a:srgbClr val="1C2433"/>
                </a:solidFill>
                <a:latin typeface="Consolas"/>
                <a:ea typeface="Consolas"/>
                <a:cs typeface="Consolas"/>
                <a:sym typeface="Consolas"/>
              </a:rPr>
              <a:t>  }</a:t>
            </a:r>
            <a:endParaRPr/>
          </a:p>
          <a:p>
            <a:pPr indent="0" lvl="0" marL="0" marR="0" rtl="0" algn="l">
              <a:lnSpc>
                <a:spcPct val="115000"/>
              </a:lnSpc>
              <a:spcBef>
                <a:spcPts val="0"/>
              </a:spcBef>
              <a:spcAft>
                <a:spcPts val="0"/>
              </a:spcAft>
              <a:buClr>
                <a:srgbClr val="1C2433"/>
              </a:buClr>
              <a:buSzPts val="1050"/>
              <a:buFont typeface="Consolas"/>
              <a:buNone/>
            </a:pPr>
            <a:r>
              <a:rPr lang="en-US" sz="1050">
                <a:solidFill>
                  <a:srgbClr val="1C2433"/>
                </a:solidFill>
                <a:latin typeface="Consolas"/>
                <a:ea typeface="Consolas"/>
                <a:cs typeface="Consolas"/>
                <a:sym typeface="Consolas"/>
              </a:rPr>
              <a:t>  </a:t>
            </a:r>
            <a:r>
              <a:rPr i="1" lang="en-US" sz="1050">
                <a:solidFill>
                  <a:srgbClr val="8A8578"/>
                </a:solidFill>
                <a:latin typeface="Consolas"/>
                <a:ea typeface="Consolas"/>
                <a:cs typeface="Consolas"/>
                <a:sym typeface="Consolas"/>
              </a:rPr>
              <a:t>// Draw posterior predictive samples</a:t>
            </a:r>
            <a:endParaRPr/>
          </a:p>
          <a:p>
            <a:pPr indent="0" lvl="0" marL="0" marR="0" rtl="0" algn="l">
              <a:lnSpc>
                <a:spcPct val="115000"/>
              </a:lnSpc>
              <a:spcBef>
                <a:spcPts val="0"/>
              </a:spcBef>
              <a:spcAft>
                <a:spcPts val="0"/>
              </a:spcAft>
              <a:buClr>
                <a:srgbClr val="1C2433"/>
              </a:buClr>
              <a:buSzPts val="1050"/>
              <a:buFont typeface="Consolas"/>
              <a:buNone/>
            </a:pPr>
            <a:r>
              <a:rPr lang="en-US" sz="1050">
                <a:solidFill>
                  <a:srgbClr val="1C2433"/>
                </a:solidFill>
                <a:latin typeface="Consolas"/>
                <a:ea typeface="Consolas"/>
                <a:cs typeface="Consolas"/>
                <a:sym typeface="Consolas"/>
              </a:rPr>
              <a:t>  y_test_rep = </a:t>
            </a:r>
            <a:r>
              <a:rPr lang="en-US" sz="1050">
                <a:solidFill>
                  <a:srgbClr val="B5532A"/>
                </a:solidFill>
                <a:latin typeface="Consolas"/>
                <a:ea typeface="Consolas"/>
                <a:cs typeface="Consolas"/>
                <a:sym typeface="Consolas"/>
              </a:rPr>
              <a:t>multi_normal_rng</a:t>
            </a:r>
            <a:r>
              <a:rPr lang="en-US" sz="1050">
                <a:solidFill>
                  <a:srgbClr val="1C2433"/>
                </a:solidFill>
                <a:latin typeface="Consolas"/>
                <a:ea typeface="Consolas"/>
                <a:cs typeface="Consolas"/>
                <a:sym typeface="Consolas"/>
              </a:rPr>
              <a:t>(f_test_mean, K_pred);</a:t>
            </a:r>
            <a:endParaRPr/>
          </a:p>
          <a:p>
            <a:pPr indent="0" lvl="0" marL="0" marR="0" rtl="0" algn="l">
              <a:lnSpc>
                <a:spcPct val="115000"/>
              </a:lnSpc>
              <a:spcBef>
                <a:spcPts val="0"/>
              </a:spcBef>
              <a:spcAft>
                <a:spcPts val="0"/>
              </a:spcAft>
              <a:buClr>
                <a:srgbClr val="1C2433"/>
              </a:buClr>
              <a:buSzPts val="1050"/>
              <a:buFont typeface="Consolas"/>
              <a:buNone/>
            </a:pPr>
            <a:r>
              <a:rPr lang="en-US" sz="1050">
                <a:solidFill>
                  <a:srgbClr val="1C2433"/>
                </a:solidFill>
                <a:latin typeface="Consolas"/>
                <a:ea typeface="Consolas"/>
                <a:cs typeface="Consolas"/>
                <a:sym typeface="Consolas"/>
              </a:rPr>
              <a:t>}</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15"/>
          <p:cNvSpPr txBox="1"/>
          <p:nvPr>
            <p:ph type="title"/>
          </p:nvPr>
        </p:nvSpPr>
        <p:spPr>
          <a:xfrm>
            <a:off x="838200" y="355475"/>
            <a:ext cx="10515600" cy="823800"/>
          </a:xfrm>
          <a:prstGeom prst="rect">
            <a:avLst/>
          </a:prstGeom>
          <a:solidFill>
            <a:srgbClr val="000000">
              <a:alpha val="0"/>
            </a:srgbClr>
          </a:solidFill>
          <a:ln>
            <a:noFill/>
          </a:ln>
        </p:spPr>
        <p:txBody>
          <a:bodyPr anchorCtr="0" anchor="ctr" bIns="47625" lIns="95250" spcFirstLastPara="1" rIns="95250" wrap="square" tIns="47625">
            <a:normAutofit/>
          </a:bodyPr>
          <a:lstStyle/>
          <a:p>
            <a:pPr indent="0" lvl="0" marL="0" rtl="0" algn="l">
              <a:lnSpc>
                <a:spcPct val="90000"/>
              </a:lnSpc>
              <a:spcBef>
                <a:spcPts val="0"/>
              </a:spcBef>
              <a:spcAft>
                <a:spcPts val="0"/>
              </a:spcAft>
              <a:buClr>
                <a:srgbClr val="1C2433"/>
              </a:buClr>
              <a:buSzPts val="4000"/>
              <a:buFont typeface="Playfair Display"/>
              <a:buNone/>
            </a:pPr>
            <a:r>
              <a:rPr b="1" lang="en-US" sz="4000">
                <a:solidFill>
                  <a:srgbClr val="1C2433"/>
                </a:solidFill>
                <a:latin typeface="Playfair Display"/>
                <a:ea typeface="Playfair Display"/>
                <a:cs typeface="Playfair Display"/>
                <a:sym typeface="Playfair Display"/>
              </a:rPr>
              <a:t>Numeric Tricks for GP Stability</a:t>
            </a:r>
            <a:endParaRPr b="1" sz="4000">
              <a:solidFill>
                <a:srgbClr val="1C2433"/>
              </a:solidFill>
              <a:latin typeface="Playfair Display"/>
              <a:ea typeface="Playfair Display"/>
              <a:cs typeface="Playfair Display"/>
              <a:sym typeface="Playfair Display"/>
            </a:endParaRPr>
          </a:p>
        </p:txBody>
      </p:sp>
      <p:sp>
        <p:nvSpPr>
          <p:cNvPr id="246" name="Google Shape;246;p15"/>
          <p:cNvSpPr txBox="1"/>
          <p:nvPr/>
        </p:nvSpPr>
        <p:spPr>
          <a:xfrm>
            <a:off x="1047750" y="1714500"/>
            <a:ext cx="10096500" cy="4191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2433"/>
              </a:buClr>
              <a:buSzPts val="2100"/>
              <a:buFont typeface="Arial"/>
              <a:buNone/>
            </a:pPr>
            <a:r>
              <a:rPr b="1" lang="en-US" sz="2100">
                <a:solidFill>
                  <a:srgbClr val="1C2433"/>
                </a:solidFill>
                <a:latin typeface="Arial"/>
                <a:ea typeface="Arial"/>
                <a:cs typeface="Arial"/>
                <a:sym typeface="Arial"/>
              </a:rPr>
              <a:t>Ensuring Numerical Stability in GP Models</a:t>
            </a:r>
            <a:endParaRPr b="1" sz="2100">
              <a:solidFill>
                <a:srgbClr val="1C2433"/>
              </a:solidFill>
              <a:latin typeface="Arial"/>
              <a:ea typeface="Arial"/>
              <a:cs typeface="Arial"/>
              <a:sym typeface="Arial"/>
            </a:endParaRPr>
          </a:p>
          <a:p>
            <a:pPr indent="0" lvl="0" marL="0" marR="0" rtl="0" algn="l">
              <a:spcBef>
                <a:spcPts val="1875"/>
              </a:spcBef>
              <a:spcAft>
                <a:spcPts val="0"/>
              </a:spcAft>
              <a:buClr>
                <a:srgbClr val="1C2433"/>
              </a:buClr>
              <a:buSzPts val="1900"/>
              <a:buFont typeface="Arial"/>
              <a:buNone/>
            </a:pPr>
            <a:r>
              <a:rPr b="1" lang="en-US" sz="1900">
                <a:solidFill>
                  <a:srgbClr val="1C2433"/>
                </a:solidFill>
                <a:latin typeface="Arial"/>
                <a:ea typeface="Arial"/>
                <a:cs typeface="Arial"/>
                <a:sym typeface="Arial"/>
              </a:rPr>
              <a:t>01. Safe Boundaries &amp; Priors</a:t>
            </a:r>
            <a:endParaRPr b="1" sz="1900">
              <a:solidFill>
                <a:srgbClr val="1C2433"/>
              </a:solidFill>
              <a:latin typeface="Arial"/>
              <a:ea typeface="Arial"/>
              <a:cs typeface="Arial"/>
              <a:sym typeface="Arial"/>
            </a:endParaRPr>
          </a:p>
          <a:p>
            <a:pPr indent="0" lvl="0" marL="0" marR="0" rtl="0" algn="l">
              <a:spcBef>
                <a:spcPts val="375"/>
              </a:spcBef>
              <a:spcAft>
                <a:spcPts val="0"/>
              </a:spcAft>
              <a:buClr>
                <a:srgbClr val="4A5568"/>
              </a:buClr>
              <a:buSzPts val="1700"/>
              <a:buFont typeface="Arial"/>
              <a:buNone/>
            </a:pPr>
            <a:r>
              <a:rPr lang="en-US" sz="1700">
                <a:solidFill>
                  <a:srgbClr val="4A5568"/>
                </a:solidFill>
                <a:latin typeface="Arial"/>
                <a:ea typeface="Arial"/>
                <a:cs typeface="Arial"/>
                <a:sym typeface="Arial"/>
              </a:rPr>
              <a:t>Applied </a:t>
            </a:r>
            <a:r>
              <a:rPr b="1" lang="en-US" sz="1700">
                <a:solidFill>
                  <a:srgbClr val="4A5568"/>
                </a:solidFill>
                <a:latin typeface="Courier New"/>
                <a:ea typeface="Courier New"/>
                <a:cs typeface="Courier New"/>
                <a:sym typeface="Courier New"/>
              </a:rPr>
              <a:t>&lt;lower=1e-6&gt;</a:t>
            </a:r>
            <a:r>
              <a:rPr lang="en-US" sz="1700">
                <a:solidFill>
                  <a:srgbClr val="4A5568"/>
                </a:solidFill>
                <a:latin typeface="Arial"/>
                <a:ea typeface="Arial"/>
                <a:cs typeface="Arial"/>
                <a:sym typeface="Arial"/>
              </a:rPr>
              <a:t> constraints and Log-normal priors to prevent parameters from collapsing to zero.</a:t>
            </a:r>
            <a:endParaRPr sz="1700">
              <a:solidFill>
                <a:srgbClr val="4A5568"/>
              </a:solidFill>
              <a:latin typeface="Arial"/>
              <a:ea typeface="Arial"/>
              <a:cs typeface="Arial"/>
              <a:sym typeface="Arial"/>
            </a:endParaRPr>
          </a:p>
          <a:p>
            <a:pPr indent="0" lvl="0" marL="0" marR="0" rtl="0" algn="l">
              <a:spcBef>
                <a:spcPts val="1500"/>
              </a:spcBef>
              <a:spcAft>
                <a:spcPts val="0"/>
              </a:spcAft>
              <a:buClr>
                <a:srgbClr val="1C2433"/>
              </a:buClr>
              <a:buSzPts val="1900"/>
              <a:buFont typeface="Arial"/>
              <a:buNone/>
            </a:pPr>
            <a:r>
              <a:rPr b="1" lang="en-US" sz="1900">
                <a:solidFill>
                  <a:srgbClr val="1C2433"/>
                </a:solidFill>
                <a:latin typeface="Arial"/>
                <a:ea typeface="Arial"/>
                <a:cs typeface="Arial"/>
                <a:sym typeface="Arial"/>
              </a:rPr>
              <a:t>02. Diagonal Jitter</a:t>
            </a:r>
            <a:endParaRPr b="1" sz="1900">
              <a:solidFill>
                <a:srgbClr val="1C2433"/>
              </a:solidFill>
              <a:latin typeface="Arial"/>
              <a:ea typeface="Arial"/>
              <a:cs typeface="Arial"/>
              <a:sym typeface="Arial"/>
            </a:endParaRPr>
          </a:p>
          <a:p>
            <a:pPr indent="0" lvl="0" marL="0" marR="0" rtl="0" algn="l">
              <a:spcBef>
                <a:spcPts val="375"/>
              </a:spcBef>
              <a:spcAft>
                <a:spcPts val="0"/>
              </a:spcAft>
              <a:buClr>
                <a:srgbClr val="4A5568"/>
              </a:buClr>
              <a:buSzPts val="1700"/>
              <a:buFont typeface="Arial"/>
              <a:buNone/>
            </a:pPr>
            <a:r>
              <a:rPr lang="en-US" sz="1700">
                <a:solidFill>
                  <a:srgbClr val="4A5568"/>
                </a:solidFill>
                <a:latin typeface="Arial"/>
                <a:ea typeface="Arial"/>
                <a:cs typeface="Arial"/>
                <a:sym typeface="Arial"/>
              </a:rPr>
              <a:t>Added </a:t>
            </a:r>
            <a:r>
              <a:rPr b="1" lang="en-US" sz="1700">
                <a:solidFill>
                  <a:srgbClr val="4A5568"/>
                </a:solidFill>
                <a:latin typeface="Courier New"/>
                <a:ea typeface="Courier New"/>
                <a:cs typeface="Courier New"/>
                <a:sym typeface="Courier New"/>
              </a:rPr>
              <a:t>(1e-5)</a:t>
            </a:r>
            <a:r>
              <a:rPr lang="en-US" sz="1700">
                <a:solidFill>
                  <a:srgbClr val="4A5568"/>
                </a:solidFill>
                <a:latin typeface="Arial"/>
                <a:ea typeface="Arial"/>
                <a:cs typeface="Arial"/>
                <a:sym typeface="Arial"/>
              </a:rPr>
              <a:t> to the covariance matrix to guarantee positive</a:t>
            </a:r>
            <a:r>
              <a:rPr lang="en-US" sz="1700">
                <a:solidFill>
                  <a:srgbClr val="4A5568"/>
                </a:solidFill>
              </a:rPr>
              <a:t>-</a:t>
            </a:r>
            <a:r>
              <a:rPr lang="en-US" sz="1700">
                <a:solidFill>
                  <a:srgbClr val="4A5568"/>
                </a:solidFill>
                <a:latin typeface="Arial"/>
                <a:ea typeface="Arial"/>
                <a:cs typeface="Arial"/>
                <a:sym typeface="Arial"/>
              </a:rPr>
              <a:t>definite.</a:t>
            </a:r>
            <a:endParaRPr sz="1700">
              <a:solidFill>
                <a:srgbClr val="4A5568"/>
              </a:solidFill>
              <a:latin typeface="Arial"/>
              <a:ea typeface="Arial"/>
              <a:cs typeface="Arial"/>
              <a:sym typeface="Arial"/>
            </a:endParaRPr>
          </a:p>
          <a:p>
            <a:pPr indent="0" lvl="0" marL="0" marR="0" rtl="0" algn="l">
              <a:spcBef>
                <a:spcPts val="1500"/>
              </a:spcBef>
              <a:spcAft>
                <a:spcPts val="0"/>
              </a:spcAft>
              <a:buClr>
                <a:srgbClr val="1C2433"/>
              </a:buClr>
              <a:buSzPts val="1900"/>
              <a:buFont typeface="Arial"/>
              <a:buNone/>
            </a:pPr>
            <a:r>
              <a:rPr b="1" lang="en-US" sz="1900">
                <a:solidFill>
                  <a:srgbClr val="1C2433"/>
                </a:solidFill>
                <a:latin typeface="Arial"/>
                <a:ea typeface="Arial"/>
                <a:cs typeface="Arial"/>
                <a:sym typeface="Arial"/>
              </a:rPr>
              <a:t>03. Optimized Built-in Functions</a:t>
            </a:r>
            <a:endParaRPr b="1" sz="1900">
              <a:solidFill>
                <a:srgbClr val="1C2433"/>
              </a:solidFill>
              <a:latin typeface="Arial"/>
              <a:ea typeface="Arial"/>
              <a:cs typeface="Arial"/>
              <a:sym typeface="Arial"/>
            </a:endParaRPr>
          </a:p>
          <a:p>
            <a:pPr indent="0" lvl="0" marL="0" marR="0" rtl="0" algn="l">
              <a:spcBef>
                <a:spcPts val="375"/>
              </a:spcBef>
              <a:spcAft>
                <a:spcPts val="0"/>
              </a:spcAft>
              <a:buClr>
                <a:srgbClr val="4A5568"/>
              </a:buClr>
              <a:buSzPts val="1700"/>
              <a:buFont typeface="Arial"/>
              <a:buNone/>
            </a:pPr>
            <a:r>
              <a:rPr lang="en-US" sz="1700">
                <a:solidFill>
                  <a:srgbClr val="4A5568"/>
                </a:solidFill>
                <a:latin typeface="Arial"/>
                <a:ea typeface="Arial"/>
                <a:cs typeface="Arial"/>
                <a:sym typeface="Arial"/>
              </a:rPr>
              <a:t>Utilized </a:t>
            </a:r>
            <a:r>
              <a:rPr b="1" lang="en-US" sz="1700">
                <a:solidFill>
                  <a:srgbClr val="4A5568"/>
                </a:solidFill>
                <a:latin typeface="Courier New"/>
                <a:ea typeface="Courier New"/>
                <a:cs typeface="Courier New"/>
                <a:sym typeface="Courier New"/>
              </a:rPr>
              <a:t>gp_exp_quad_cov</a:t>
            </a:r>
            <a:r>
              <a:rPr lang="en-US" sz="1700">
                <a:solidFill>
                  <a:srgbClr val="4A5568"/>
                </a:solidFill>
                <a:latin typeface="Arial"/>
                <a:ea typeface="Arial"/>
                <a:cs typeface="Arial"/>
                <a:sym typeface="Arial"/>
              </a:rPr>
              <a:t> to avoid 0 * Inf gradient crashes during HMC warmup exploration.</a:t>
            </a:r>
            <a:endParaRPr sz="1700">
              <a:solidFill>
                <a:srgbClr val="4A5568"/>
              </a:solidFill>
              <a:latin typeface="Arial"/>
              <a:ea typeface="Arial"/>
              <a:cs typeface="Arial"/>
              <a:sym typeface="Arial"/>
            </a:endParaRPr>
          </a:p>
          <a:p>
            <a:pPr indent="0" lvl="0" marL="0" marR="0" rtl="0" algn="l">
              <a:spcBef>
                <a:spcPts val="1500"/>
              </a:spcBef>
              <a:spcAft>
                <a:spcPts val="0"/>
              </a:spcAft>
              <a:buClr>
                <a:srgbClr val="1C2433"/>
              </a:buClr>
              <a:buSzPts val="1900"/>
              <a:buFont typeface="Arial"/>
              <a:buNone/>
            </a:pPr>
            <a:r>
              <a:rPr b="1" lang="en-US" sz="1900">
                <a:solidFill>
                  <a:srgbClr val="1C2433"/>
                </a:solidFill>
                <a:latin typeface="Arial"/>
                <a:ea typeface="Arial"/>
                <a:cs typeface="Arial"/>
                <a:sym typeface="Arial"/>
              </a:rPr>
              <a:t>04. Cholesky &amp; SPD Solvers</a:t>
            </a:r>
            <a:endParaRPr b="1" sz="1900">
              <a:solidFill>
                <a:srgbClr val="1C2433"/>
              </a:solidFill>
              <a:latin typeface="Arial"/>
              <a:ea typeface="Arial"/>
              <a:cs typeface="Arial"/>
              <a:sym typeface="Arial"/>
            </a:endParaRPr>
          </a:p>
          <a:p>
            <a:pPr indent="0" lvl="0" marL="0" marR="0" rtl="0" algn="l">
              <a:spcBef>
                <a:spcPts val="375"/>
              </a:spcBef>
              <a:spcAft>
                <a:spcPts val="750"/>
              </a:spcAft>
              <a:buClr>
                <a:srgbClr val="4A5568"/>
              </a:buClr>
              <a:buSzPts val="1700"/>
              <a:buFont typeface="Arial"/>
              <a:buNone/>
            </a:pPr>
            <a:r>
              <a:rPr lang="en-US" sz="1700">
                <a:solidFill>
                  <a:srgbClr val="4A5568"/>
                </a:solidFill>
              </a:rPr>
              <a:t>Avoided </a:t>
            </a:r>
            <a:r>
              <a:rPr lang="en-US" sz="1700">
                <a:solidFill>
                  <a:srgbClr val="4A5568"/>
                </a:solidFill>
                <a:latin typeface="Arial"/>
                <a:ea typeface="Arial"/>
                <a:cs typeface="Arial"/>
                <a:sym typeface="Arial"/>
              </a:rPr>
              <a:t>direct matrix inversions with robust Cholesky decompositions and </a:t>
            </a:r>
            <a:r>
              <a:rPr b="1" lang="en-US" sz="1700">
                <a:solidFill>
                  <a:srgbClr val="4A5568"/>
                </a:solidFill>
                <a:latin typeface="Courier New"/>
                <a:ea typeface="Courier New"/>
                <a:cs typeface="Courier New"/>
                <a:sym typeface="Courier New"/>
              </a:rPr>
              <a:t>mdivide_left_spd</a:t>
            </a:r>
            <a:r>
              <a:rPr lang="en-US" sz="1700">
                <a:solidFill>
                  <a:srgbClr val="4A5568"/>
                </a:solidFill>
                <a:latin typeface="Arial"/>
                <a:ea typeface="Arial"/>
                <a:cs typeface="Arial"/>
                <a:sym typeface="Arial"/>
              </a:rPr>
              <a:t> solvers.</a:t>
            </a:r>
            <a:endParaRPr sz="1700">
              <a:solidFill>
                <a:srgbClr val="4A5568"/>
              </a:solidFill>
              <a:latin typeface="Arial"/>
              <a:ea typeface="Arial"/>
              <a:cs typeface="Arial"/>
              <a:sym typeface="Arial"/>
            </a:endParaRPr>
          </a:p>
        </p:txBody>
      </p:sp>
      <p:cxnSp>
        <p:nvCxnSpPr>
          <p:cNvPr id="247" name="Google Shape;247;p15"/>
          <p:cNvCxnSpPr/>
          <p:nvPr/>
        </p:nvCxnSpPr>
        <p:spPr>
          <a:xfrm>
            <a:off x="838200" y="6381750"/>
            <a:ext cx="10515600" cy="0"/>
          </a:xfrm>
          <a:prstGeom prst="straightConnector1">
            <a:avLst/>
          </a:prstGeom>
          <a:solidFill>
            <a:srgbClr val="FFFFFF"/>
          </a:solidFill>
          <a:ln cap="flat" cmpd="sng" w="9525">
            <a:solidFill>
              <a:srgbClr val="E2E8F0"/>
            </a:solidFill>
            <a:prstDash val="solid"/>
            <a:round/>
            <a:headEnd len="sm" w="sm" type="none"/>
            <a:tailEnd len="sm" w="sm" type="none"/>
          </a:ln>
        </p:spPr>
      </p:cxn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16"/>
          <p:cNvSpPr txBox="1"/>
          <p:nvPr>
            <p:ph type="title"/>
          </p:nvPr>
        </p:nvSpPr>
        <p:spPr>
          <a:xfrm>
            <a:off x="762000" y="381000"/>
            <a:ext cx="10668000" cy="7620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l">
              <a:lnSpc>
                <a:spcPct val="90000"/>
              </a:lnSpc>
              <a:spcBef>
                <a:spcPts val="0"/>
              </a:spcBef>
              <a:spcAft>
                <a:spcPts val="0"/>
              </a:spcAft>
              <a:buClr>
                <a:srgbClr val="1C2433"/>
              </a:buClr>
              <a:buSzPts val="4000"/>
              <a:buFont typeface="Playfair Display"/>
              <a:buNone/>
            </a:pPr>
            <a:r>
              <a:rPr b="1" i="0" lang="en-US" sz="4000">
                <a:solidFill>
                  <a:srgbClr val="1C2433"/>
                </a:solidFill>
                <a:latin typeface="Playfair Display"/>
                <a:ea typeface="Playfair Display"/>
                <a:cs typeface="Playfair Display"/>
                <a:sym typeface="Playfair Display"/>
              </a:rPr>
              <a:t>Diagnostics</a:t>
            </a:r>
            <a:endParaRPr b="1" i="0" sz="4000">
              <a:solidFill>
                <a:srgbClr val="1C2433"/>
              </a:solidFill>
              <a:latin typeface="Playfair Display"/>
              <a:ea typeface="Playfair Display"/>
              <a:cs typeface="Playfair Display"/>
              <a:sym typeface="Playfair Display"/>
            </a:endParaRPr>
          </a:p>
        </p:txBody>
      </p:sp>
      <p:cxnSp>
        <p:nvCxnSpPr>
          <p:cNvPr id="253" name="Google Shape;253;p16"/>
          <p:cNvCxnSpPr/>
          <p:nvPr/>
        </p:nvCxnSpPr>
        <p:spPr>
          <a:xfrm>
            <a:off x="762000" y="1238250"/>
            <a:ext cx="10668000" cy="0"/>
          </a:xfrm>
          <a:prstGeom prst="straightConnector1">
            <a:avLst/>
          </a:prstGeom>
          <a:solidFill>
            <a:srgbClr val="FFFFFF"/>
          </a:solidFill>
          <a:ln cap="flat" cmpd="sng" w="19050">
            <a:solidFill>
              <a:srgbClr val="1C2433"/>
            </a:solidFill>
            <a:prstDash val="solid"/>
            <a:round/>
            <a:headEnd len="sm" w="sm" type="none"/>
            <a:tailEnd len="sm" w="sm" type="none"/>
          </a:ln>
        </p:spPr>
      </p:cxnSp>
      <p:grpSp>
        <p:nvGrpSpPr>
          <p:cNvPr id="254" name="Google Shape;254;p16"/>
          <p:cNvGrpSpPr/>
          <p:nvPr/>
        </p:nvGrpSpPr>
        <p:grpSpPr>
          <a:xfrm>
            <a:off x="762000" y="1524000"/>
            <a:ext cx="10668000" cy="2190900"/>
            <a:chOff x="762000" y="1524000"/>
            <a:chExt cx="10668000" cy="2190900"/>
          </a:xfrm>
        </p:grpSpPr>
        <p:sp>
          <p:nvSpPr>
            <p:cNvPr id="255" name="Google Shape;255;p16"/>
            <p:cNvSpPr/>
            <p:nvPr/>
          </p:nvSpPr>
          <p:spPr>
            <a:xfrm>
              <a:off x="762000" y="1524000"/>
              <a:ext cx="10668000" cy="2190900"/>
            </a:xfrm>
            <a:prstGeom prst="roundRect">
              <a:avLst>
                <a:gd fmla="val 5217"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256" name="Google Shape;256;p16"/>
            <p:cNvSpPr txBox="1"/>
            <p:nvPr/>
          </p:nvSpPr>
          <p:spPr>
            <a:xfrm>
              <a:off x="952500" y="1666875"/>
              <a:ext cx="10287000" cy="28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400"/>
                <a:buFont typeface="Arial"/>
                <a:buNone/>
              </a:pPr>
              <a:r>
                <a:rPr b="1" lang="en-US" sz="1400">
                  <a:solidFill>
                    <a:srgbClr val="4A5568"/>
                  </a:solidFill>
                  <a:latin typeface="Arial"/>
                  <a:ea typeface="Arial"/>
                  <a:cs typeface="Arial"/>
                  <a:sym typeface="Arial"/>
                </a:rPr>
                <a:t>Summary Statistics (alpha, rho, sigma)</a:t>
              </a:r>
              <a:endParaRPr b="1" sz="1400">
                <a:solidFill>
                  <a:srgbClr val="4A5568"/>
                </a:solidFill>
                <a:latin typeface="Arial"/>
                <a:ea typeface="Arial"/>
                <a:cs typeface="Arial"/>
                <a:sym typeface="Arial"/>
              </a:endParaRPr>
            </a:p>
          </p:txBody>
        </p:sp>
      </p:grpSp>
      <p:pic>
        <p:nvPicPr>
          <p:cNvPr id="257" name="Google Shape;257;p16"/>
          <p:cNvPicPr preferRelativeResize="0"/>
          <p:nvPr/>
        </p:nvPicPr>
        <p:blipFill rotWithShape="1">
          <a:blip r:embed="rId3">
            <a:alphaModFix/>
          </a:blip>
          <a:srcRect b="9581" l="0" r="0" t="15976"/>
          <a:stretch/>
        </p:blipFill>
        <p:spPr>
          <a:xfrm>
            <a:off x="952500" y="2047875"/>
            <a:ext cx="10287000" cy="1667100"/>
          </a:xfrm>
          <a:prstGeom prst="roundRect">
            <a:avLst>
              <a:gd fmla="val 5000" name="adj"/>
            </a:avLst>
          </a:prstGeom>
          <a:noFill/>
          <a:ln>
            <a:noFill/>
          </a:ln>
        </p:spPr>
      </p:pic>
      <p:grpSp>
        <p:nvGrpSpPr>
          <p:cNvPr id="258" name="Google Shape;258;p16"/>
          <p:cNvGrpSpPr/>
          <p:nvPr/>
        </p:nvGrpSpPr>
        <p:grpSpPr>
          <a:xfrm>
            <a:off x="762000" y="3905250"/>
            <a:ext cx="10668000" cy="2190900"/>
            <a:chOff x="762000" y="3905250"/>
            <a:chExt cx="10668000" cy="2190900"/>
          </a:xfrm>
        </p:grpSpPr>
        <p:sp>
          <p:nvSpPr>
            <p:cNvPr id="259" name="Google Shape;259;p16"/>
            <p:cNvSpPr/>
            <p:nvPr/>
          </p:nvSpPr>
          <p:spPr>
            <a:xfrm>
              <a:off x="762000" y="3905250"/>
              <a:ext cx="10668000" cy="2190900"/>
            </a:xfrm>
            <a:prstGeom prst="roundRect">
              <a:avLst>
                <a:gd fmla="val 5217"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260" name="Google Shape;260;p16"/>
            <p:cNvSpPr txBox="1"/>
            <p:nvPr/>
          </p:nvSpPr>
          <p:spPr>
            <a:xfrm>
              <a:off x="952500" y="4048125"/>
              <a:ext cx="10287000" cy="28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400"/>
                <a:buFont typeface="Arial"/>
                <a:buNone/>
              </a:pPr>
              <a:r>
                <a:rPr b="1" lang="en-US" sz="1400">
                  <a:solidFill>
                    <a:srgbClr val="4A5568"/>
                  </a:solidFill>
                  <a:latin typeface="Arial"/>
                  <a:ea typeface="Arial"/>
                  <a:cs typeface="Arial"/>
                  <a:sym typeface="Arial"/>
                </a:rPr>
                <a:t>Quantile &amp; Convergence Metrics</a:t>
              </a:r>
              <a:endParaRPr b="1" sz="1400">
                <a:solidFill>
                  <a:srgbClr val="4A5568"/>
                </a:solidFill>
                <a:latin typeface="Arial"/>
                <a:ea typeface="Arial"/>
                <a:cs typeface="Arial"/>
                <a:sym typeface="Arial"/>
              </a:endParaRPr>
            </a:p>
          </p:txBody>
        </p:sp>
      </p:grpSp>
      <p:pic>
        <p:nvPicPr>
          <p:cNvPr id="261" name="Google Shape;261;p16"/>
          <p:cNvPicPr preferRelativeResize="0"/>
          <p:nvPr/>
        </p:nvPicPr>
        <p:blipFill rotWithShape="1">
          <a:blip r:embed="rId4">
            <a:alphaModFix/>
          </a:blip>
          <a:srcRect b="9834" l="0" r="0" t="9826"/>
          <a:stretch/>
        </p:blipFill>
        <p:spPr>
          <a:xfrm>
            <a:off x="952500" y="4429125"/>
            <a:ext cx="10287000" cy="1524000"/>
          </a:xfrm>
          <a:prstGeom prst="roundRect">
            <a:avLst>
              <a:gd fmla="val 5000" name="adj"/>
            </a:avLst>
          </a:prstGeom>
          <a:noFill/>
          <a:ln>
            <a:noFill/>
          </a:ln>
        </p:spPr>
      </p:pic>
      <p:sp>
        <p:nvSpPr>
          <p:cNvPr id="262" name="Google Shape;262;p16"/>
          <p:cNvSpPr txBox="1"/>
          <p:nvPr/>
        </p:nvSpPr>
        <p:spPr>
          <a:xfrm>
            <a:off x="0" y="6381750"/>
            <a:ext cx="12192000" cy="28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0AEC0"/>
              </a:buClr>
              <a:buSzPts val="1000"/>
              <a:buFont typeface="Playfair Display"/>
              <a:buNone/>
            </a:pPr>
            <a:r>
              <a:rPr b="0" i="1" lang="en-US" sz="1000">
                <a:solidFill>
                  <a:srgbClr val="A0AEC0"/>
                </a:solidFill>
                <a:latin typeface="Playfair Display"/>
                <a:ea typeface="Playfair Display"/>
                <a:cs typeface="Playfair Display"/>
                <a:sym typeface="Playfair Display"/>
              </a:rPr>
              <a:t>Gaussian Processes</a:t>
            </a:r>
            <a:endParaRPr b="0" i="1" sz="1000">
              <a:solidFill>
                <a:srgbClr val="A0AEC0"/>
              </a:solidFill>
              <a:latin typeface="Playfair Display"/>
              <a:ea typeface="Playfair Display"/>
              <a:cs typeface="Playfair Display"/>
              <a:sym typeface="Playfair Display"/>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17"/>
          <p:cNvSpPr txBox="1"/>
          <p:nvPr>
            <p:ph idx="4294967295" type="title"/>
          </p:nvPr>
        </p:nvSpPr>
        <p:spPr>
          <a:xfrm>
            <a:off x="762000" y="381000"/>
            <a:ext cx="10668000" cy="7620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l">
              <a:lnSpc>
                <a:spcPct val="90000"/>
              </a:lnSpc>
              <a:spcBef>
                <a:spcPts val="0"/>
              </a:spcBef>
              <a:spcAft>
                <a:spcPts val="0"/>
              </a:spcAft>
              <a:buClr>
                <a:srgbClr val="1C2433"/>
              </a:buClr>
              <a:buSzPts val="4000"/>
              <a:buFont typeface="Playfair Display"/>
              <a:buNone/>
            </a:pPr>
            <a:r>
              <a:rPr b="1" lang="en-US" sz="4000">
                <a:solidFill>
                  <a:srgbClr val="1C2433"/>
                </a:solidFill>
                <a:latin typeface="Playfair Display"/>
                <a:ea typeface="Playfair Display"/>
                <a:cs typeface="Playfair Display"/>
                <a:sym typeface="Playfair Display"/>
              </a:rPr>
              <a:t>Diagnostics</a:t>
            </a:r>
            <a:endParaRPr b="1" sz="4000">
              <a:solidFill>
                <a:srgbClr val="1C2433"/>
              </a:solidFill>
              <a:latin typeface="Playfair Display"/>
              <a:ea typeface="Playfair Display"/>
              <a:cs typeface="Playfair Display"/>
              <a:sym typeface="Playfair Display"/>
            </a:endParaRPr>
          </a:p>
        </p:txBody>
      </p:sp>
      <p:cxnSp>
        <p:nvCxnSpPr>
          <p:cNvPr id="268" name="Google Shape;268;p17"/>
          <p:cNvCxnSpPr/>
          <p:nvPr/>
        </p:nvCxnSpPr>
        <p:spPr>
          <a:xfrm>
            <a:off x="762000" y="1143000"/>
            <a:ext cx="10668000" cy="0"/>
          </a:xfrm>
          <a:prstGeom prst="straightConnector1">
            <a:avLst/>
          </a:prstGeom>
          <a:solidFill>
            <a:srgbClr val="FFFFFF"/>
          </a:solidFill>
          <a:ln cap="flat" cmpd="sng" w="19050">
            <a:solidFill>
              <a:srgbClr val="1C2433"/>
            </a:solidFill>
            <a:prstDash val="solid"/>
            <a:round/>
            <a:headEnd len="sm" w="sm" type="none"/>
            <a:tailEnd len="sm" w="sm" type="none"/>
          </a:ln>
        </p:spPr>
      </p:cxnSp>
      <p:grpSp>
        <p:nvGrpSpPr>
          <p:cNvPr id="269" name="Google Shape;269;p17"/>
          <p:cNvGrpSpPr/>
          <p:nvPr/>
        </p:nvGrpSpPr>
        <p:grpSpPr>
          <a:xfrm>
            <a:off x="762000" y="1524000"/>
            <a:ext cx="5191200" cy="4381500"/>
            <a:chOff x="762000" y="1524000"/>
            <a:chExt cx="5191200" cy="4381500"/>
          </a:xfrm>
        </p:grpSpPr>
        <p:sp>
          <p:nvSpPr>
            <p:cNvPr id="270" name="Google Shape;270;p17"/>
            <p:cNvSpPr/>
            <p:nvPr/>
          </p:nvSpPr>
          <p:spPr>
            <a:xfrm>
              <a:off x="762000" y="1524000"/>
              <a:ext cx="5191200" cy="4381500"/>
            </a:xfrm>
            <a:prstGeom prst="roundRect">
              <a:avLst>
                <a:gd fmla="val 2608"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271" name="Google Shape;271;p17"/>
            <p:cNvSpPr txBox="1"/>
            <p:nvPr/>
          </p:nvSpPr>
          <p:spPr>
            <a:xfrm>
              <a:off x="952500" y="1714500"/>
              <a:ext cx="4810200" cy="381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5568"/>
                </a:buClr>
                <a:buSzPts val="1600"/>
                <a:buFont typeface="Arial"/>
                <a:buNone/>
              </a:pPr>
              <a:r>
                <a:rPr b="1" lang="en-US" sz="1600">
                  <a:solidFill>
                    <a:srgbClr val="4A5568"/>
                  </a:solidFill>
                  <a:latin typeface="Arial"/>
                  <a:ea typeface="Arial"/>
                  <a:cs typeface="Arial"/>
                  <a:sym typeface="Arial"/>
                </a:rPr>
                <a:t>Residual Distribution</a:t>
              </a:r>
              <a:endParaRPr b="1" sz="1600">
                <a:solidFill>
                  <a:srgbClr val="4A5568"/>
                </a:solidFill>
                <a:latin typeface="Arial"/>
                <a:ea typeface="Arial"/>
                <a:cs typeface="Arial"/>
                <a:sym typeface="Arial"/>
              </a:endParaRPr>
            </a:p>
          </p:txBody>
        </p:sp>
        <p:pic>
          <p:nvPicPr>
            <p:cNvPr id="272" name="Google Shape;272;p17"/>
            <p:cNvPicPr preferRelativeResize="0"/>
            <p:nvPr/>
          </p:nvPicPr>
          <p:blipFill rotWithShape="1">
            <a:blip r:embed="rId3">
              <a:alphaModFix/>
            </a:blip>
            <a:srcRect b="2571" l="0" r="0" t="2561"/>
            <a:stretch/>
          </p:blipFill>
          <p:spPr>
            <a:xfrm>
              <a:off x="952500" y="2190750"/>
              <a:ext cx="4810200" cy="3429000"/>
            </a:xfrm>
            <a:prstGeom prst="roundRect">
              <a:avLst>
                <a:gd fmla="val 2222" name="adj"/>
              </a:avLst>
            </a:prstGeom>
            <a:noFill/>
            <a:ln>
              <a:noFill/>
            </a:ln>
          </p:spPr>
        </p:pic>
      </p:grpSp>
      <p:grpSp>
        <p:nvGrpSpPr>
          <p:cNvPr id="273" name="Google Shape;273;p17"/>
          <p:cNvGrpSpPr/>
          <p:nvPr/>
        </p:nvGrpSpPr>
        <p:grpSpPr>
          <a:xfrm>
            <a:off x="6238875" y="1524000"/>
            <a:ext cx="5191200" cy="4381500"/>
            <a:chOff x="6238875" y="1524000"/>
            <a:chExt cx="5191200" cy="4381500"/>
          </a:xfrm>
        </p:grpSpPr>
        <p:sp>
          <p:nvSpPr>
            <p:cNvPr id="274" name="Google Shape;274;p17"/>
            <p:cNvSpPr/>
            <p:nvPr/>
          </p:nvSpPr>
          <p:spPr>
            <a:xfrm>
              <a:off x="6238875" y="1524000"/>
              <a:ext cx="5191200" cy="4381500"/>
            </a:xfrm>
            <a:prstGeom prst="roundRect">
              <a:avLst>
                <a:gd fmla="val 2608"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275" name="Google Shape;275;p17"/>
            <p:cNvSpPr txBox="1"/>
            <p:nvPr/>
          </p:nvSpPr>
          <p:spPr>
            <a:xfrm>
              <a:off x="6429375" y="1714500"/>
              <a:ext cx="4810200" cy="381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5568"/>
                </a:buClr>
                <a:buSzPts val="1600"/>
                <a:buFont typeface="Arial"/>
                <a:buNone/>
              </a:pPr>
              <a:r>
                <a:rPr b="1" lang="en-US" sz="1600">
                  <a:solidFill>
                    <a:srgbClr val="4A5568"/>
                  </a:solidFill>
                  <a:latin typeface="Arial"/>
                  <a:ea typeface="Arial"/>
                  <a:cs typeface="Arial"/>
                  <a:sym typeface="Arial"/>
                </a:rPr>
                <a:t>Posterior Predictive Check</a:t>
              </a:r>
              <a:endParaRPr b="1" sz="1600">
                <a:solidFill>
                  <a:srgbClr val="4A5568"/>
                </a:solidFill>
                <a:latin typeface="Arial"/>
                <a:ea typeface="Arial"/>
                <a:cs typeface="Arial"/>
                <a:sym typeface="Arial"/>
              </a:endParaRPr>
            </a:p>
          </p:txBody>
        </p:sp>
        <p:pic>
          <p:nvPicPr>
            <p:cNvPr id="276" name="Google Shape;276;p17"/>
            <p:cNvPicPr preferRelativeResize="0"/>
            <p:nvPr/>
          </p:nvPicPr>
          <p:blipFill rotWithShape="1">
            <a:blip r:embed="rId4">
              <a:alphaModFix/>
            </a:blip>
            <a:srcRect b="0" l="5036" r="5027" t="0"/>
            <a:stretch/>
          </p:blipFill>
          <p:spPr>
            <a:xfrm>
              <a:off x="6429375" y="2190750"/>
              <a:ext cx="4810200" cy="3429000"/>
            </a:xfrm>
            <a:prstGeom prst="roundRect">
              <a:avLst>
                <a:gd fmla="val 2222" name="adj"/>
              </a:avLst>
            </a:prstGeom>
            <a:noFill/>
            <a:ln>
              <a:noFill/>
            </a:ln>
          </p:spPr>
        </p:pic>
      </p:grpSp>
      <p:sp>
        <p:nvSpPr>
          <p:cNvPr id="277" name="Google Shape;277;p17"/>
          <p:cNvSpPr txBox="1"/>
          <p:nvPr/>
        </p:nvSpPr>
        <p:spPr>
          <a:xfrm>
            <a:off x="0" y="6381750"/>
            <a:ext cx="12192000" cy="28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0AEC0"/>
              </a:buClr>
              <a:buSzPts val="1000"/>
              <a:buFont typeface="Playfair Display"/>
              <a:buNone/>
            </a:pPr>
            <a:r>
              <a:rPr i="1" lang="en-US" sz="1000">
                <a:solidFill>
                  <a:srgbClr val="A0AEC0"/>
                </a:solidFill>
                <a:latin typeface="Playfair Display"/>
                <a:ea typeface="Playfair Display"/>
                <a:cs typeface="Playfair Display"/>
                <a:sym typeface="Playfair Display"/>
              </a:rPr>
              <a:t>Gaussian Processes</a:t>
            </a:r>
            <a:endParaRPr i="1" sz="1000">
              <a:solidFill>
                <a:srgbClr val="A0AEC0"/>
              </a:solidFill>
              <a:latin typeface="Playfair Display"/>
              <a:ea typeface="Playfair Display"/>
              <a:cs typeface="Playfair Display"/>
              <a:sym typeface="Playfair Display"/>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18"/>
          <p:cNvSpPr txBox="1"/>
          <p:nvPr>
            <p:ph idx="4294967295" type="title"/>
          </p:nvPr>
        </p:nvSpPr>
        <p:spPr>
          <a:xfrm>
            <a:off x="762000" y="381000"/>
            <a:ext cx="10668000" cy="7620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l">
              <a:lnSpc>
                <a:spcPct val="90000"/>
              </a:lnSpc>
              <a:spcBef>
                <a:spcPts val="0"/>
              </a:spcBef>
              <a:spcAft>
                <a:spcPts val="0"/>
              </a:spcAft>
              <a:buClr>
                <a:srgbClr val="1C2433"/>
              </a:buClr>
              <a:buSzPts val="4000"/>
              <a:buFont typeface="Playfair Display"/>
              <a:buNone/>
            </a:pPr>
            <a:r>
              <a:rPr b="1" lang="en-US" sz="4000">
                <a:solidFill>
                  <a:srgbClr val="1C2433"/>
                </a:solidFill>
                <a:latin typeface="Playfair Display"/>
                <a:ea typeface="Playfair Display"/>
                <a:cs typeface="Playfair Display"/>
                <a:sym typeface="Playfair Display"/>
              </a:rPr>
              <a:t>Reconstructed GP: </a:t>
            </a:r>
            <a:r>
              <a:rPr b="1" lang="en-US" sz="4000"/>
              <a:t>Posterior</a:t>
            </a:r>
            <a:r>
              <a:rPr b="1" lang="en-US" sz="4000"/>
              <a:t> </a:t>
            </a:r>
            <a:r>
              <a:rPr b="1" lang="en-US" sz="4000">
                <a:solidFill>
                  <a:srgbClr val="1C2433"/>
                </a:solidFill>
                <a:latin typeface="Playfair Display"/>
                <a:ea typeface="Playfair Display"/>
                <a:cs typeface="Playfair Display"/>
                <a:sym typeface="Playfair Display"/>
              </a:rPr>
              <a:t>Heatmap</a:t>
            </a:r>
            <a:endParaRPr b="1" sz="4000">
              <a:solidFill>
                <a:srgbClr val="1C2433"/>
              </a:solidFill>
              <a:latin typeface="Playfair Display"/>
              <a:ea typeface="Playfair Display"/>
              <a:cs typeface="Playfair Display"/>
              <a:sym typeface="Playfair Display"/>
            </a:endParaRPr>
          </a:p>
        </p:txBody>
      </p:sp>
      <p:grpSp>
        <p:nvGrpSpPr>
          <p:cNvPr id="283" name="Google Shape;283;p18"/>
          <p:cNvGrpSpPr/>
          <p:nvPr/>
        </p:nvGrpSpPr>
        <p:grpSpPr>
          <a:xfrm>
            <a:off x="762000" y="1524000"/>
            <a:ext cx="5191200" cy="4572000"/>
            <a:chOff x="762000" y="1524000"/>
            <a:chExt cx="5191200" cy="4572000"/>
          </a:xfrm>
        </p:grpSpPr>
        <p:sp>
          <p:nvSpPr>
            <p:cNvPr id="284" name="Google Shape;284;p18"/>
            <p:cNvSpPr/>
            <p:nvPr/>
          </p:nvSpPr>
          <p:spPr>
            <a:xfrm>
              <a:off x="762000" y="1524000"/>
              <a:ext cx="5191200" cy="4572000"/>
            </a:xfrm>
            <a:prstGeom prst="roundRect">
              <a:avLst>
                <a:gd fmla="val 25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pic>
          <p:nvPicPr>
            <p:cNvPr id="285" name="Google Shape;285;p18"/>
            <p:cNvPicPr preferRelativeResize="0"/>
            <p:nvPr/>
          </p:nvPicPr>
          <p:blipFill rotWithShape="1">
            <a:blip r:embed="rId3">
              <a:alphaModFix/>
            </a:blip>
            <a:srcRect b="1635" l="0" r="0" t="1635"/>
            <a:stretch/>
          </p:blipFill>
          <p:spPr>
            <a:xfrm>
              <a:off x="952500" y="2095500"/>
              <a:ext cx="4810200" cy="3810000"/>
            </a:xfrm>
            <a:prstGeom prst="roundRect">
              <a:avLst>
                <a:gd fmla="val 2000" name="adj"/>
              </a:avLst>
            </a:prstGeom>
            <a:noFill/>
            <a:ln>
              <a:noFill/>
            </a:ln>
          </p:spPr>
        </p:pic>
        <p:sp>
          <p:nvSpPr>
            <p:cNvPr id="286" name="Google Shape;286;p18"/>
            <p:cNvSpPr txBox="1"/>
            <p:nvPr/>
          </p:nvSpPr>
          <p:spPr>
            <a:xfrm>
              <a:off x="952500" y="1714500"/>
              <a:ext cx="4810200" cy="381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5568"/>
                </a:buClr>
                <a:buSzPts val="1400"/>
                <a:buFont typeface="Arial"/>
                <a:buNone/>
              </a:pPr>
              <a:r>
                <a:rPr b="1" lang="en-US" sz="1400">
                  <a:solidFill>
                    <a:srgbClr val="4A5568"/>
                  </a:solidFill>
                  <a:latin typeface="Arial"/>
                  <a:ea typeface="Arial"/>
                  <a:cs typeface="Arial"/>
                  <a:sym typeface="Arial"/>
                </a:rPr>
                <a:t>Mean Predictive Surface</a:t>
              </a:r>
              <a:endParaRPr b="1" sz="1400">
                <a:solidFill>
                  <a:srgbClr val="4A5568"/>
                </a:solidFill>
                <a:latin typeface="Arial"/>
                <a:ea typeface="Arial"/>
                <a:cs typeface="Arial"/>
                <a:sym typeface="Arial"/>
              </a:endParaRPr>
            </a:p>
          </p:txBody>
        </p:sp>
      </p:grpSp>
      <p:grpSp>
        <p:nvGrpSpPr>
          <p:cNvPr id="287" name="Google Shape;287;p18"/>
          <p:cNvGrpSpPr/>
          <p:nvPr/>
        </p:nvGrpSpPr>
        <p:grpSpPr>
          <a:xfrm>
            <a:off x="6238875" y="1524000"/>
            <a:ext cx="5191200" cy="4572000"/>
            <a:chOff x="6238875" y="1524000"/>
            <a:chExt cx="5191200" cy="4572000"/>
          </a:xfrm>
        </p:grpSpPr>
        <p:sp>
          <p:nvSpPr>
            <p:cNvPr id="288" name="Google Shape;288;p18"/>
            <p:cNvSpPr/>
            <p:nvPr/>
          </p:nvSpPr>
          <p:spPr>
            <a:xfrm>
              <a:off x="6238875" y="1524000"/>
              <a:ext cx="5191200" cy="4572000"/>
            </a:xfrm>
            <a:prstGeom prst="roundRect">
              <a:avLst>
                <a:gd fmla="val 25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pic>
          <p:nvPicPr>
            <p:cNvPr id="289" name="Google Shape;289;p18"/>
            <p:cNvPicPr preferRelativeResize="0"/>
            <p:nvPr/>
          </p:nvPicPr>
          <p:blipFill rotWithShape="1">
            <a:blip r:embed="rId4">
              <a:alphaModFix/>
            </a:blip>
            <a:srcRect b="1635" l="0" r="0" t="1635"/>
            <a:stretch/>
          </p:blipFill>
          <p:spPr>
            <a:xfrm>
              <a:off x="6429375" y="2095500"/>
              <a:ext cx="4810200" cy="3810000"/>
            </a:xfrm>
            <a:prstGeom prst="roundRect">
              <a:avLst>
                <a:gd fmla="val 2000" name="adj"/>
              </a:avLst>
            </a:prstGeom>
            <a:noFill/>
            <a:ln>
              <a:noFill/>
            </a:ln>
          </p:spPr>
        </p:pic>
        <p:sp>
          <p:nvSpPr>
            <p:cNvPr id="290" name="Google Shape;290;p18"/>
            <p:cNvSpPr txBox="1"/>
            <p:nvPr/>
          </p:nvSpPr>
          <p:spPr>
            <a:xfrm>
              <a:off x="6429375" y="1714500"/>
              <a:ext cx="4810200" cy="381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5568"/>
                </a:buClr>
                <a:buSzPts val="1400"/>
                <a:buFont typeface="Arial"/>
                <a:buNone/>
              </a:pPr>
              <a:r>
                <a:rPr b="1" lang="en-US" sz="1400">
                  <a:solidFill>
                    <a:srgbClr val="4A5568"/>
                  </a:solidFill>
                  <a:latin typeface="Arial"/>
                  <a:ea typeface="Arial"/>
                  <a:cs typeface="Arial"/>
                  <a:sym typeface="Arial"/>
                </a:rPr>
                <a:t>Predictive Uncertainty Surface</a:t>
              </a:r>
              <a:endParaRPr b="1" sz="1400">
                <a:solidFill>
                  <a:srgbClr val="4A5568"/>
                </a:solidFill>
                <a:latin typeface="Arial"/>
                <a:ea typeface="Arial"/>
                <a:cs typeface="Arial"/>
                <a:sym typeface="Arial"/>
              </a:endParaRPr>
            </a:p>
          </p:txBody>
        </p:sp>
      </p:grpSp>
      <p:sp>
        <p:nvSpPr>
          <p:cNvPr id="291" name="Google Shape;291;p18"/>
          <p:cNvSpPr txBox="1"/>
          <p:nvPr/>
        </p:nvSpPr>
        <p:spPr>
          <a:xfrm>
            <a:off x="0" y="6381750"/>
            <a:ext cx="12192000" cy="28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0AEC0"/>
              </a:buClr>
              <a:buSzPts val="1000"/>
              <a:buFont typeface="Playfair Display"/>
              <a:buNone/>
            </a:pPr>
            <a:r>
              <a:rPr i="1" lang="en-US" sz="1000">
                <a:solidFill>
                  <a:srgbClr val="A0AEC0"/>
                </a:solidFill>
                <a:latin typeface="Playfair Display"/>
                <a:ea typeface="Playfair Display"/>
                <a:cs typeface="Playfair Display"/>
                <a:sym typeface="Playfair Display"/>
              </a:rPr>
              <a:t>Gaussian Processes</a:t>
            </a:r>
            <a:endParaRPr i="1" sz="1000">
              <a:solidFill>
                <a:srgbClr val="A0AEC0"/>
              </a:solidFill>
              <a:latin typeface="Playfair Display"/>
              <a:ea typeface="Playfair Display"/>
              <a:cs typeface="Playfair Display"/>
              <a:sym typeface="Playfair Display"/>
            </a:endParaRPr>
          </a:p>
        </p:txBody>
      </p:sp>
      <p:cxnSp>
        <p:nvCxnSpPr>
          <p:cNvPr id="292" name="Google Shape;292;p18"/>
          <p:cNvCxnSpPr/>
          <p:nvPr/>
        </p:nvCxnSpPr>
        <p:spPr>
          <a:xfrm>
            <a:off x="762000" y="1238250"/>
            <a:ext cx="2095500" cy="0"/>
          </a:xfrm>
          <a:prstGeom prst="straightConnector1">
            <a:avLst/>
          </a:prstGeom>
          <a:solidFill>
            <a:srgbClr val="FFFFFF"/>
          </a:solidFill>
          <a:ln cap="flat" cmpd="sng" w="19050">
            <a:solidFill>
              <a:srgbClr val="1C2433"/>
            </a:solidFill>
            <a:prstDash val="solid"/>
            <a:round/>
            <a:headEnd len="sm" w="sm" type="none"/>
            <a:tailEnd len="sm" w="sm" type="none"/>
          </a:ln>
        </p:spPr>
      </p:cxn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19"/>
          <p:cNvSpPr txBox="1"/>
          <p:nvPr/>
        </p:nvSpPr>
        <p:spPr>
          <a:xfrm>
            <a:off x="762000" y="381000"/>
            <a:ext cx="10668000" cy="762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600">
                <a:solidFill>
                  <a:srgbClr val="1C2433"/>
                </a:solidFill>
                <a:latin typeface="Playfair Display"/>
                <a:ea typeface="Playfair Display"/>
                <a:cs typeface="Playfair Display"/>
                <a:sym typeface="Playfair Display"/>
              </a:rPr>
              <a:t>Areas for Improving the Model</a:t>
            </a:r>
            <a:endParaRPr/>
          </a:p>
        </p:txBody>
      </p:sp>
      <p:sp>
        <p:nvSpPr>
          <p:cNvPr id="298" name="Google Shape;298;p19"/>
          <p:cNvSpPr/>
          <p:nvPr/>
        </p:nvSpPr>
        <p:spPr>
          <a:xfrm>
            <a:off x="762000" y="1460500"/>
            <a:ext cx="5143500" cy="2349500"/>
          </a:xfrm>
          <a:prstGeom prst="rect">
            <a:avLst/>
          </a:prstGeom>
          <a:solidFill>
            <a:srgbClr val="F4EEE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299" name="Google Shape;299;p19"/>
          <p:cNvSpPr txBox="1"/>
          <p:nvPr/>
        </p:nvSpPr>
        <p:spPr>
          <a:xfrm>
            <a:off x="939800" y="1612900"/>
            <a:ext cx="4787900" cy="2044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C4A6E"/>
              </a:buClr>
              <a:buSzPts val="1600"/>
              <a:buFont typeface="Playfair Display"/>
              <a:buNone/>
            </a:pPr>
            <a:r>
              <a:rPr b="1" lang="en-US" sz="1600">
                <a:solidFill>
                  <a:srgbClr val="2C4A6E"/>
                </a:solidFill>
                <a:latin typeface="Playfair Display"/>
                <a:ea typeface="Playfair Display"/>
                <a:cs typeface="Playfair Display"/>
                <a:sym typeface="Playfair Display"/>
              </a:rPr>
              <a:t>Oversmoothing from the RBF kernel</a:t>
            </a:r>
            <a:endParaRPr/>
          </a:p>
          <a:p>
            <a:pPr indent="0" lvl="0" marL="0" marR="0" rtl="0" algn="l">
              <a:spcBef>
                <a:spcPts val="400"/>
              </a:spcBef>
              <a:spcAft>
                <a:spcPts val="0"/>
              </a:spcAft>
              <a:buNone/>
            </a:pPr>
            <a:r>
              <a:rPr lang="en-US" sz="1400">
                <a:solidFill>
                  <a:srgbClr val="1C2433"/>
                </a:solidFill>
                <a:latin typeface="Playfair Display"/>
                <a:ea typeface="Playfair Display"/>
                <a:cs typeface="Playfair Display"/>
                <a:sym typeface="Playfair Display"/>
              </a:rPr>
              <a:t>The squared-exponential (RBF) kernel assumes a very smooth latent function modulated only by </a:t>
            </a:r>
            <a:r>
              <a:rPr i="1" lang="en-US" sz="1400">
                <a:solidFill>
                  <a:srgbClr val="1C2433"/>
                </a:solidFill>
                <a:latin typeface="Cambria Math"/>
                <a:ea typeface="Cambria Math"/>
                <a:cs typeface="Cambria Math"/>
                <a:sym typeface="Cambria Math"/>
              </a:rPr>
              <a:t>ρ</a:t>
            </a:r>
            <a:r>
              <a:rPr lang="en-US" sz="1400">
                <a:solidFill>
                  <a:srgbClr val="1C2433"/>
                </a:solidFill>
                <a:latin typeface="Playfair Display"/>
                <a:ea typeface="Playfair Display"/>
                <a:cs typeface="Playfair Display"/>
                <a:sym typeface="Playfair Display"/>
              </a:rPr>
              <a:t>, washing out sharp local changes and underestimating extreme prices.</a:t>
            </a:r>
            <a:endParaRPr/>
          </a:p>
          <a:p>
            <a:pPr indent="0" lvl="0" marL="0" marR="0" rtl="0" algn="ctr">
              <a:spcBef>
                <a:spcPts val="600"/>
              </a:spcBef>
              <a:spcAft>
                <a:spcPts val="0"/>
              </a:spcAft>
              <a:buClr>
                <a:srgbClr val="1C2433"/>
              </a:buClr>
              <a:buSzPts val="1400"/>
              <a:buFont typeface="Cambria Math"/>
              <a:buNone/>
            </a:pPr>
            <a:r>
              <a:rPr i="1" lang="en-US" sz="1400">
                <a:solidFill>
                  <a:srgbClr val="1C2433"/>
                </a:solidFill>
                <a:latin typeface="Cambria Math"/>
                <a:ea typeface="Cambria Math"/>
                <a:cs typeface="Cambria Math"/>
                <a:sym typeface="Cambria Math"/>
              </a:rPr>
              <a:t>k(x, x′) = α² exp( − ‖x − x′‖² / 2ρ² )</a:t>
            </a:r>
            <a:endParaRPr/>
          </a:p>
        </p:txBody>
      </p:sp>
      <p:sp>
        <p:nvSpPr>
          <p:cNvPr id="300" name="Google Shape;300;p19"/>
          <p:cNvSpPr/>
          <p:nvPr/>
        </p:nvSpPr>
        <p:spPr>
          <a:xfrm>
            <a:off x="762000" y="3937000"/>
            <a:ext cx="5143500" cy="2349500"/>
          </a:xfrm>
          <a:prstGeom prst="rect">
            <a:avLst/>
          </a:prstGeom>
          <a:solidFill>
            <a:srgbClr val="F4EEE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301" name="Google Shape;301;p19"/>
          <p:cNvSpPr txBox="1"/>
          <p:nvPr/>
        </p:nvSpPr>
        <p:spPr>
          <a:xfrm>
            <a:off x="939800" y="4089400"/>
            <a:ext cx="4787900" cy="2044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accent2"/>
              </a:buClr>
              <a:buSzPts val="1600"/>
              <a:buFont typeface="Playfair Display"/>
              <a:buNone/>
            </a:pPr>
            <a:r>
              <a:rPr b="1" lang="en-US" sz="1600">
                <a:solidFill>
                  <a:schemeClr val="accent2"/>
                </a:solidFill>
                <a:latin typeface="Playfair Display"/>
                <a:ea typeface="Playfair Display"/>
                <a:cs typeface="Playfair Display"/>
                <a:sym typeface="Playfair Display"/>
              </a:rPr>
              <a:t>A richer kernel with more features</a:t>
            </a:r>
            <a:endParaRPr/>
          </a:p>
          <a:p>
            <a:pPr indent="0" lvl="0" marL="0" marR="0" rtl="0" algn="l">
              <a:spcBef>
                <a:spcPts val="400"/>
              </a:spcBef>
              <a:spcAft>
                <a:spcPts val="0"/>
              </a:spcAft>
              <a:buClr>
                <a:srgbClr val="1C2433"/>
              </a:buClr>
              <a:buSzPts val="1400"/>
              <a:buFont typeface="Playfair Display"/>
              <a:buNone/>
            </a:pPr>
            <a:r>
              <a:rPr lang="en-US" sz="1400">
                <a:solidFill>
                  <a:srgbClr val="1C2433"/>
                </a:solidFill>
                <a:latin typeface="Playfair Display"/>
                <a:ea typeface="Playfair Display"/>
                <a:cs typeface="Playfair Display"/>
                <a:sym typeface="Playfair Display"/>
              </a:rPr>
              <a:t>Augment the input with all predictors (Lat, Lon, MedInc, HouseAge, AveRooms, AveBedrms, Pop, AveOccup) and use an Auto-Relevance Detector (ARD) kernel with dimension-specific length scales ρⱼ.</a:t>
            </a:r>
            <a:endParaRPr/>
          </a:p>
          <a:p>
            <a:pPr indent="0" lvl="0" marL="0" marR="0" rtl="0" algn="ctr">
              <a:spcBef>
                <a:spcPts val="600"/>
              </a:spcBef>
              <a:spcAft>
                <a:spcPts val="0"/>
              </a:spcAft>
              <a:buClr>
                <a:srgbClr val="1C2433"/>
              </a:buClr>
              <a:buSzPts val="1400"/>
              <a:buFont typeface="Cambria Math"/>
              <a:buNone/>
            </a:pPr>
            <a:r>
              <a:rPr i="1" lang="en-US" sz="1400">
                <a:solidFill>
                  <a:srgbClr val="1C2433"/>
                </a:solidFill>
                <a:latin typeface="Cambria Math"/>
                <a:ea typeface="Cambria Math"/>
                <a:cs typeface="Cambria Math"/>
                <a:sym typeface="Cambria Math"/>
              </a:rPr>
              <a:t>k(x, x′) = α² exp( −½ Σⱼ (xⱼ − x′ⱼ)² / ρⱼ² )</a:t>
            </a:r>
            <a:endParaRPr/>
          </a:p>
        </p:txBody>
      </p:sp>
      <p:sp>
        <p:nvSpPr>
          <p:cNvPr id="302" name="Google Shape;302;p19"/>
          <p:cNvSpPr/>
          <p:nvPr/>
        </p:nvSpPr>
        <p:spPr>
          <a:xfrm>
            <a:off x="6286500" y="1460500"/>
            <a:ext cx="5143500" cy="2349500"/>
          </a:xfrm>
          <a:prstGeom prst="rect">
            <a:avLst/>
          </a:prstGeom>
          <a:solidFill>
            <a:srgbClr val="F4EEE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303" name="Google Shape;303;p19"/>
          <p:cNvSpPr txBox="1"/>
          <p:nvPr/>
        </p:nvSpPr>
        <p:spPr>
          <a:xfrm>
            <a:off x="6464300" y="1612900"/>
            <a:ext cx="4787900" cy="2044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accent2"/>
              </a:buClr>
              <a:buSzPts val="1600"/>
              <a:buFont typeface="Playfair Display"/>
              <a:buNone/>
            </a:pPr>
            <a:r>
              <a:rPr b="1" lang="en-US" sz="1600">
                <a:solidFill>
                  <a:schemeClr val="accent2"/>
                </a:solidFill>
                <a:latin typeface="Playfair Display"/>
                <a:ea typeface="Playfair Display"/>
                <a:cs typeface="Playfair Display"/>
                <a:sym typeface="Playfair Display"/>
              </a:rPr>
              <a:t>Composite spatial + demographic kernels</a:t>
            </a:r>
            <a:endParaRPr/>
          </a:p>
          <a:p>
            <a:pPr indent="0" lvl="0" marL="0" marR="0" rtl="0" algn="l">
              <a:spcBef>
                <a:spcPts val="400"/>
              </a:spcBef>
              <a:spcAft>
                <a:spcPts val="0"/>
              </a:spcAft>
              <a:buClr>
                <a:srgbClr val="1C2433"/>
              </a:buClr>
              <a:buSzPts val="1400"/>
              <a:buFont typeface="Playfair Display"/>
              <a:buNone/>
            </a:pPr>
            <a:r>
              <a:rPr lang="en-US" sz="1400">
                <a:solidFill>
                  <a:srgbClr val="1C2433"/>
                </a:solidFill>
                <a:latin typeface="Playfair Display"/>
                <a:ea typeface="Playfair Display"/>
                <a:cs typeface="Playfair Display"/>
                <a:sym typeface="Playfair Display"/>
              </a:rPr>
              <a:t>Split x = (s, z) with s = (Lat, Lon) and combine two kernels — capturing smooth </a:t>
            </a:r>
            <a:r>
              <a:rPr lang="en-US">
                <a:solidFill>
                  <a:srgbClr val="1C2433"/>
                </a:solidFill>
                <a:latin typeface="Playfair Display"/>
                <a:ea typeface="Playfair Display"/>
                <a:cs typeface="Playfair Display"/>
                <a:sym typeface="Playfair Display"/>
              </a:rPr>
              <a:t>coordinates </a:t>
            </a:r>
            <a:r>
              <a:rPr lang="en-US" sz="1400">
                <a:solidFill>
                  <a:srgbClr val="1C2433"/>
                </a:solidFill>
                <a:latin typeface="Playfair Display"/>
                <a:ea typeface="Playfair Display"/>
                <a:cs typeface="Playfair Display"/>
                <a:sym typeface="Playfair Display"/>
              </a:rPr>
              <a:t>alongside nonlinear demographic </a:t>
            </a:r>
            <a:r>
              <a:rPr lang="en-US">
                <a:solidFill>
                  <a:srgbClr val="1C2433"/>
                </a:solidFill>
                <a:latin typeface="Playfair Display"/>
                <a:ea typeface="Playfair Display"/>
                <a:cs typeface="Playfair Display"/>
                <a:sym typeface="Playfair Display"/>
              </a:rPr>
              <a:t>features</a:t>
            </a:r>
            <a:r>
              <a:rPr lang="en-US" sz="1400">
                <a:solidFill>
                  <a:srgbClr val="1C2433"/>
                </a:solidFill>
                <a:latin typeface="Playfair Display"/>
                <a:ea typeface="Playfair Display"/>
                <a:cs typeface="Playfair Display"/>
                <a:sym typeface="Playfair Display"/>
              </a:rPr>
              <a:t>.</a:t>
            </a:r>
            <a:endParaRPr/>
          </a:p>
          <a:p>
            <a:pPr indent="0" lvl="0" marL="0" marR="0" rtl="0" algn="ctr">
              <a:spcBef>
                <a:spcPts val="600"/>
              </a:spcBef>
              <a:spcAft>
                <a:spcPts val="0"/>
              </a:spcAft>
              <a:buClr>
                <a:srgbClr val="1C2433"/>
              </a:buClr>
              <a:buSzPts val="1400"/>
              <a:buFont typeface="Cambria Math"/>
              <a:buNone/>
            </a:pPr>
            <a:r>
              <a:rPr i="1" lang="en-US" sz="1400">
                <a:solidFill>
                  <a:srgbClr val="1C2433"/>
                </a:solidFill>
                <a:latin typeface="Cambria Math"/>
                <a:ea typeface="Cambria Math"/>
                <a:cs typeface="Cambria Math"/>
                <a:sym typeface="Cambria Math"/>
              </a:rPr>
              <a:t>k(x, x′) = k</a:t>
            </a:r>
            <a:r>
              <a:rPr baseline="-25000" i="1" lang="en-US" sz="1400">
                <a:solidFill>
                  <a:srgbClr val="1C2433"/>
                </a:solidFill>
                <a:latin typeface="Cambria Math"/>
                <a:ea typeface="Cambria Math"/>
                <a:cs typeface="Cambria Math"/>
                <a:sym typeface="Cambria Math"/>
              </a:rPr>
              <a:t>spatial </a:t>
            </a:r>
            <a:r>
              <a:rPr i="1" lang="en-US" sz="1400">
                <a:solidFill>
                  <a:srgbClr val="1C2433"/>
                </a:solidFill>
                <a:latin typeface="Cambria Math"/>
                <a:ea typeface="Cambria Math"/>
                <a:cs typeface="Cambria Math"/>
                <a:sym typeface="Cambria Math"/>
              </a:rPr>
              <a:t>(s, s′) + k</a:t>
            </a:r>
            <a:r>
              <a:rPr baseline="-25000" i="1" lang="en-US" sz="1400">
                <a:solidFill>
                  <a:srgbClr val="1C2433"/>
                </a:solidFill>
                <a:latin typeface="Cambria Math"/>
                <a:ea typeface="Cambria Math"/>
                <a:cs typeface="Cambria Math"/>
                <a:sym typeface="Cambria Math"/>
              </a:rPr>
              <a:t>demographic </a:t>
            </a:r>
            <a:r>
              <a:rPr i="1" lang="en-US" sz="1400">
                <a:solidFill>
                  <a:srgbClr val="1C2433"/>
                </a:solidFill>
                <a:latin typeface="Cambria Math"/>
                <a:ea typeface="Cambria Math"/>
                <a:cs typeface="Cambria Math"/>
                <a:sym typeface="Cambria Math"/>
              </a:rPr>
              <a:t>(z, z′)</a:t>
            </a:r>
            <a:endParaRPr/>
          </a:p>
        </p:txBody>
      </p:sp>
      <p:sp>
        <p:nvSpPr>
          <p:cNvPr id="304" name="Google Shape;304;p19"/>
          <p:cNvSpPr/>
          <p:nvPr/>
        </p:nvSpPr>
        <p:spPr>
          <a:xfrm>
            <a:off x="6286500" y="3937000"/>
            <a:ext cx="5143500" cy="2349500"/>
          </a:xfrm>
          <a:prstGeom prst="rect">
            <a:avLst/>
          </a:prstGeom>
          <a:solidFill>
            <a:srgbClr val="F4EEE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305" name="Google Shape;305;p19"/>
          <p:cNvSpPr txBox="1"/>
          <p:nvPr/>
        </p:nvSpPr>
        <p:spPr>
          <a:xfrm>
            <a:off x="6464300" y="4089400"/>
            <a:ext cx="4787900" cy="20447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accent2"/>
              </a:buClr>
              <a:buSzPts val="1600"/>
              <a:buFont typeface="Playfair Display"/>
              <a:buNone/>
            </a:pPr>
            <a:r>
              <a:rPr b="1" lang="en-US" sz="1600">
                <a:solidFill>
                  <a:schemeClr val="accent2"/>
                </a:solidFill>
                <a:latin typeface="Playfair Display"/>
                <a:ea typeface="Playfair Display"/>
                <a:cs typeface="Playfair Display"/>
                <a:sym typeface="Playfair Display"/>
              </a:rPr>
              <a:t>Inclusion of linear structure</a:t>
            </a:r>
            <a:endParaRPr/>
          </a:p>
          <a:p>
            <a:pPr indent="0" lvl="0" marL="0" marR="0" rtl="0" algn="l">
              <a:spcBef>
                <a:spcPts val="400"/>
              </a:spcBef>
              <a:spcAft>
                <a:spcPts val="0"/>
              </a:spcAft>
              <a:buClr>
                <a:srgbClr val="1C2433"/>
              </a:buClr>
              <a:buSzPts val="1400"/>
              <a:buFont typeface="Playfair Display"/>
              <a:buNone/>
            </a:pPr>
            <a:r>
              <a:rPr lang="en-US" sz="1400">
                <a:solidFill>
                  <a:srgbClr val="1C2433"/>
                </a:solidFill>
                <a:latin typeface="Playfair Display"/>
                <a:ea typeface="Playfair Display"/>
                <a:cs typeface="Playfair Display"/>
                <a:sym typeface="Playfair Display"/>
              </a:rPr>
              <a:t>Combine a linear mean with GP</a:t>
            </a:r>
            <a:r>
              <a:rPr lang="en-US">
                <a:solidFill>
                  <a:srgbClr val="1C2433"/>
                </a:solidFill>
                <a:latin typeface="Playfair Display"/>
                <a:ea typeface="Playfair Display"/>
                <a:cs typeface="Playfair Display"/>
                <a:sym typeface="Playfair Display"/>
              </a:rPr>
              <a:t> </a:t>
            </a:r>
            <a:r>
              <a:rPr lang="en-US" sz="1400">
                <a:solidFill>
                  <a:srgbClr val="1C2433"/>
                </a:solidFill>
                <a:latin typeface="Playfair Display"/>
                <a:ea typeface="Playfair Display"/>
                <a:cs typeface="Playfair Display"/>
                <a:sym typeface="Playfair Display"/>
              </a:rPr>
              <a:t>so large-scale linear effects (e.g., median income) are modeled directly</a:t>
            </a:r>
            <a:r>
              <a:rPr lang="en-US">
                <a:solidFill>
                  <a:srgbClr val="1C2433"/>
                </a:solidFill>
                <a:latin typeface="Playfair Display"/>
                <a:ea typeface="Playfair Display"/>
                <a:cs typeface="Playfair Display"/>
                <a:sym typeface="Playfair Display"/>
              </a:rPr>
              <a:t>,</a:t>
            </a:r>
            <a:r>
              <a:rPr lang="en-US" sz="1400">
                <a:solidFill>
                  <a:srgbClr val="1C2433"/>
                </a:solidFill>
                <a:latin typeface="Playfair Display"/>
                <a:ea typeface="Playfair Display"/>
                <a:cs typeface="Playfair Display"/>
                <a:sym typeface="Playfair Display"/>
              </a:rPr>
              <a:t> while the GP captures nonlinear structure.</a:t>
            </a:r>
            <a:endParaRPr/>
          </a:p>
          <a:p>
            <a:pPr indent="0" lvl="0" marL="0" marR="0" rtl="0" algn="ctr">
              <a:spcBef>
                <a:spcPts val="600"/>
              </a:spcBef>
              <a:spcAft>
                <a:spcPts val="0"/>
              </a:spcAft>
              <a:buClr>
                <a:srgbClr val="1C2433"/>
              </a:buClr>
              <a:buSzPts val="1400"/>
              <a:buFont typeface="Cambria Math"/>
              <a:buNone/>
            </a:pPr>
            <a:r>
              <a:rPr i="1" lang="en-US" sz="1400">
                <a:solidFill>
                  <a:srgbClr val="1C2433"/>
                </a:solidFill>
                <a:latin typeface="Cambria Math"/>
                <a:ea typeface="Cambria Math"/>
                <a:cs typeface="Cambria Math"/>
                <a:sym typeface="Cambria Math"/>
              </a:rPr>
              <a:t>yᵢ = β₀ + xᵢᵀβ + f(xᵢ) + εᵢ</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20"/>
          <p:cNvSpPr txBox="1"/>
          <p:nvPr>
            <p:ph type="title"/>
          </p:nvPr>
        </p:nvSpPr>
        <p:spPr>
          <a:xfrm>
            <a:off x="838200" y="368300"/>
            <a:ext cx="10515600" cy="762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1C2433"/>
              </a:buClr>
              <a:buSzPts val="3600"/>
              <a:buFont typeface="Playfair Display"/>
              <a:buNone/>
            </a:pPr>
            <a:r>
              <a:rPr b="1" lang="en-US" sz="3600">
                <a:solidFill>
                  <a:srgbClr val="1C2433"/>
                </a:solidFill>
                <a:latin typeface="Playfair Display"/>
                <a:ea typeface="Playfair Display"/>
                <a:cs typeface="Playfair Display"/>
                <a:sym typeface="Playfair Display"/>
              </a:rPr>
              <a:t>Augmenting the Model with Income</a:t>
            </a:r>
            <a:endParaRPr/>
          </a:p>
        </p:txBody>
      </p:sp>
      <p:sp>
        <p:nvSpPr>
          <p:cNvPr id="312" name="Google Shape;312;p20"/>
          <p:cNvSpPr txBox="1"/>
          <p:nvPr/>
        </p:nvSpPr>
        <p:spPr>
          <a:xfrm>
            <a:off x="762000" y="1270000"/>
            <a:ext cx="10668000" cy="508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i="1" lang="en-US" sz="2000">
                <a:solidFill>
                  <a:srgbClr val="1C2433"/>
                </a:solidFill>
                <a:latin typeface="Cambria Math"/>
                <a:ea typeface="Cambria Math"/>
                <a:cs typeface="Cambria Math"/>
                <a:sym typeface="Cambria Math"/>
              </a:rPr>
              <a:t>k(x, x′) = k</a:t>
            </a:r>
            <a:r>
              <a:rPr baseline="-25000" i="1" lang="en-US" sz="1400">
                <a:solidFill>
                  <a:srgbClr val="1C2433"/>
                </a:solidFill>
                <a:latin typeface="Cambria Math"/>
                <a:ea typeface="Cambria Math"/>
                <a:cs typeface="Cambria Math"/>
                <a:sym typeface="Cambria Math"/>
              </a:rPr>
              <a:t>spatial</a:t>
            </a:r>
            <a:r>
              <a:rPr i="1" lang="en-US" sz="2000">
                <a:solidFill>
                  <a:srgbClr val="1C2433"/>
                </a:solidFill>
                <a:latin typeface="Cambria Math"/>
                <a:ea typeface="Cambria Math"/>
                <a:cs typeface="Cambria Math"/>
                <a:sym typeface="Cambria Math"/>
              </a:rPr>
              <a:t>(s, s′) + k</a:t>
            </a:r>
            <a:r>
              <a:rPr baseline="-25000" i="1" lang="en-US" sz="1400">
                <a:solidFill>
                  <a:srgbClr val="1C2433"/>
                </a:solidFill>
                <a:latin typeface="Cambria Math"/>
                <a:ea typeface="Cambria Math"/>
                <a:cs typeface="Cambria Math"/>
                <a:sym typeface="Cambria Math"/>
              </a:rPr>
              <a:t>income</a:t>
            </a:r>
            <a:r>
              <a:rPr i="1" lang="en-US" sz="2000">
                <a:solidFill>
                  <a:srgbClr val="1C2433"/>
                </a:solidFill>
                <a:latin typeface="Cambria Math"/>
                <a:ea typeface="Cambria Math"/>
                <a:cs typeface="Cambria Math"/>
                <a:sym typeface="Cambria Math"/>
              </a:rPr>
              <a:t>(z, z′)</a:t>
            </a:r>
            <a:endParaRPr/>
          </a:p>
        </p:txBody>
      </p:sp>
      <p:sp>
        <p:nvSpPr>
          <p:cNvPr id="313" name="Google Shape;313;p20"/>
          <p:cNvSpPr txBox="1"/>
          <p:nvPr/>
        </p:nvSpPr>
        <p:spPr>
          <a:xfrm>
            <a:off x="762000" y="1905000"/>
            <a:ext cx="10668000" cy="3048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i="1" lang="en-US" sz="1400">
                <a:solidFill>
                  <a:srgbClr val="6B8B9E"/>
                </a:solidFill>
                <a:latin typeface="Playfair Display"/>
                <a:ea typeface="Playfair Display"/>
                <a:cs typeface="Playfair Display"/>
                <a:sym typeface="Playfair Display"/>
              </a:rPr>
              <a:t>An additive income kernel helps eliminate </a:t>
            </a:r>
            <a:r>
              <a:rPr b="1" i="1" lang="en-US" sz="1400">
                <a:solidFill>
                  <a:srgbClr val="6B8B9E"/>
                </a:solidFill>
                <a:latin typeface="Playfair Display"/>
                <a:ea typeface="Playfair Display"/>
                <a:cs typeface="Playfair Display"/>
                <a:sym typeface="Playfair Display"/>
              </a:rPr>
              <a:t>omitted variable bias</a:t>
            </a:r>
            <a:endParaRPr/>
          </a:p>
        </p:txBody>
      </p:sp>
      <p:sp>
        <p:nvSpPr>
          <p:cNvPr id="314" name="Google Shape;314;p20"/>
          <p:cNvSpPr txBox="1"/>
          <p:nvPr/>
        </p:nvSpPr>
        <p:spPr>
          <a:xfrm>
            <a:off x="508000" y="2349500"/>
            <a:ext cx="5588000" cy="35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1600">
                <a:solidFill>
                  <a:srgbClr val="B5532A"/>
                </a:solidFill>
                <a:latin typeface="Playfair Display"/>
                <a:ea typeface="Playfair Display"/>
                <a:cs typeface="Playfair Display"/>
                <a:sym typeface="Playfair Display"/>
              </a:rPr>
              <a:t>Geography-only model</a:t>
            </a:r>
            <a:endParaRPr/>
          </a:p>
        </p:txBody>
      </p:sp>
      <p:sp>
        <p:nvSpPr>
          <p:cNvPr id="315" name="Google Shape;315;p20"/>
          <p:cNvSpPr/>
          <p:nvPr/>
        </p:nvSpPr>
        <p:spPr>
          <a:xfrm>
            <a:off x="951238" y="2762250"/>
            <a:ext cx="1397000" cy="482600"/>
          </a:xfrm>
          <a:prstGeom prst="roundRect">
            <a:avLst>
              <a:gd fmla="val 25000" name="adj"/>
            </a:avLst>
          </a:prstGeom>
          <a:solidFill>
            <a:srgbClr val="E8E1D4"/>
          </a:solidFill>
          <a:ln cap="flat" cmpd="sng" w="9525">
            <a:solidFill>
              <a:srgbClr val="2C4A6E"/>
            </a:solidFill>
            <a:prstDash val="solid"/>
            <a:round/>
            <a:headEnd len="sm" w="sm" type="none"/>
            <a:tailEnd len="sm" w="sm" type="none"/>
          </a:ln>
        </p:spPr>
        <p:txBody>
          <a:bodyPr anchorCtr="0" anchor="ctr" bIns="18000" lIns="36000" spcFirstLastPara="1" rIns="36000" wrap="square" tIns="18000">
            <a:noAutofit/>
          </a:bodyPr>
          <a:lstStyle/>
          <a:p>
            <a:pPr indent="0" lvl="0" marL="0" marR="0" rtl="0" algn="ctr">
              <a:spcBef>
                <a:spcPts val="0"/>
              </a:spcBef>
              <a:spcAft>
                <a:spcPts val="0"/>
              </a:spcAft>
              <a:buNone/>
            </a:pPr>
            <a:r>
              <a:rPr b="1" lang="en-US" sz="1400">
                <a:solidFill>
                  <a:srgbClr val="1C2433"/>
                </a:solidFill>
                <a:latin typeface="Playfair Display"/>
                <a:ea typeface="Playfair Display"/>
                <a:cs typeface="Playfair Display"/>
                <a:sym typeface="Playfair Display"/>
              </a:rPr>
              <a:t>Location</a:t>
            </a:r>
            <a:endParaRPr/>
          </a:p>
        </p:txBody>
      </p:sp>
      <p:sp>
        <p:nvSpPr>
          <p:cNvPr id="316" name="Google Shape;316;p20"/>
          <p:cNvSpPr/>
          <p:nvPr/>
        </p:nvSpPr>
        <p:spPr>
          <a:xfrm>
            <a:off x="952500" y="4267200"/>
            <a:ext cx="1397000" cy="482600"/>
          </a:xfrm>
          <a:prstGeom prst="roundRect">
            <a:avLst>
              <a:gd fmla="val 25000" name="adj"/>
            </a:avLst>
          </a:prstGeom>
          <a:solidFill>
            <a:srgbClr val="E8E1D4"/>
          </a:solidFill>
          <a:ln cap="flat" cmpd="sng" w="9525">
            <a:solidFill>
              <a:srgbClr val="2C4A6E"/>
            </a:solidFill>
            <a:prstDash val="solid"/>
            <a:round/>
            <a:headEnd len="sm" w="sm" type="none"/>
            <a:tailEnd len="sm" w="sm" type="none"/>
          </a:ln>
        </p:spPr>
        <p:txBody>
          <a:bodyPr anchorCtr="0" anchor="ctr" bIns="18000" lIns="36000" spcFirstLastPara="1" rIns="36000" wrap="square" tIns="18000">
            <a:noAutofit/>
          </a:bodyPr>
          <a:lstStyle/>
          <a:p>
            <a:pPr indent="0" lvl="0" marL="0" marR="0" rtl="0" algn="ctr">
              <a:spcBef>
                <a:spcPts val="0"/>
              </a:spcBef>
              <a:spcAft>
                <a:spcPts val="0"/>
              </a:spcAft>
              <a:buNone/>
            </a:pPr>
            <a:r>
              <a:rPr b="1" lang="en-US" sz="1400">
                <a:solidFill>
                  <a:srgbClr val="1C2433"/>
                </a:solidFill>
                <a:latin typeface="Playfair Display"/>
                <a:ea typeface="Playfair Display"/>
                <a:cs typeface="Playfair Display"/>
                <a:sym typeface="Playfair Display"/>
              </a:rPr>
              <a:t>Income</a:t>
            </a:r>
            <a:endParaRPr/>
          </a:p>
        </p:txBody>
      </p:sp>
      <p:sp>
        <p:nvSpPr>
          <p:cNvPr id="317" name="Google Shape;317;p20"/>
          <p:cNvSpPr/>
          <p:nvPr/>
        </p:nvSpPr>
        <p:spPr>
          <a:xfrm>
            <a:off x="4044527" y="3402981"/>
            <a:ext cx="1397000" cy="482600"/>
          </a:xfrm>
          <a:prstGeom prst="roundRect">
            <a:avLst>
              <a:gd fmla="val 25000" name="adj"/>
            </a:avLst>
          </a:prstGeom>
          <a:solidFill>
            <a:srgbClr val="E8E1D4"/>
          </a:solidFill>
          <a:ln cap="flat" cmpd="sng" w="9525">
            <a:solidFill>
              <a:srgbClr val="2C4A6E"/>
            </a:solidFill>
            <a:prstDash val="solid"/>
            <a:round/>
            <a:headEnd len="sm" w="sm" type="none"/>
            <a:tailEnd len="sm" w="sm" type="none"/>
          </a:ln>
        </p:spPr>
        <p:txBody>
          <a:bodyPr anchorCtr="0" anchor="ctr" bIns="18000" lIns="36000" spcFirstLastPara="1" rIns="36000" wrap="square" tIns="18000">
            <a:noAutofit/>
          </a:bodyPr>
          <a:lstStyle/>
          <a:p>
            <a:pPr indent="0" lvl="0" marL="0" marR="0" rtl="0" algn="ctr">
              <a:spcBef>
                <a:spcPts val="0"/>
              </a:spcBef>
              <a:spcAft>
                <a:spcPts val="0"/>
              </a:spcAft>
              <a:buNone/>
            </a:pPr>
            <a:r>
              <a:rPr b="1" lang="en-US" sz="1400">
                <a:solidFill>
                  <a:srgbClr val="1C2433"/>
                </a:solidFill>
                <a:latin typeface="Playfair Display"/>
                <a:ea typeface="Playfair Display"/>
                <a:cs typeface="Playfair Display"/>
                <a:sym typeface="Playfair Display"/>
              </a:rPr>
              <a:t>Housing Price</a:t>
            </a:r>
            <a:endParaRPr/>
          </a:p>
        </p:txBody>
      </p:sp>
      <p:cxnSp>
        <p:nvCxnSpPr>
          <p:cNvPr id="318" name="Google Shape;318;p20"/>
          <p:cNvCxnSpPr>
            <a:stCxn id="315" idx="3"/>
          </p:cNvCxnSpPr>
          <p:nvPr/>
        </p:nvCxnSpPr>
        <p:spPr>
          <a:xfrm>
            <a:off x="2348238" y="3003550"/>
            <a:ext cx="1695000" cy="511200"/>
          </a:xfrm>
          <a:prstGeom prst="straightConnector1">
            <a:avLst/>
          </a:prstGeom>
          <a:noFill/>
          <a:ln cap="flat" cmpd="sng" w="28575">
            <a:solidFill>
              <a:srgbClr val="B5532A"/>
            </a:solidFill>
            <a:prstDash val="solid"/>
            <a:round/>
            <a:headEnd len="sm" w="sm" type="none"/>
            <a:tailEnd len="med" w="med" type="triangle"/>
          </a:ln>
        </p:spPr>
      </p:cxnSp>
      <p:cxnSp>
        <p:nvCxnSpPr>
          <p:cNvPr id="319" name="Google Shape;319;p20"/>
          <p:cNvCxnSpPr>
            <a:stCxn id="315" idx="2"/>
            <a:endCxn id="316" idx="0"/>
          </p:cNvCxnSpPr>
          <p:nvPr/>
        </p:nvCxnSpPr>
        <p:spPr>
          <a:xfrm>
            <a:off x="1649738" y="3244850"/>
            <a:ext cx="1200" cy="1022400"/>
          </a:xfrm>
          <a:prstGeom prst="straightConnector1">
            <a:avLst/>
          </a:prstGeom>
          <a:noFill/>
          <a:ln cap="flat" cmpd="sng" w="19050">
            <a:solidFill>
              <a:srgbClr val="2C4A6E"/>
            </a:solidFill>
            <a:prstDash val="solid"/>
            <a:round/>
            <a:headEnd len="sm" w="sm" type="none"/>
            <a:tailEnd len="med" w="med" type="triangle"/>
          </a:ln>
        </p:spPr>
      </p:cxnSp>
      <p:cxnSp>
        <p:nvCxnSpPr>
          <p:cNvPr id="320" name="Google Shape;320;p20"/>
          <p:cNvCxnSpPr/>
          <p:nvPr/>
        </p:nvCxnSpPr>
        <p:spPr>
          <a:xfrm flipH="1" rot="10800000">
            <a:off x="2349500" y="3756025"/>
            <a:ext cx="1695027" cy="752475"/>
          </a:xfrm>
          <a:prstGeom prst="straightConnector1">
            <a:avLst/>
          </a:prstGeom>
          <a:noFill/>
          <a:ln cap="flat" cmpd="sng" w="19050">
            <a:solidFill>
              <a:srgbClr val="2C4A6E"/>
            </a:solidFill>
            <a:prstDash val="solid"/>
            <a:round/>
            <a:headEnd len="sm" w="sm" type="none"/>
            <a:tailEnd len="med" w="med" type="triangle"/>
          </a:ln>
        </p:spPr>
      </p:cxnSp>
      <p:sp>
        <p:nvSpPr>
          <p:cNvPr id="321" name="Google Shape;321;p20"/>
          <p:cNvSpPr txBox="1"/>
          <p:nvPr/>
        </p:nvSpPr>
        <p:spPr>
          <a:xfrm>
            <a:off x="698500" y="5143500"/>
            <a:ext cx="4743025" cy="13970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lang="en-US" sz="1400">
                <a:solidFill>
                  <a:srgbClr val="1C2433"/>
                </a:solidFill>
                <a:latin typeface="Playfair Display"/>
                <a:ea typeface="Playfair Display"/>
                <a:cs typeface="Playfair Display"/>
                <a:sym typeface="Playfair Display"/>
              </a:rPr>
              <a:t>Income affects housing prices and varies geographically. By only modeling Location → Housing Price, we force our spatial kernel to implicitly capture the location-income covariance as well.</a:t>
            </a:r>
            <a:endParaRPr/>
          </a:p>
        </p:txBody>
      </p:sp>
      <p:sp>
        <p:nvSpPr>
          <p:cNvPr id="322" name="Google Shape;322;p20"/>
          <p:cNvSpPr txBox="1"/>
          <p:nvPr/>
        </p:nvSpPr>
        <p:spPr>
          <a:xfrm>
            <a:off x="6223000" y="2349500"/>
            <a:ext cx="5588000" cy="35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1600">
                <a:solidFill>
                  <a:schemeClr val="accent2"/>
                </a:solidFill>
                <a:latin typeface="Playfair Display"/>
                <a:ea typeface="Playfair Display"/>
                <a:cs typeface="Playfair Display"/>
                <a:sym typeface="Playfair Display"/>
              </a:rPr>
              <a:t>With income variable added</a:t>
            </a:r>
            <a:endParaRPr/>
          </a:p>
        </p:txBody>
      </p:sp>
      <p:sp>
        <p:nvSpPr>
          <p:cNvPr id="323" name="Google Shape;323;p20"/>
          <p:cNvSpPr/>
          <p:nvPr/>
        </p:nvSpPr>
        <p:spPr>
          <a:xfrm>
            <a:off x="6667500" y="2781300"/>
            <a:ext cx="1397000" cy="482600"/>
          </a:xfrm>
          <a:prstGeom prst="roundRect">
            <a:avLst>
              <a:gd fmla="val 25000" name="adj"/>
            </a:avLst>
          </a:prstGeom>
          <a:solidFill>
            <a:srgbClr val="E8E1D4"/>
          </a:solidFill>
          <a:ln cap="flat" cmpd="sng" w="9525">
            <a:solidFill>
              <a:srgbClr val="2C4A6E"/>
            </a:solidFill>
            <a:prstDash val="solid"/>
            <a:round/>
            <a:headEnd len="sm" w="sm" type="none"/>
            <a:tailEnd len="sm" w="sm" type="none"/>
          </a:ln>
        </p:spPr>
        <p:txBody>
          <a:bodyPr anchorCtr="0" anchor="ctr" bIns="18000" lIns="36000" spcFirstLastPara="1" rIns="36000" wrap="square" tIns="18000">
            <a:noAutofit/>
          </a:bodyPr>
          <a:lstStyle/>
          <a:p>
            <a:pPr indent="0" lvl="0" marL="0" marR="0" rtl="0" algn="ctr">
              <a:spcBef>
                <a:spcPts val="0"/>
              </a:spcBef>
              <a:spcAft>
                <a:spcPts val="0"/>
              </a:spcAft>
              <a:buNone/>
            </a:pPr>
            <a:r>
              <a:rPr b="1" lang="en-US" sz="1400">
                <a:solidFill>
                  <a:srgbClr val="1C2433"/>
                </a:solidFill>
                <a:latin typeface="Playfair Display"/>
                <a:ea typeface="Playfair Display"/>
                <a:cs typeface="Playfair Display"/>
                <a:sym typeface="Playfair Display"/>
              </a:rPr>
              <a:t>Location</a:t>
            </a:r>
            <a:endParaRPr/>
          </a:p>
        </p:txBody>
      </p:sp>
      <p:sp>
        <p:nvSpPr>
          <p:cNvPr id="324" name="Google Shape;324;p20"/>
          <p:cNvSpPr/>
          <p:nvPr/>
        </p:nvSpPr>
        <p:spPr>
          <a:xfrm>
            <a:off x="6667500" y="4267200"/>
            <a:ext cx="1397000" cy="482600"/>
          </a:xfrm>
          <a:prstGeom prst="roundRect">
            <a:avLst>
              <a:gd fmla="val 25000" name="adj"/>
            </a:avLst>
          </a:prstGeom>
          <a:solidFill>
            <a:srgbClr val="E8E1D4"/>
          </a:solidFill>
          <a:ln cap="flat" cmpd="sng" w="9525">
            <a:solidFill>
              <a:srgbClr val="2C4A6E"/>
            </a:solidFill>
            <a:prstDash val="solid"/>
            <a:round/>
            <a:headEnd len="sm" w="sm" type="none"/>
            <a:tailEnd len="sm" w="sm" type="none"/>
          </a:ln>
        </p:spPr>
        <p:txBody>
          <a:bodyPr anchorCtr="0" anchor="ctr" bIns="18000" lIns="36000" spcFirstLastPara="1" rIns="36000" wrap="square" tIns="18000">
            <a:noAutofit/>
          </a:bodyPr>
          <a:lstStyle/>
          <a:p>
            <a:pPr indent="0" lvl="0" marL="0" marR="0" rtl="0" algn="ctr">
              <a:spcBef>
                <a:spcPts val="0"/>
              </a:spcBef>
              <a:spcAft>
                <a:spcPts val="0"/>
              </a:spcAft>
              <a:buNone/>
            </a:pPr>
            <a:r>
              <a:rPr b="1" lang="en-US" sz="1400">
                <a:solidFill>
                  <a:srgbClr val="1C2433"/>
                </a:solidFill>
                <a:latin typeface="Playfair Display"/>
                <a:ea typeface="Playfair Display"/>
                <a:cs typeface="Playfair Display"/>
                <a:sym typeface="Playfair Display"/>
              </a:rPr>
              <a:t>Income</a:t>
            </a:r>
            <a:endParaRPr/>
          </a:p>
        </p:txBody>
      </p:sp>
      <p:sp>
        <p:nvSpPr>
          <p:cNvPr id="325" name="Google Shape;325;p20"/>
          <p:cNvSpPr/>
          <p:nvPr/>
        </p:nvSpPr>
        <p:spPr>
          <a:xfrm>
            <a:off x="9758256" y="3397250"/>
            <a:ext cx="1397000" cy="482600"/>
          </a:xfrm>
          <a:prstGeom prst="roundRect">
            <a:avLst>
              <a:gd fmla="val 25000" name="adj"/>
            </a:avLst>
          </a:prstGeom>
          <a:solidFill>
            <a:srgbClr val="E8E1D4"/>
          </a:solidFill>
          <a:ln cap="flat" cmpd="sng" w="9525">
            <a:solidFill>
              <a:srgbClr val="2C4A6E"/>
            </a:solidFill>
            <a:prstDash val="solid"/>
            <a:round/>
            <a:headEnd len="sm" w="sm" type="none"/>
            <a:tailEnd len="sm" w="sm" type="none"/>
          </a:ln>
        </p:spPr>
        <p:txBody>
          <a:bodyPr anchorCtr="0" anchor="ctr" bIns="18000" lIns="36000" spcFirstLastPara="1" rIns="36000" wrap="square" tIns="18000">
            <a:noAutofit/>
          </a:bodyPr>
          <a:lstStyle/>
          <a:p>
            <a:pPr indent="0" lvl="0" marL="0" marR="0" rtl="0" algn="ctr">
              <a:spcBef>
                <a:spcPts val="0"/>
              </a:spcBef>
              <a:spcAft>
                <a:spcPts val="0"/>
              </a:spcAft>
              <a:buNone/>
            </a:pPr>
            <a:r>
              <a:rPr b="1" lang="en-US" sz="1400">
                <a:solidFill>
                  <a:srgbClr val="1C2433"/>
                </a:solidFill>
                <a:latin typeface="Playfair Display"/>
                <a:ea typeface="Playfair Display"/>
                <a:cs typeface="Playfair Display"/>
                <a:sym typeface="Playfair Display"/>
              </a:rPr>
              <a:t>Housing Price</a:t>
            </a:r>
            <a:endParaRPr/>
          </a:p>
        </p:txBody>
      </p:sp>
      <p:cxnSp>
        <p:nvCxnSpPr>
          <p:cNvPr id="326" name="Google Shape;326;p20"/>
          <p:cNvCxnSpPr>
            <a:stCxn id="323" idx="3"/>
          </p:cNvCxnSpPr>
          <p:nvPr/>
        </p:nvCxnSpPr>
        <p:spPr>
          <a:xfrm>
            <a:off x="8064500" y="3022600"/>
            <a:ext cx="1693800" cy="492000"/>
          </a:xfrm>
          <a:prstGeom prst="straightConnector1">
            <a:avLst/>
          </a:prstGeom>
          <a:noFill/>
          <a:ln cap="flat" cmpd="sng" w="19050">
            <a:solidFill>
              <a:schemeClr val="accent2"/>
            </a:solidFill>
            <a:prstDash val="solid"/>
            <a:round/>
            <a:headEnd len="sm" w="sm" type="none"/>
            <a:tailEnd len="med" w="med" type="triangle"/>
          </a:ln>
        </p:spPr>
      </p:cxnSp>
      <p:cxnSp>
        <p:nvCxnSpPr>
          <p:cNvPr id="327" name="Google Shape;327;p20"/>
          <p:cNvCxnSpPr>
            <a:stCxn id="323" idx="2"/>
            <a:endCxn id="324" idx="0"/>
          </p:cNvCxnSpPr>
          <p:nvPr/>
        </p:nvCxnSpPr>
        <p:spPr>
          <a:xfrm>
            <a:off x="7366000" y="3263900"/>
            <a:ext cx="0" cy="1003200"/>
          </a:xfrm>
          <a:prstGeom prst="straightConnector1">
            <a:avLst/>
          </a:prstGeom>
          <a:noFill/>
          <a:ln cap="flat" cmpd="sng" w="19050">
            <a:solidFill>
              <a:schemeClr val="dk2"/>
            </a:solidFill>
            <a:prstDash val="dash"/>
            <a:round/>
            <a:headEnd len="sm" w="sm" type="none"/>
            <a:tailEnd len="med" w="med" type="triangle"/>
          </a:ln>
        </p:spPr>
      </p:cxnSp>
      <p:cxnSp>
        <p:nvCxnSpPr>
          <p:cNvPr id="328" name="Google Shape;328;p20"/>
          <p:cNvCxnSpPr/>
          <p:nvPr/>
        </p:nvCxnSpPr>
        <p:spPr>
          <a:xfrm flipH="1" rot="10800000">
            <a:off x="8064500" y="3827463"/>
            <a:ext cx="1693756" cy="681037"/>
          </a:xfrm>
          <a:prstGeom prst="straightConnector1">
            <a:avLst/>
          </a:prstGeom>
          <a:noFill/>
          <a:ln cap="flat" cmpd="sng" w="19050">
            <a:solidFill>
              <a:schemeClr val="accent2"/>
            </a:solidFill>
            <a:prstDash val="solid"/>
            <a:round/>
            <a:headEnd len="sm" w="sm" type="none"/>
            <a:tailEnd len="med" w="med" type="triangle"/>
          </a:ln>
        </p:spPr>
      </p:cxnSp>
      <p:cxnSp>
        <p:nvCxnSpPr>
          <p:cNvPr id="329" name="Google Shape;329;p20"/>
          <p:cNvCxnSpPr/>
          <p:nvPr/>
        </p:nvCxnSpPr>
        <p:spPr>
          <a:xfrm>
            <a:off x="7176348" y="3543300"/>
            <a:ext cx="330200" cy="330200"/>
          </a:xfrm>
          <a:prstGeom prst="straightConnector1">
            <a:avLst/>
          </a:prstGeom>
          <a:noFill/>
          <a:ln cap="flat" cmpd="sng" w="38100">
            <a:solidFill>
              <a:srgbClr val="B5532A"/>
            </a:solidFill>
            <a:prstDash val="solid"/>
            <a:round/>
            <a:headEnd len="sm" w="sm" type="none"/>
            <a:tailEnd len="sm" w="sm" type="none"/>
          </a:ln>
        </p:spPr>
      </p:cxnSp>
      <p:cxnSp>
        <p:nvCxnSpPr>
          <p:cNvPr id="330" name="Google Shape;330;p20"/>
          <p:cNvCxnSpPr/>
          <p:nvPr/>
        </p:nvCxnSpPr>
        <p:spPr>
          <a:xfrm flipH="1">
            <a:off x="7176348" y="3549650"/>
            <a:ext cx="330200" cy="330200"/>
          </a:xfrm>
          <a:prstGeom prst="straightConnector1">
            <a:avLst/>
          </a:prstGeom>
          <a:noFill/>
          <a:ln cap="flat" cmpd="sng" w="38100">
            <a:solidFill>
              <a:srgbClr val="B5532A"/>
            </a:solidFill>
            <a:prstDash val="solid"/>
            <a:round/>
            <a:headEnd len="sm" w="sm" type="none"/>
            <a:tailEnd len="sm" w="sm" type="none"/>
          </a:ln>
        </p:spPr>
      </p:cxnSp>
      <p:sp>
        <p:nvSpPr>
          <p:cNvPr id="331" name="Google Shape;331;p20"/>
          <p:cNvSpPr txBox="1"/>
          <p:nvPr/>
        </p:nvSpPr>
        <p:spPr>
          <a:xfrm>
            <a:off x="6786107" y="5143500"/>
            <a:ext cx="4369143" cy="13970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lang="en-US" sz="1400">
                <a:solidFill>
                  <a:srgbClr val="1C2433"/>
                </a:solidFill>
                <a:latin typeface="Playfair Display"/>
                <a:ea typeface="Playfair Display"/>
                <a:cs typeface="Playfair Display"/>
                <a:sym typeface="Playfair Display"/>
              </a:rPr>
              <a:t>By introducing the income variable, the spatial kernel no longer attempts to explain the indirect effect of </a:t>
            </a:r>
            <a:endParaRPr/>
          </a:p>
          <a:p>
            <a:pPr indent="0" lvl="0" marL="0" marR="0" rtl="0" algn="ctr">
              <a:spcBef>
                <a:spcPts val="200"/>
              </a:spcBef>
              <a:spcAft>
                <a:spcPts val="0"/>
              </a:spcAft>
              <a:buNone/>
            </a:pPr>
            <a:r>
              <a:rPr lang="en-US" sz="1400">
                <a:solidFill>
                  <a:srgbClr val="1C2433"/>
                </a:solidFill>
                <a:latin typeface="Playfair Display"/>
                <a:ea typeface="Playfair Display"/>
                <a:cs typeface="Playfair Display"/>
                <a:sym typeface="Playfair Display"/>
              </a:rPr>
              <a:t>Location → Income → Housing Price.</a:t>
            </a:r>
            <a:endParaRPr/>
          </a:p>
        </p:txBody>
      </p:sp>
      <p:cxnSp>
        <p:nvCxnSpPr>
          <p:cNvPr id="332" name="Google Shape;332;p20"/>
          <p:cNvCxnSpPr/>
          <p:nvPr/>
        </p:nvCxnSpPr>
        <p:spPr>
          <a:xfrm>
            <a:off x="6096000" y="2476500"/>
            <a:ext cx="0" cy="3937000"/>
          </a:xfrm>
          <a:prstGeom prst="straightConnector1">
            <a:avLst/>
          </a:prstGeom>
          <a:noFill/>
          <a:ln cap="flat" cmpd="sng" w="9525">
            <a:solidFill>
              <a:srgbClr val="C9C0AE"/>
            </a:solidFill>
            <a:prstDash val="solid"/>
            <a:round/>
            <a:headEnd len="sm" w="sm" type="none"/>
            <a:tailEnd len="sm" w="sm" type="none"/>
          </a:ln>
        </p:spPr>
      </p:cxn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21"/>
          <p:cNvSpPr txBox="1"/>
          <p:nvPr>
            <p:ph type="title"/>
          </p:nvPr>
        </p:nvSpPr>
        <p:spPr>
          <a:xfrm>
            <a:off x="838200" y="368300"/>
            <a:ext cx="10515600" cy="762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1C2433"/>
              </a:buClr>
              <a:buSzPts val="3600"/>
              <a:buFont typeface="Playfair Display"/>
              <a:buNone/>
            </a:pPr>
            <a:r>
              <a:rPr b="1" lang="en-US" sz="3600">
                <a:solidFill>
                  <a:srgbClr val="1C2433"/>
                </a:solidFill>
                <a:latin typeface="Playfair Display"/>
                <a:ea typeface="Playfair Display"/>
                <a:cs typeface="Playfair Display"/>
                <a:sym typeface="Playfair Display"/>
              </a:rPr>
              <a:t>Inside the Augmented Model</a:t>
            </a:r>
            <a:endParaRPr/>
          </a:p>
        </p:txBody>
      </p:sp>
      <p:sp>
        <p:nvSpPr>
          <p:cNvPr id="338" name="Google Shape;338;p21"/>
          <p:cNvSpPr/>
          <p:nvPr/>
        </p:nvSpPr>
        <p:spPr>
          <a:xfrm>
            <a:off x="762000" y="1460500"/>
            <a:ext cx="5143500" cy="2349500"/>
          </a:xfrm>
          <a:prstGeom prst="rect">
            <a:avLst/>
          </a:prstGeom>
          <a:solidFill>
            <a:srgbClr val="F4EEE3"/>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39" name="Google Shape;339;p21"/>
          <p:cNvSpPr txBox="1"/>
          <p:nvPr/>
        </p:nvSpPr>
        <p:spPr>
          <a:xfrm>
            <a:off x="939800" y="1612900"/>
            <a:ext cx="4787900" cy="2044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C4A6E"/>
              </a:buClr>
              <a:buSzPts val="1600"/>
              <a:buFont typeface="Playfair Display"/>
              <a:buNone/>
            </a:pPr>
            <a:r>
              <a:rPr b="1" lang="en-US" sz="1600">
                <a:solidFill>
                  <a:srgbClr val="2C4A6E"/>
                </a:solidFill>
                <a:latin typeface="Playfair Display"/>
                <a:ea typeface="Playfair Display"/>
                <a:cs typeface="Playfair Display"/>
                <a:sym typeface="Playfair Display"/>
              </a:rPr>
              <a:t>Spatial kernel</a:t>
            </a:r>
            <a:endParaRPr/>
          </a:p>
          <a:p>
            <a:pPr indent="0" lvl="0" marL="0" marR="0" rtl="0" algn="ctr">
              <a:spcBef>
                <a:spcPts val="600"/>
              </a:spcBef>
              <a:spcAft>
                <a:spcPts val="0"/>
              </a:spcAft>
              <a:buClr>
                <a:srgbClr val="1C2433"/>
              </a:buClr>
              <a:buSzPts val="1500"/>
              <a:buFont typeface="Cambria Math"/>
              <a:buNone/>
            </a:pPr>
            <a:r>
              <a:rPr i="1" lang="en-US" sz="1500">
                <a:solidFill>
                  <a:srgbClr val="1C2433"/>
                </a:solidFill>
                <a:latin typeface="Cambria Math"/>
                <a:ea typeface="Cambria Math"/>
                <a:cs typeface="Cambria Math"/>
                <a:sym typeface="Cambria Math"/>
              </a:rPr>
              <a:t>k</a:t>
            </a:r>
            <a:r>
              <a:rPr baseline="-25000" i="1" lang="en-US" sz="1100">
                <a:solidFill>
                  <a:srgbClr val="1C2433"/>
                </a:solidFill>
                <a:latin typeface="Cambria Math"/>
                <a:ea typeface="Cambria Math"/>
                <a:cs typeface="Cambria Math"/>
                <a:sym typeface="Cambria Math"/>
              </a:rPr>
              <a:t>spatial</a:t>
            </a:r>
            <a:r>
              <a:rPr i="1" lang="en-US" sz="1500">
                <a:solidFill>
                  <a:srgbClr val="1C2433"/>
                </a:solidFill>
                <a:latin typeface="Cambria Math"/>
                <a:ea typeface="Cambria Math"/>
                <a:cs typeface="Cambria Math"/>
                <a:sym typeface="Cambria Math"/>
              </a:rPr>
              <a:t>(s, s′) = α</a:t>
            </a:r>
            <a:r>
              <a:rPr baseline="-25000" i="1" lang="en-US" sz="1100">
                <a:solidFill>
                  <a:srgbClr val="1C2433"/>
                </a:solidFill>
                <a:latin typeface="Cambria Math"/>
                <a:ea typeface="Cambria Math"/>
                <a:cs typeface="Cambria Math"/>
                <a:sym typeface="Cambria Math"/>
              </a:rPr>
              <a:t>loc</a:t>
            </a:r>
            <a:r>
              <a:rPr i="1" lang="en-US" sz="1500">
                <a:solidFill>
                  <a:srgbClr val="1C2433"/>
                </a:solidFill>
                <a:latin typeface="Cambria Math"/>
                <a:ea typeface="Cambria Math"/>
                <a:cs typeface="Cambria Math"/>
                <a:sym typeface="Cambria Math"/>
              </a:rPr>
              <a:t>² exp(− ‖s − s′‖² / 2ρ</a:t>
            </a:r>
            <a:r>
              <a:rPr baseline="-25000" i="1" lang="en-US" sz="1100">
                <a:solidFill>
                  <a:srgbClr val="1C2433"/>
                </a:solidFill>
                <a:latin typeface="Cambria Math"/>
                <a:ea typeface="Cambria Math"/>
                <a:cs typeface="Cambria Math"/>
                <a:sym typeface="Cambria Math"/>
              </a:rPr>
              <a:t>loc</a:t>
            </a:r>
            <a:r>
              <a:rPr i="1" lang="en-US" sz="1500">
                <a:solidFill>
                  <a:srgbClr val="1C2433"/>
                </a:solidFill>
                <a:latin typeface="Cambria Math"/>
                <a:ea typeface="Cambria Math"/>
                <a:cs typeface="Cambria Math"/>
                <a:sym typeface="Cambria Math"/>
              </a:rPr>
              <a:t>²)</a:t>
            </a:r>
            <a:endParaRPr/>
          </a:p>
          <a:p>
            <a:pPr indent="-171450" lvl="0" marL="171450" marR="0" rtl="0" algn="l">
              <a:spcBef>
                <a:spcPts val="300"/>
              </a:spcBef>
              <a:spcAft>
                <a:spcPts val="0"/>
              </a:spcAft>
              <a:buClr>
                <a:srgbClr val="1C2433"/>
              </a:buClr>
              <a:buSzPts val="1300"/>
              <a:buFont typeface="Arial"/>
              <a:buChar char="•"/>
            </a:pPr>
            <a:r>
              <a:rPr i="1" lang="en-US" sz="1300">
                <a:solidFill>
                  <a:srgbClr val="1C2433"/>
                </a:solidFill>
                <a:latin typeface="Cambria Math"/>
                <a:ea typeface="Cambria Math"/>
                <a:cs typeface="Cambria Math"/>
                <a:sym typeface="Cambria Math"/>
              </a:rPr>
              <a:t>α</a:t>
            </a:r>
            <a:r>
              <a:rPr baseline="-25000" i="1" lang="en-US" sz="900">
                <a:solidFill>
                  <a:srgbClr val="1C2433"/>
                </a:solidFill>
                <a:latin typeface="Cambria Math"/>
                <a:ea typeface="Cambria Math"/>
                <a:cs typeface="Cambria Math"/>
                <a:sym typeface="Cambria Math"/>
              </a:rPr>
              <a:t>loc</a:t>
            </a:r>
            <a:r>
              <a:rPr lang="en-US" sz="1300">
                <a:solidFill>
                  <a:srgbClr val="1C2433"/>
                </a:solidFill>
                <a:latin typeface="Playfair Display"/>
                <a:ea typeface="Playfair Display"/>
                <a:cs typeface="Playfair Display"/>
                <a:sym typeface="Playfair Display"/>
              </a:rPr>
              <a:t> controls the size of the spatial variation</a:t>
            </a:r>
            <a:endParaRPr/>
          </a:p>
          <a:p>
            <a:pPr indent="-171450" lvl="0" marL="171450" marR="0" rtl="0" algn="l">
              <a:spcBef>
                <a:spcPts val="200"/>
              </a:spcBef>
              <a:spcAft>
                <a:spcPts val="0"/>
              </a:spcAft>
              <a:buClr>
                <a:srgbClr val="1C2433"/>
              </a:buClr>
              <a:buSzPts val="1300"/>
              <a:buFont typeface="Arial"/>
              <a:buChar char="•"/>
            </a:pPr>
            <a:r>
              <a:rPr i="1" lang="en-US" sz="1300">
                <a:solidFill>
                  <a:srgbClr val="1C2433"/>
                </a:solidFill>
                <a:latin typeface="Cambria Math"/>
                <a:ea typeface="Cambria Math"/>
                <a:cs typeface="Cambria Math"/>
                <a:sym typeface="Cambria Math"/>
              </a:rPr>
              <a:t>ρ</a:t>
            </a:r>
            <a:r>
              <a:rPr baseline="-25000" i="1" lang="en-US" sz="900">
                <a:solidFill>
                  <a:srgbClr val="1C2433"/>
                </a:solidFill>
                <a:latin typeface="Cambria Math"/>
                <a:ea typeface="Cambria Math"/>
                <a:cs typeface="Cambria Math"/>
                <a:sym typeface="Cambria Math"/>
              </a:rPr>
              <a:t>loc</a:t>
            </a:r>
            <a:r>
              <a:rPr lang="en-US" sz="1300">
                <a:solidFill>
                  <a:srgbClr val="1C2433"/>
                </a:solidFill>
                <a:latin typeface="Playfair Display"/>
                <a:ea typeface="Playfair Display"/>
                <a:cs typeface="Playfair Display"/>
                <a:sym typeface="Playfair Display"/>
              </a:rPr>
              <a:t> is the spatial lengthscale</a:t>
            </a:r>
            <a:endParaRPr/>
          </a:p>
          <a:p>
            <a:pPr indent="-171450" lvl="0" marL="171450" marR="0" rtl="0" algn="l">
              <a:spcBef>
                <a:spcPts val="200"/>
              </a:spcBef>
              <a:spcAft>
                <a:spcPts val="0"/>
              </a:spcAft>
              <a:buClr>
                <a:srgbClr val="1C2433"/>
              </a:buClr>
              <a:buSzPts val="1300"/>
              <a:buFont typeface="Arial"/>
              <a:buChar char="•"/>
            </a:pPr>
            <a:r>
              <a:rPr lang="en-US" sz="1300">
                <a:solidFill>
                  <a:srgbClr val="1C2433"/>
                </a:solidFill>
                <a:latin typeface="Playfair Display"/>
                <a:ea typeface="Playfair Display"/>
                <a:cs typeface="Playfair Display"/>
                <a:sym typeface="Playfair Display"/>
              </a:rPr>
              <a:t>Nearby locations are more strongly correlated</a:t>
            </a:r>
            <a:endParaRPr/>
          </a:p>
        </p:txBody>
      </p:sp>
      <p:sp>
        <p:nvSpPr>
          <p:cNvPr id="340" name="Google Shape;340;p21"/>
          <p:cNvSpPr/>
          <p:nvPr/>
        </p:nvSpPr>
        <p:spPr>
          <a:xfrm>
            <a:off x="6286500" y="1460500"/>
            <a:ext cx="5143500" cy="2349500"/>
          </a:xfrm>
          <a:prstGeom prst="rect">
            <a:avLst/>
          </a:prstGeom>
          <a:solidFill>
            <a:srgbClr val="F4EEE3"/>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41" name="Google Shape;341;p21"/>
          <p:cNvSpPr txBox="1"/>
          <p:nvPr/>
        </p:nvSpPr>
        <p:spPr>
          <a:xfrm>
            <a:off x="6464300" y="1612900"/>
            <a:ext cx="4787900" cy="2044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C4A6E"/>
              </a:buClr>
              <a:buSzPts val="1600"/>
              <a:buFont typeface="Playfair Display"/>
              <a:buNone/>
            </a:pPr>
            <a:r>
              <a:rPr b="1" lang="en-US" sz="1600">
                <a:solidFill>
                  <a:srgbClr val="2C4A6E"/>
                </a:solidFill>
                <a:latin typeface="Playfair Display"/>
                <a:ea typeface="Playfair Display"/>
                <a:cs typeface="Playfair Display"/>
                <a:sym typeface="Playfair Display"/>
              </a:rPr>
              <a:t>Income kernel</a:t>
            </a:r>
            <a:endParaRPr/>
          </a:p>
          <a:p>
            <a:pPr indent="0" lvl="0" marL="0" marR="0" rtl="0" algn="ctr">
              <a:spcBef>
                <a:spcPts val="600"/>
              </a:spcBef>
              <a:spcAft>
                <a:spcPts val="0"/>
              </a:spcAft>
              <a:buClr>
                <a:srgbClr val="1C2433"/>
              </a:buClr>
              <a:buSzPts val="1500"/>
              <a:buFont typeface="Cambria Math"/>
              <a:buNone/>
            </a:pPr>
            <a:r>
              <a:rPr i="1" lang="en-US" sz="1500">
                <a:solidFill>
                  <a:srgbClr val="1C2433"/>
                </a:solidFill>
                <a:latin typeface="Cambria Math"/>
                <a:ea typeface="Cambria Math"/>
                <a:cs typeface="Cambria Math"/>
                <a:sym typeface="Cambria Math"/>
              </a:rPr>
              <a:t>k</a:t>
            </a:r>
            <a:r>
              <a:rPr baseline="-25000" i="1" lang="en-US" sz="1100">
                <a:solidFill>
                  <a:srgbClr val="1C2433"/>
                </a:solidFill>
                <a:latin typeface="Cambria Math"/>
                <a:ea typeface="Cambria Math"/>
                <a:cs typeface="Cambria Math"/>
                <a:sym typeface="Cambria Math"/>
              </a:rPr>
              <a:t>income</a:t>
            </a:r>
            <a:r>
              <a:rPr i="1" lang="en-US" sz="1500">
                <a:solidFill>
                  <a:srgbClr val="1C2433"/>
                </a:solidFill>
                <a:latin typeface="Cambria Math"/>
                <a:ea typeface="Cambria Math"/>
                <a:cs typeface="Cambria Math"/>
                <a:sym typeface="Cambria Math"/>
              </a:rPr>
              <a:t>(z, z′) = α</a:t>
            </a:r>
            <a:r>
              <a:rPr baseline="-25000" i="1" lang="en-US" sz="1100">
                <a:solidFill>
                  <a:srgbClr val="1C2433"/>
                </a:solidFill>
                <a:latin typeface="Cambria Math"/>
                <a:ea typeface="Cambria Math"/>
                <a:cs typeface="Cambria Math"/>
                <a:sym typeface="Cambria Math"/>
              </a:rPr>
              <a:t>inc</a:t>
            </a:r>
            <a:r>
              <a:rPr i="1" lang="en-US" sz="1500">
                <a:solidFill>
                  <a:srgbClr val="1C2433"/>
                </a:solidFill>
                <a:latin typeface="Cambria Math"/>
                <a:ea typeface="Cambria Math"/>
                <a:cs typeface="Cambria Math"/>
                <a:sym typeface="Cambria Math"/>
              </a:rPr>
              <a:t>² zz′</a:t>
            </a:r>
            <a:endParaRPr/>
          </a:p>
          <a:p>
            <a:pPr indent="0" lvl="0" marL="0" marR="0" rtl="0" algn="l">
              <a:spcBef>
                <a:spcPts val="300"/>
              </a:spcBef>
              <a:spcAft>
                <a:spcPts val="0"/>
              </a:spcAft>
              <a:buClr>
                <a:srgbClr val="1C2433"/>
              </a:buClr>
              <a:buSzPts val="1300"/>
              <a:buFont typeface="Playfair Display"/>
              <a:buNone/>
            </a:pPr>
            <a:r>
              <a:rPr lang="en-US" sz="1300">
                <a:solidFill>
                  <a:srgbClr val="1C2433"/>
                </a:solidFill>
                <a:latin typeface="Playfair Display"/>
                <a:ea typeface="Playfair Display"/>
                <a:cs typeface="Playfair Display"/>
                <a:sym typeface="Playfair Display"/>
              </a:rPr>
              <a:t>A linear kernel — the income effect is linear, but its slope is uncertain and learned from the data.</a:t>
            </a:r>
            <a:endParaRPr/>
          </a:p>
          <a:p>
            <a:pPr indent="-171450" lvl="0" marL="171450" marR="0" rtl="0" algn="l">
              <a:spcBef>
                <a:spcPts val="200"/>
              </a:spcBef>
              <a:spcAft>
                <a:spcPts val="0"/>
              </a:spcAft>
              <a:buClr>
                <a:srgbClr val="1C2433"/>
              </a:buClr>
              <a:buSzPts val="1300"/>
              <a:buFont typeface="Arial"/>
              <a:buChar char="•"/>
            </a:pPr>
            <a:r>
              <a:rPr i="1" lang="en-US" sz="1300">
                <a:solidFill>
                  <a:srgbClr val="1C2433"/>
                </a:solidFill>
                <a:latin typeface="Cambria Math"/>
                <a:ea typeface="Cambria Math"/>
                <a:cs typeface="Cambria Math"/>
                <a:sym typeface="Cambria Math"/>
              </a:rPr>
              <a:t>α</a:t>
            </a:r>
            <a:r>
              <a:rPr baseline="-25000" i="1" lang="en-US" sz="900">
                <a:solidFill>
                  <a:srgbClr val="1C2433"/>
                </a:solidFill>
                <a:latin typeface="Cambria Math"/>
                <a:ea typeface="Cambria Math"/>
                <a:cs typeface="Cambria Math"/>
                <a:sym typeface="Cambria Math"/>
              </a:rPr>
              <a:t>inc</a:t>
            </a:r>
            <a:r>
              <a:rPr lang="en-US" sz="1300">
                <a:solidFill>
                  <a:srgbClr val="1C2433"/>
                </a:solidFill>
                <a:latin typeface="Playfair Display"/>
                <a:ea typeface="Playfair Display"/>
                <a:cs typeface="Playfair Display"/>
                <a:sym typeface="Playfair Display"/>
              </a:rPr>
              <a:t> controls the strength of the income signal</a:t>
            </a:r>
            <a:endParaRPr/>
          </a:p>
        </p:txBody>
      </p:sp>
      <p:sp>
        <p:nvSpPr>
          <p:cNvPr id="342" name="Google Shape;342;p21"/>
          <p:cNvSpPr/>
          <p:nvPr/>
        </p:nvSpPr>
        <p:spPr>
          <a:xfrm>
            <a:off x="762000" y="3937000"/>
            <a:ext cx="5143500" cy="2349500"/>
          </a:xfrm>
          <a:prstGeom prst="rect">
            <a:avLst/>
          </a:prstGeom>
          <a:solidFill>
            <a:srgbClr val="F4EEE3"/>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43" name="Google Shape;343;p21"/>
          <p:cNvSpPr txBox="1"/>
          <p:nvPr/>
        </p:nvSpPr>
        <p:spPr>
          <a:xfrm>
            <a:off x="939800" y="4089400"/>
            <a:ext cx="4787900" cy="2044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C4A6E"/>
              </a:buClr>
              <a:buSzPts val="1600"/>
              <a:buFont typeface="Playfair Display"/>
              <a:buNone/>
            </a:pPr>
            <a:r>
              <a:rPr b="1" lang="en-US" sz="1600">
                <a:solidFill>
                  <a:srgbClr val="2C4A6E"/>
                </a:solidFill>
                <a:latin typeface="Playfair Display"/>
                <a:ea typeface="Playfair Display"/>
                <a:cs typeface="Playfair Display"/>
                <a:sym typeface="Playfair Display"/>
              </a:rPr>
              <a:t>Full covariance structure</a:t>
            </a:r>
            <a:endParaRPr/>
          </a:p>
          <a:p>
            <a:pPr indent="0" lvl="0" marL="0" marR="0" rtl="0" algn="ctr">
              <a:spcBef>
                <a:spcPts val="600"/>
              </a:spcBef>
              <a:spcAft>
                <a:spcPts val="0"/>
              </a:spcAft>
              <a:buClr>
                <a:srgbClr val="1C2433"/>
              </a:buClr>
              <a:buSzPts val="1500"/>
              <a:buFont typeface="Cambria Math"/>
              <a:buNone/>
            </a:pPr>
            <a:r>
              <a:rPr i="1" lang="en-US" sz="1500">
                <a:solidFill>
                  <a:srgbClr val="1C2433"/>
                </a:solidFill>
                <a:latin typeface="Cambria Math"/>
                <a:ea typeface="Cambria Math"/>
                <a:cs typeface="Cambria Math"/>
                <a:sym typeface="Cambria Math"/>
              </a:rPr>
              <a:t>K = K</a:t>
            </a:r>
            <a:r>
              <a:rPr baseline="-25000" i="1" lang="en-US" sz="1100">
                <a:solidFill>
                  <a:srgbClr val="1C2433"/>
                </a:solidFill>
                <a:latin typeface="Cambria Math"/>
                <a:ea typeface="Cambria Math"/>
                <a:cs typeface="Cambria Math"/>
                <a:sym typeface="Cambria Math"/>
              </a:rPr>
              <a:t>loc</a:t>
            </a:r>
            <a:r>
              <a:rPr i="1" lang="en-US" sz="1500">
                <a:solidFill>
                  <a:srgbClr val="1C2433"/>
                </a:solidFill>
                <a:latin typeface="Cambria Math"/>
                <a:ea typeface="Cambria Math"/>
                <a:cs typeface="Cambria Math"/>
                <a:sym typeface="Cambria Math"/>
              </a:rPr>
              <a:t> + K</a:t>
            </a:r>
            <a:r>
              <a:rPr baseline="-25000" i="1" lang="en-US" sz="1100">
                <a:solidFill>
                  <a:srgbClr val="1C2433"/>
                </a:solidFill>
                <a:latin typeface="Cambria Math"/>
                <a:ea typeface="Cambria Math"/>
                <a:cs typeface="Cambria Math"/>
                <a:sym typeface="Cambria Math"/>
              </a:rPr>
              <a:t>inc</a:t>
            </a:r>
            <a:r>
              <a:rPr i="1" lang="en-US" sz="1500">
                <a:solidFill>
                  <a:srgbClr val="1C2433"/>
                </a:solidFill>
                <a:latin typeface="Cambria Math"/>
                <a:ea typeface="Cambria Math"/>
                <a:cs typeface="Cambria Math"/>
                <a:sym typeface="Cambria Math"/>
              </a:rPr>
              <a:t> + σ² I</a:t>
            </a:r>
            <a:endParaRPr/>
          </a:p>
          <a:p>
            <a:pPr indent="0" lvl="0" marL="0" marR="0" rtl="0" algn="ctr">
              <a:spcBef>
                <a:spcPts val="500"/>
              </a:spcBef>
              <a:spcAft>
                <a:spcPts val="0"/>
              </a:spcAft>
              <a:buClr>
                <a:srgbClr val="1C2433"/>
              </a:buClr>
              <a:buSzPts val="1500"/>
              <a:buFont typeface="Cambria Math"/>
              <a:buNone/>
            </a:pPr>
            <a:r>
              <a:rPr i="1" lang="en-US" sz="1500">
                <a:solidFill>
                  <a:srgbClr val="1C2433"/>
                </a:solidFill>
                <a:latin typeface="Cambria Math"/>
                <a:ea typeface="Cambria Math"/>
                <a:cs typeface="Cambria Math"/>
                <a:sym typeface="Cambria Math"/>
              </a:rPr>
              <a:t>y</a:t>
            </a:r>
            <a:r>
              <a:rPr baseline="-25000" i="1" lang="en-US" sz="1100">
                <a:solidFill>
                  <a:srgbClr val="1C2433"/>
                </a:solidFill>
                <a:latin typeface="Cambria Math"/>
                <a:ea typeface="Cambria Math"/>
                <a:cs typeface="Cambria Math"/>
                <a:sym typeface="Cambria Math"/>
              </a:rPr>
              <a:t>train</a:t>
            </a:r>
            <a:r>
              <a:rPr i="1" lang="en-US" sz="1500">
                <a:solidFill>
                  <a:srgbClr val="1C2433"/>
                </a:solidFill>
                <a:latin typeface="Cambria Math"/>
                <a:ea typeface="Cambria Math"/>
                <a:cs typeface="Cambria Math"/>
                <a:sym typeface="Cambria Math"/>
              </a:rPr>
              <a:t> ∼ N(0, K)</a:t>
            </a:r>
            <a:endParaRPr/>
          </a:p>
          <a:p>
            <a:pPr indent="0" lvl="0" marL="0" marR="0" rtl="0" algn="l">
              <a:spcBef>
                <a:spcPts val="300"/>
              </a:spcBef>
              <a:spcAft>
                <a:spcPts val="0"/>
              </a:spcAft>
              <a:buClr>
                <a:srgbClr val="1C2433"/>
              </a:buClr>
              <a:buSzPts val="1300"/>
              <a:buFont typeface="Playfair Display"/>
              <a:buNone/>
            </a:pPr>
            <a:r>
              <a:rPr lang="en-US" sz="1300">
                <a:solidFill>
                  <a:srgbClr val="1C2433"/>
                </a:solidFill>
                <a:latin typeface="Playfair Display"/>
                <a:ea typeface="Playfair Display"/>
                <a:cs typeface="Playfair Display"/>
                <a:sym typeface="Playfair Display"/>
              </a:rPr>
              <a:t>Price variation = smooth spatial effect + linear income effect + residual noise.</a:t>
            </a:r>
            <a:endParaRPr/>
          </a:p>
        </p:txBody>
      </p:sp>
      <p:sp>
        <p:nvSpPr>
          <p:cNvPr id="344" name="Google Shape;344;p21"/>
          <p:cNvSpPr/>
          <p:nvPr/>
        </p:nvSpPr>
        <p:spPr>
          <a:xfrm>
            <a:off x="6286500" y="3937000"/>
            <a:ext cx="5143500" cy="2349500"/>
          </a:xfrm>
          <a:prstGeom prst="rect">
            <a:avLst/>
          </a:prstGeom>
          <a:solidFill>
            <a:srgbClr val="F4EEE3"/>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45" name="Google Shape;345;p21"/>
          <p:cNvSpPr txBox="1"/>
          <p:nvPr/>
        </p:nvSpPr>
        <p:spPr>
          <a:xfrm>
            <a:off x="6464300" y="4089400"/>
            <a:ext cx="4787900" cy="2044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C4A6E"/>
              </a:buClr>
              <a:buSzPts val="1600"/>
              <a:buFont typeface="Playfair Display"/>
              <a:buNone/>
            </a:pPr>
            <a:r>
              <a:rPr b="1" lang="en-US" sz="1600">
                <a:solidFill>
                  <a:srgbClr val="2C4A6E"/>
                </a:solidFill>
                <a:latin typeface="Playfair Display"/>
                <a:ea typeface="Playfair Display"/>
                <a:cs typeface="Playfair Display"/>
                <a:sym typeface="Playfair Display"/>
              </a:rPr>
              <a:t>Equivalent latent-function decomposition</a:t>
            </a:r>
            <a:endParaRPr/>
          </a:p>
          <a:p>
            <a:pPr indent="0" lvl="0" marL="0" marR="0" rtl="0" algn="ctr">
              <a:spcBef>
                <a:spcPts val="600"/>
              </a:spcBef>
              <a:spcAft>
                <a:spcPts val="0"/>
              </a:spcAft>
              <a:buClr>
                <a:srgbClr val="1C2433"/>
              </a:buClr>
              <a:buSzPts val="1500"/>
              <a:buFont typeface="Cambria Math"/>
              <a:buNone/>
            </a:pPr>
            <a:r>
              <a:rPr i="1" lang="en-US" sz="1500">
                <a:solidFill>
                  <a:srgbClr val="1C2433"/>
                </a:solidFill>
                <a:latin typeface="Cambria Math"/>
                <a:ea typeface="Cambria Math"/>
                <a:cs typeface="Cambria Math"/>
                <a:sym typeface="Cambria Math"/>
              </a:rPr>
              <a:t>f(s, z) = f</a:t>
            </a:r>
            <a:r>
              <a:rPr baseline="-25000" i="1" lang="en-US" sz="1100">
                <a:solidFill>
                  <a:srgbClr val="1C2433"/>
                </a:solidFill>
                <a:latin typeface="Cambria Math"/>
                <a:ea typeface="Cambria Math"/>
                <a:cs typeface="Cambria Math"/>
                <a:sym typeface="Cambria Math"/>
              </a:rPr>
              <a:t>loc</a:t>
            </a:r>
            <a:r>
              <a:rPr i="1" lang="en-US" sz="1500">
                <a:solidFill>
                  <a:srgbClr val="1C2433"/>
                </a:solidFill>
                <a:latin typeface="Cambria Math"/>
                <a:ea typeface="Cambria Math"/>
                <a:cs typeface="Cambria Math"/>
                <a:sym typeface="Cambria Math"/>
              </a:rPr>
              <a:t>(s) + f</a:t>
            </a:r>
            <a:r>
              <a:rPr baseline="-25000" i="1" lang="en-US" sz="1100">
                <a:solidFill>
                  <a:srgbClr val="1C2433"/>
                </a:solidFill>
                <a:latin typeface="Cambria Math"/>
                <a:ea typeface="Cambria Math"/>
                <a:cs typeface="Cambria Math"/>
                <a:sym typeface="Cambria Math"/>
              </a:rPr>
              <a:t>inc</a:t>
            </a:r>
            <a:r>
              <a:rPr i="1" lang="en-US" sz="1500">
                <a:solidFill>
                  <a:srgbClr val="1C2433"/>
                </a:solidFill>
                <a:latin typeface="Cambria Math"/>
                <a:ea typeface="Cambria Math"/>
                <a:cs typeface="Cambria Math"/>
                <a:sym typeface="Cambria Math"/>
              </a:rPr>
              <a:t>(z)</a:t>
            </a:r>
            <a:endParaRPr/>
          </a:p>
          <a:p>
            <a:pPr indent="0" lvl="0" marL="0" marR="0" rtl="0" algn="ctr">
              <a:spcBef>
                <a:spcPts val="500"/>
              </a:spcBef>
              <a:spcAft>
                <a:spcPts val="0"/>
              </a:spcAft>
              <a:buClr>
                <a:srgbClr val="1C2433"/>
              </a:buClr>
              <a:buSzPts val="1400"/>
              <a:buFont typeface="Cambria Math"/>
              <a:buNone/>
            </a:pPr>
            <a:r>
              <a:rPr i="1" lang="en-US" sz="1400">
                <a:solidFill>
                  <a:srgbClr val="1C2433"/>
                </a:solidFill>
                <a:latin typeface="Cambria Math"/>
                <a:ea typeface="Cambria Math"/>
                <a:cs typeface="Cambria Math"/>
                <a:sym typeface="Cambria Math"/>
              </a:rPr>
              <a:t>f</a:t>
            </a:r>
            <a:r>
              <a:rPr baseline="-25000" i="1" lang="en-US" sz="1000">
                <a:solidFill>
                  <a:srgbClr val="1C2433"/>
                </a:solidFill>
                <a:latin typeface="Cambria Math"/>
                <a:ea typeface="Cambria Math"/>
                <a:cs typeface="Cambria Math"/>
                <a:sym typeface="Cambria Math"/>
              </a:rPr>
              <a:t>loc</a:t>
            </a:r>
            <a:r>
              <a:rPr i="1" lang="en-US" sz="1400">
                <a:solidFill>
                  <a:srgbClr val="1C2433"/>
                </a:solidFill>
                <a:latin typeface="Cambria Math"/>
                <a:ea typeface="Cambria Math"/>
                <a:cs typeface="Cambria Math"/>
                <a:sym typeface="Cambria Math"/>
              </a:rPr>
              <a:t> ∼ 𝒢𝒫(0, k</a:t>
            </a:r>
            <a:r>
              <a:rPr baseline="-25000" i="1" lang="en-US" sz="1000">
                <a:solidFill>
                  <a:srgbClr val="1C2433"/>
                </a:solidFill>
                <a:latin typeface="Cambria Math"/>
                <a:ea typeface="Cambria Math"/>
                <a:cs typeface="Cambria Math"/>
                <a:sym typeface="Cambria Math"/>
              </a:rPr>
              <a:t>spatial</a:t>
            </a:r>
            <a:r>
              <a:rPr i="1" lang="en-US" sz="1400">
                <a:solidFill>
                  <a:srgbClr val="1C2433"/>
                </a:solidFill>
                <a:latin typeface="Cambria Math"/>
                <a:ea typeface="Cambria Math"/>
                <a:cs typeface="Cambria Math"/>
                <a:sym typeface="Cambria Math"/>
              </a:rPr>
              <a:t>),  f</a:t>
            </a:r>
            <a:r>
              <a:rPr baseline="-25000" i="1" lang="en-US" sz="1000">
                <a:solidFill>
                  <a:srgbClr val="1C2433"/>
                </a:solidFill>
                <a:latin typeface="Cambria Math"/>
                <a:ea typeface="Cambria Math"/>
                <a:cs typeface="Cambria Math"/>
                <a:sym typeface="Cambria Math"/>
              </a:rPr>
              <a:t>inc</a:t>
            </a:r>
            <a:r>
              <a:rPr i="1" lang="en-US" sz="1400">
                <a:solidFill>
                  <a:srgbClr val="1C2433"/>
                </a:solidFill>
                <a:latin typeface="Cambria Math"/>
                <a:ea typeface="Cambria Math"/>
                <a:cs typeface="Cambria Math"/>
                <a:sym typeface="Cambria Math"/>
              </a:rPr>
              <a:t> ∼ 𝒢𝒫(0, k</a:t>
            </a:r>
            <a:r>
              <a:rPr baseline="-25000" i="1" lang="en-US" sz="1000">
                <a:solidFill>
                  <a:srgbClr val="1C2433"/>
                </a:solidFill>
                <a:latin typeface="Cambria Math"/>
                <a:ea typeface="Cambria Math"/>
                <a:cs typeface="Cambria Math"/>
                <a:sym typeface="Cambria Math"/>
              </a:rPr>
              <a:t>income</a:t>
            </a:r>
            <a:r>
              <a:rPr i="1" lang="en-US" sz="1400">
                <a:solidFill>
                  <a:srgbClr val="1C2433"/>
                </a:solidFill>
                <a:latin typeface="Cambria Math"/>
                <a:ea typeface="Cambria Math"/>
                <a:cs typeface="Cambria Math"/>
                <a:sym typeface="Cambria Math"/>
              </a:rPr>
              <a:t>)</a:t>
            </a:r>
            <a:endParaRPr/>
          </a:p>
          <a:p>
            <a:pPr indent="0" lvl="0" marL="0" marR="0" rtl="0" algn="l">
              <a:spcBef>
                <a:spcPts val="300"/>
              </a:spcBef>
              <a:spcAft>
                <a:spcPts val="0"/>
              </a:spcAft>
              <a:buClr>
                <a:srgbClr val="1C2433"/>
              </a:buClr>
              <a:buSzPts val="1300"/>
              <a:buFont typeface="Playfair Display"/>
              <a:buNone/>
            </a:pPr>
            <a:r>
              <a:rPr lang="en-US" sz="1300">
                <a:solidFill>
                  <a:srgbClr val="1C2433"/>
                </a:solidFill>
                <a:latin typeface="Playfair Display"/>
                <a:ea typeface="Playfair Display"/>
                <a:cs typeface="Playfair Display"/>
                <a:sym typeface="Playfair Display"/>
              </a:rPr>
              <a:t>The total GP is additive — one component for space, one for income.</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22"/>
          <p:cNvSpPr txBox="1"/>
          <p:nvPr>
            <p:ph type="title"/>
          </p:nvPr>
        </p:nvSpPr>
        <p:spPr>
          <a:xfrm>
            <a:off x="838200" y="368300"/>
            <a:ext cx="10515600" cy="762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1C2433"/>
              </a:buClr>
              <a:buSzPts val="3600"/>
              <a:buFont typeface="Playfair Display"/>
              <a:buNone/>
            </a:pPr>
            <a:r>
              <a:rPr b="1" lang="en-US" sz="3600">
                <a:solidFill>
                  <a:srgbClr val="1C2433"/>
                </a:solidFill>
                <a:latin typeface="Playfair Display"/>
                <a:ea typeface="Playfair Display"/>
                <a:cs typeface="Playfair Display"/>
                <a:sym typeface="Playfair Display"/>
              </a:rPr>
              <a:t>Relationship with the Mean Function</a:t>
            </a:r>
            <a:endParaRPr/>
          </a:p>
        </p:txBody>
      </p:sp>
      <p:sp>
        <p:nvSpPr>
          <p:cNvPr id="351" name="Google Shape;351;p22"/>
          <p:cNvSpPr/>
          <p:nvPr/>
        </p:nvSpPr>
        <p:spPr>
          <a:xfrm>
            <a:off x="762000" y="1333500"/>
            <a:ext cx="10668000" cy="1651000"/>
          </a:xfrm>
          <a:prstGeom prst="rect">
            <a:avLst/>
          </a:prstGeom>
          <a:solidFill>
            <a:srgbClr val="F4EEE3"/>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52" name="Google Shape;352;p22"/>
          <p:cNvSpPr txBox="1"/>
          <p:nvPr/>
        </p:nvSpPr>
        <p:spPr>
          <a:xfrm>
            <a:off x="990600" y="1485900"/>
            <a:ext cx="10210800" cy="1346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C4A6E"/>
              </a:buClr>
              <a:buSzPts val="1600"/>
              <a:buFont typeface="Playfair Display"/>
              <a:buNone/>
            </a:pPr>
            <a:r>
              <a:rPr b="1" lang="en-US" sz="1600">
                <a:solidFill>
                  <a:srgbClr val="2C4A6E"/>
                </a:solidFill>
                <a:latin typeface="Playfair Display"/>
                <a:ea typeface="Playfair Display"/>
                <a:cs typeface="Playfair Display"/>
                <a:sym typeface="Playfair Display"/>
              </a:rPr>
              <a:t>From Bayesian linear effect to linear kernel</a:t>
            </a:r>
            <a:endParaRPr/>
          </a:p>
          <a:p>
            <a:pPr indent="0" lvl="0" marL="0" marR="0" rtl="0" algn="l">
              <a:spcBef>
                <a:spcPts val="300"/>
              </a:spcBef>
              <a:spcAft>
                <a:spcPts val="0"/>
              </a:spcAft>
              <a:buNone/>
            </a:pPr>
            <a:r>
              <a:rPr lang="en-US" sz="1300">
                <a:solidFill>
                  <a:srgbClr val="1C2433"/>
                </a:solidFill>
                <a:latin typeface="Playfair Display"/>
                <a:ea typeface="Playfair Display"/>
                <a:cs typeface="Playfair Display"/>
                <a:sym typeface="Playfair Display"/>
              </a:rPr>
              <a:t>Suppose we had instead modeled the income contribution as a mean function with normal </a:t>
            </a:r>
            <a:r>
              <a:rPr i="1" lang="en-US" sz="1400">
                <a:solidFill>
                  <a:srgbClr val="1C2433"/>
                </a:solidFill>
                <a:latin typeface="Cambria Math"/>
                <a:ea typeface="Cambria Math"/>
                <a:cs typeface="Cambria Math"/>
                <a:sym typeface="Cambria Math"/>
              </a:rPr>
              <a:t>β  </a:t>
            </a:r>
            <a:r>
              <a:rPr lang="en-US" sz="1400">
                <a:solidFill>
                  <a:srgbClr val="1C2433"/>
                </a:solidFill>
                <a:latin typeface="Cambria Math"/>
                <a:ea typeface="Cambria Math"/>
                <a:cs typeface="Cambria Math"/>
                <a:sym typeface="Cambria Math"/>
              </a:rPr>
              <a:t>hyperprior</a:t>
            </a:r>
            <a:r>
              <a:rPr lang="en-US" sz="1300">
                <a:solidFill>
                  <a:srgbClr val="1C2433"/>
                </a:solidFill>
                <a:latin typeface="Playfair Display"/>
                <a:ea typeface="Playfair Display"/>
                <a:cs typeface="Playfair Display"/>
                <a:sym typeface="Playfair Display"/>
              </a:rPr>
              <a:t>:</a:t>
            </a:r>
            <a:endParaRPr/>
          </a:p>
          <a:p>
            <a:pPr indent="0" lvl="0" marL="0" marR="0" rtl="0" algn="ctr">
              <a:spcBef>
                <a:spcPts val="400"/>
              </a:spcBef>
              <a:spcAft>
                <a:spcPts val="0"/>
              </a:spcAft>
              <a:buClr>
                <a:srgbClr val="1C2433"/>
              </a:buClr>
              <a:buSzPts val="1500"/>
              <a:buFont typeface="Cambria Math"/>
              <a:buNone/>
            </a:pPr>
            <a:r>
              <a:rPr i="1" lang="en-US" sz="1500">
                <a:solidFill>
                  <a:srgbClr val="1C2433"/>
                </a:solidFill>
                <a:latin typeface="Cambria Math"/>
                <a:ea typeface="Cambria Math"/>
                <a:cs typeface="Cambria Math"/>
                <a:sym typeface="Cambria Math"/>
              </a:rPr>
              <a:t>m(z) = β z,    β ∼ N(0, α</a:t>
            </a:r>
            <a:r>
              <a:rPr baseline="-25000" i="1" lang="en-US" sz="1100">
                <a:solidFill>
                  <a:srgbClr val="1C2433"/>
                </a:solidFill>
                <a:latin typeface="Cambria Math"/>
                <a:ea typeface="Cambria Math"/>
                <a:cs typeface="Cambria Math"/>
                <a:sym typeface="Cambria Math"/>
              </a:rPr>
              <a:t>inc</a:t>
            </a:r>
            <a:r>
              <a:rPr i="1" lang="en-US" sz="1500">
                <a:solidFill>
                  <a:srgbClr val="1C2433"/>
                </a:solidFill>
                <a:latin typeface="Cambria Math"/>
                <a:ea typeface="Cambria Math"/>
                <a:cs typeface="Cambria Math"/>
                <a:sym typeface="Cambria Math"/>
              </a:rPr>
              <a:t>²)</a:t>
            </a:r>
            <a:endParaRPr/>
          </a:p>
          <a:p>
            <a:pPr indent="0" lvl="0" marL="0" marR="0" rtl="0" algn="l">
              <a:spcBef>
                <a:spcPts val="300"/>
              </a:spcBef>
              <a:spcAft>
                <a:spcPts val="0"/>
              </a:spcAft>
              <a:buNone/>
            </a:pPr>
            <a:r>
              <a:rPr lang="en-US" sz="1300">
                <a:solidFill>
                  <a:srgbClr val="1C2433"/>
                </a:solidFill>
                <a:latin typeface="Playfair Display"/>
                <a:ea typeface="Playfair Display"/>
                <a:cs typeface="Playfair Display"/>
                <a:sym typeface="Playfair Display"/>
              </a:rPr>
              <a:t>For two incomes </a:t>
            </a:r>
            <a:r>
              <a:rPr i="1" lang="en-US" sz="1400">
                <a:solidFill>
                  <a:srgbClr val="1C2433"/>
                </a:solidFill>
                <a:latin typeface="Cambria Math"/>
                <a:ea typeface="Cambria Math"/>
                <a:cs typeface="Cambria Math"/>
                <a:sym typeface="Cambria Math"/>
              </a:rPr>
              <a:t>z</a:t>
            </a:r>
            <a:r>
              <a:rPr lang="en-US" sz="1300">
                <a:solidFill>
                  <a:srgbClr val="1C2433"/>
                </a:solidFill>
                <a:latin typeface="Playfair Display"/>
                <a:ea typeface="Playfair Display"/>
                <a:cs typeface="Playfair Display"/>
                <a:sym typeface="Playfair Display"/>
              </a:rPr>
              <a:t> and </a:t>
            </a:r>
            <a:r>
              <a:rPr i="1" lang="en-US" sz="1400">
                <a:solidFill>
                  <a:srgbClr val="1C2433"/>
                </a:solidFill>
                <a:latin typeface="Cambria Math"/>
                <a:ea typeface="Cambria Math"/>
                <a:cs typeface="Cambria Math"/>
                <a:sym typeface="Cambria Math"/>
              </a:rPr>
              <a:t>z′</a:t>
            </a:r>
            <a:r>
              <a:rPr lang="en-US" sz="1300">
                <a:solidFill>
                  <a:srgbClr val="1C2433"/>
                </a:solidFill>
                <a:latin typeface="Playfair Display"/>
                <a:ea typeface="Playfair Display"/>
                <a:cs typeface="Playfair Display"/>
                <a:sym typeface="Playfair Display"/>
              </a:rPr>
              <a:t>, what is the induced covariance?</a:t>
            </a:r>
            <a:endParaRPr/>
          </a:p>
          <a:p>
            <a:pPr indent="0" lvl="0" marL="0" marR="0" rtl="0" algn="ctr">
              <a:spcBef>
                <a:spcPts val="400"/>
              </a:spcBef>
              <a:spcAft>
                <a:spcPts val="0"/>
              </a:spcAft>
              <a:buNone/>
            </a:pPr>
            <a:r>
              <a:rPr i="1" lang="en-US" sz="1500">
                <a:solidFill>
                  <a:srgbClr val="1C2433"/>
                </a:solidFill>
                <a:latin typeface="Cambria Math"/>
                <a:ea typeface="Cambria Math"/>
                <a:cs typeface="Cambria Math"/>
                <a:sym typeface="Cambria Math"/>
              </a:rPr>
              <a:t> Cov(βz, βz′) =</a:t>
            </a:r>
            <a:r>
              <a:rPr i="1" lang="en-US" sz="1600">
                <a:solidFill>
                  <a:srgbClr val="1C2433"/>
                </a:solidFill>
                <a:latin typeface="Cambria Math"/>
                <a:ea typeface="Cambria Math"/>
                <a:cs typeface="Cambria Math"/>
                <a:sym typeface="Cambria Math"/>
              </a:rPr>
              <a:t> zz′𝔼[</a:t>
            </a:r>
            <a:r>
              <a:rPr i="1" lang="en-US" sz="1500">
                <a:solidFill>
                  <a:srgbClr val="1C2433"/>
                </a:solidFill>
                <a:latin typeface="Cambria Math"/>
                <a:ea typeface="Cambria Math"/>
                <a:cs typeface="Cambria Math"/>
                <a:sym typeface="Cambria Math"/>
              </a:rPr>
              <a:t>β²] =</a:t>
            </a:r>
            <a:r>
              <a:rPr i="1" lang="en-US" sz="1400">
                <a:solidFill>
                  <a:srgbClr val="1C2433"/>
                </a:solidFill>
                <a:latin typeface="Cambria Math"/>
                <a:ea typeface="Cambria Math"/>
                <a:cs typeface="Cambria Math"/>
                <a:sym typeface="Cambria Math"/>
              </a:rPr>
              <a:t> zz′ Var(</a:t>
            </a:r>
            <a:r>
              <a:rPr i="1" lang="en-US" sz="1500">
                <a:solidFill>
                  <a:srgbClr val="1C2433"/>
                </a:solidFill>
                <a:latin typeface="Cambria Math"/>
                <a:ea typeface="Cambria Math"/>
                <a:cs typeface="Cambria Math"/>
                <a:sym typeface="Cambria Math"/>
              </a:rPr>
              <a:t>β )= α</a:t>
            </a:r>
            <a:r>
              <a:rPr baseline="-25000" i="1" lang="en-US" sz="1100">
                <a:solidFill>
                  <a:srgbClr val="1C2433"/>
                </a:solidFill>
                <a:latin typeface="Cambria Math"/>
                <a:ea typeface="Cambria Math"/>
                <a:cs typeface="Cambria Math"/>
                <a:sym typeface="Cambria Math"/>
              </a:rPr>
              <a:t>inc</a:t>
            </a:r>
            <a:r>
              <a:rPr i="1" lang="en-US" sz="1500">
                <a:solidFill>
                  <a:srgbClr val="1C2433"/>
                </a:solidFill>
                <a:latin typeface="Cambria Math"/>
                <a:ea typeface="Cambria Math"/>
                <a:cs typeface="Cambria Math"/>
                <a:sym typeface="Cambria Math"/>
              </a:rPr>
              <a:t>² zz′</a:t>
            </a:r>
            <a:endParaRPr/>
          </a:p>
        </p:txBody>
      </p:sp>
      <p:sp>
        <p:nvSpPr>
          <p:cNvPr id="353" name="Google Shape;353;p22"/>
          <p:cNvSpPr/>
          <p:nvPr/>
        </p:nvSpPr>
        <p:spPr>
          <a:xfrm>
            <a:off x="762000" y="3111500"/>
            <a:ext cx="10668000" cy="1587500"/>
          </a:xfrm>
          <a:prstGeom prst="rect">
            <a:avLst/>
          </a:prstGeom>
          <a:solidFill>
            <a:srgbClr val="F4EEE3"/>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54" name="Google Shape;354;p22"/>
          <p:cNvSpPr txBox="1"/>
          <p:nvPr/>
        </p:nvSpPr>
        <p:spPr>
          <a:xfrm>
            <a:off x="990600" y="3263900"/>
            <a:ext cx="10210800" cy="1282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C4A6E"/>
              </a:buClr>
              <a:buSzPts val="1600"/>
              <a:buFont typeface="Playfair Display"/>
              <a:buNone/>
            </a:pPr>
            <a:r>
              <a:rPr b="1" lang="en-US" sz="1600">
                <a:solidFill>
                  <a:srgbClr val="2C4A6E"/>
                </a:solidFill>
                <a:latin typeface="Playfair Display"/>
                <a:ea typeface="Playfair Display"/>
                <a:cs typeface="Playfair Display"/>
                <a:sym typeface="Playfair Display"/>
              </a:rPr>
              <a:t>The equivalence, in plain terms</a:t>
            </a:r>
            <a:endParaRPr/>
          </a:p>
          <a:p>
            <a:pPr indent="-171450" lvl="0" marL="171450" marR="0" rtl="0" algn="l">
              <a:spcBef>
                <a:spcPts val="300"/>
              </a:spcBef>
              <a:spcAft>
                <a:spcPts val="0"/>
              </a:spcAft>
              <a:buClr>
                <a:srgbClr val="1C2433"/>
              </a:buClr>
              <a:buSzPts val="1300"/>
              <a:buFont typeface="Arial"/>
              <a:buChar char="•"/>
            </a:pPr>
            <a:r>
              <a:rPr lang="en-US" sz="1300">
                <a:solidFill>
                  <a:srgbClr val="1C2433"/>
                </a:solidFill>
                <a:latin typeface="Playfair Display"/>
                <a:ea typeface="Playfair Display"/>
                <a:cs typeface="Playfair Display"/>
                <a:sym typeface="Playfair Display"/>
              </a:rPr>
              <a:t>If the data are centered, a linear mean function with a Gaussian prior on the coefficient is mathematically equivalent — after marginalizing over the coefficient — to a zero-mean GP with a linear kernel.</a:t>
            </a:r>
            <a:endParaRPr/>
          </a:p>
          <a:p>
            <a:pPr indent="-171450" lvl="0" marL="171450" marR="0" rtl="0" algn="l">
              <a:spcBef>
                <a:spcPts val="150"/>
              </a:spcBef>
              <a:spcAft>
                <a:spcPts val="0"/>
              </a:spcAft>
              <a:buClr>
                <a:srgbClr val="1C2433"/>
              </a:buClr>
              <a:buSzPts val="1300"/>
              <a:buFont typeface="Arial"/>
              <a:buChar char="•"/>
            </a:pPr>
            <a:r>
              <a:rPr lang="en-US" sz="1300">
                <a:solidFill>
                  <a:srgbClr val="1C2433"/>
                </a:solidFill>
                <a:latin typeface="Playfair Display"/>
                <a:ea typeface="Playfair Display"/>
                <a:cs typeface="Playfair Display"/>
                <a:sym typeface="Playfair Display"/>
              </a:rPr>
              <a:t>So the linear income kernel is the GP representation of Bayesian linear regression on income.</a:t>
            </a:r>
            <a:endParaRPr/>
          </a:p>
        </p:txBody>
      </p:sp>
      <p:sp>
        <p:nvSpPr>
          <p:cNvPr id="355" name="Google Shape;355;p22"/>
          <p:cNvSpPr/>
          <p:nvPr/>
        </p:nvSpPr>
        <p:spPr>
          <a:xfrm>
            <a:off x="762000" y="4826000"/>
            <a:ext cx="10668000" cy="1651000"/>
          </a:xfrm>
          <a:prstGeom prst="rect">
            <a:avLst/>
          </a:prstGeom>
          <a:solidFill>
            <a:srgbClr val="F4EEE3"/>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56" name="Google Shape;356;p22"/>
          <p:cNvSpPr txBox="1"/>
          <p:nvPr/>
        </p:nvSpPr>
        <p:spPr>
          <a:xfrm>
            <a:off x="990600" y="4978400"/>
            <a:ext cx="10210800" cy="1346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C4A6E"/>
              </a:buClr>
              <a:buSzPts val="1600"/>
              <a:buFont typeface="Playfair Display"/>
              <a:buNone/>
            </a:pPr>
            <a:r>
              <a:rPr b="1" lang="en-US" sz="1600">
                <a:solidFill>
                  <a:srgbClr val="2C4A6E"/>
                </a:solidFill>
                <a:latin typeface="Playfair Display"/>
                <a:ea typeface="Playfair Display"/>
                <a:cs typeface="Playfair Display"/>
                <a:sym typeface="Playfair Display"/>
              </a:rPr>
              <a:t>Why this matters</a:t>
            </a:r>
            <a:endParaRPr/>
          </a:p>
          <a:p>
            <a:pPr indent="0" lvl="0" marL="0" marR="0" rtl="0" algn="l">
              <a:spcBef>
                <a:spcPts val="300"/>
              </a:spcBef>
              <a:spcAft>
                <a:spcPts val="0"/>
              </a:spcAft>
              <a:buClr>
                <a:srgbClr val="1C2433"/>
              </a:buClr>
              <a:buSzPts val="1300"/>
              <a:buFont typeface="Playfair Display"/>
              <a:buNone/>
            </a:pPr>
            <a:r>
              <a:rPr lang="en-US" sz="1300">
                <a:solidFill>
                  <a:srgbClr val="1C2433"/>
                </a:solidFill>
                <a:latin typeface="Playfair Display"/>
                <a:ea typeface="Playfair Display"/>
                <a:cs typeface="Playfair Display"/>
                <a:sym typeface="Playfair Display"/>
              </a:rPr>
              <a:t>Splitting the kernel additively lets us separate two kinds of structure:</a:t>
            </a:r>
            <a:endParaRPr/>
          </a:p>
          <a:p>
            <a:pPr indent="-171450" lvl="0" marL="171450" marR="0" rtl="0" algn="l">
              <a:spcBef>
                <a:spcPts val="200"/>
              </a:spcBef>
              <a:spcAft>
                <a:spcPts val="0"/>
              </a:spcAft>
              <a:buClr>
                <a:srgbClr val="1C2433"/>
              </a:buClr>
              <a:buSzPts val="1300"/>
              <a:buFont typeface="Arial"/>
              <a:buChar char="•"/>
            </a:pPr>
            <a:r>
              <a:rPr lang="en-US" sz="1300">
                <a:solidFill>
                  <a:srgbClr val="1C2433"/>
                </a:solidFill>
                <a:latin typeface="Playfair Display"/>
                <a:ea typeface="Playfair Display"/>
                <a:cs typeface="Playfair Display"/>
                <a:sym typeface="Playfair Display"/>
              </a:rPr>
              <a:t>Nonlinear smooth spatial dependence (RBF on location)</a:t>
            </a:r>
            <a:endParaRPr/>
          </a:p>
          <a:p>
            <a:pPr indent="-171450" lvl="0" marL="171450" marR="0" rtl="0" algn="l">
              <a:spcBef>
                <a:spcPts val="150"/>
              </a:spcBef>
              <a:spcAft>
                <a:spcPts val="0"/>
              </a:spcAft>
              <a:buClr>
                <a:srgbClr val="1C2433"/>
              </a:buClr>
              <a:buSzPts val="1300"/>
              <a:buFont typeface="Arial"/>
              <a:buChar char="•"/>
            </a:pPr>
            <a:r>
              <a:rPr lang="en-US" sz="1300">
                <a:solidFill>
                  <a:srgbClr val="1C2433"/>
                </a:solidFill>
                <a:latin typeface="Playfair Display"/>
                <a:ea typeface="Playfair Display"/>
                <a:cs typeface="Playfair Display"/>
                <a:sym typeface="Playfair Display"/>
              </a:rPr>
              <a:t>Linear dependence on income (Bayesian linear effect)</a:t>
            </a:r>
            <a:endParaRPr/>
          </a:p>
          <a:p>
            <a:pPr indent="-171450" lvl="0" marL="171450" marR="0" rtl="0" algn="l">
              <a:spcBef>
                <a:spcPts val="150"/>
              </a:spcBef>
              <a:spcAft>
                <a:spcPts val="0"/>
              </a:spcAft>
              <a:buClr>
                <a:srgbClr val="1C2433"/>
              </a:buClr>
              <a:buSzPts val="1300"/>
              <a:buFont typeface="Arial"/>
              <a:buChar char="•"/>
            </a:pPr>
            <a:r>
              <a:rPr lang="en-US" sz="1300">
                <a:solidFill>
                  <a:srgbClr val="1C2433"/>
                </a:solidFill>
                <a:latin typeface="Playfair Display"/>
                <a:ea typeface="Playfair Display"/>
                <a:cs typeface="Playfair Display"/>
                <a:sym typeface="Playfair Display"/>
              </a:rPr>
              <a:t>This reduces the risk that the spatial kernel incorrectly absorbs income-driven covariance</a:t>
            </a:r>
            <a:endParaRPr/>
          </a:p>
        </p:txBody>
      </p:sp>
      <p:sp>
        <p:nvSpPr>
          <p:cNvPr id="357" name="Google Shape;357;p22"/>
          <p:cNvSpPr/>
          <p:nvPr/>
        </p:nvSpPr>
        <p:spPr>
          <a:xfrm>
            <a:off x="7303325" y="2477819"/>
            <a:ext cx="831272" cy="417781"/>
          </a:xfrm>
          <a:prstGeom prst="rect">
            <a:avLst/>
          </a:prstGeom>
          <a:noFill/>
          <a:ln cap="flat" cmpd="sng" w="9525">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23"/>
          <p:cNvSpPr txBox="1"/>
          <p:nvPr>
            <p:ph type="title"/>
          </p:nvPr>
        </p:nvSpPr>
        <p:spPr>
          <a:xfrm>
            <a:off x="762000" y="381000"/>
            <a:ext cx="10668000" cy="762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1C2433"/>
              </a:buClr>
              <a:buSzPts val="4000"/>
              <a:buFont typeface="Playfair Display"/>
              <a:buNone/>
            </a:pPr>
            <a:r>
              <a:rPr b="1" lang="en-US" sz="4000">
                <a:solidFill>
                  <a:srgbClr val="1C2433"/>
                </a:solidFill>
                <a:latin typeface="Playfair Display"/>
                <a:ea typeface="Playfair Display"/>
                <a:cs typeface="Playfair Display"/>
                <a:sym typeface="Playfair Display"/>
              </a:rPr>
              <a:t>Diagnostics — Augmented Model</a:t>
            </a:r>
            <a:endParaRPr/>
          </a:p>
        </p:txBody>
      </p:sp>
      <p:pic>
        <p:nvPicPr>
          <p:cNvPr descr="No description has been provided for this image" id="363" name="Google Shape;363;p23"/>
          <p:cNvPicPr preferRelativeResize="0"/>
          <p:nvPr/>
        </p:nvPicPr>
        <p:blipFill rotWithShape="1">
          <a:blip r:embed="rId3">
            <a:alphaModFix/>
          </a:blip>
          <a:srcRect b="0" l="0" r="0" t="0"/>
          <a:stretch/>
        </p:blipFill>
        <p:spPr>
          <a:xfrm>
            <a:off x="6261100" y="2095500"/>
            <a:ext cx="5143500" cy="3302000"/>
          </a:xfrm>
          <a:prstGeom prst="rect">
            <a:avLst/>
          </a:prstGeom>
          <a:noFill/>
          <a:ln>
            <a:noFill/>
          </a:ln>
        </p:spPr>
      </p:pic>
      <p:pic>
        <p:nvPicPr>
          <p:cNvPr descr="No description has been provided for this image" id="364" name="Google Shape;364;p23"/>
          <p:cNvPicPr preferRelativeResize="0"/>
          <p:nvPr/>
        </p:nvPicPr>
        <p:blipFill rotWithShape="1">
          <a:blip r:embed="rId4">
            <a:alphaModFix/>
          </a:blip>
          <a:srcRect b="0" l="0" r="0" t="0"/>
          <a:stretch/>
        </p:blipFill>
        <p:spPr>
          <a:xfrm>
            <a:off x="1168400" y="2095500"/>
            <a:ext cx="4381500" cy="3302000"/>
          </a:xfrm>
          <a:prstGeom prst="rect">
            <a:avLst/>
          </a:prstGeom>
          <a:noFill/>
          <a:ln>
            <a:noFill/>
          </a:ln>
        </p:spPr>
      </p:pic>
      <p:cxnSp>
        <p:nvCxnSpPr>
          <p:cNvPr id="365" name="Google Shape;365;p23"/>
          <p:cNvCxnSpPr/>
          <p:nvPr/>
        </p:nvCxnSpPr>
        <p:spPr>
          <a:xfrm>
            <a:off x="762000" y="1143000"/>
            <a:ext cx="10668000" cy="0"/>
          </a:xfrm>
          <a:prstGeom prst="straightConnector1">
            <a:avLst/>
          </a:prstGeom>
          <a:noFill/>
          <a:ln cap="flat" cmpd="sng" w="9525">
            <a:solidFill>
              <a:srgbClr val="C9C0AE"/>
            </a:solidFill>
            <a:prstDash val="solid"/>
            <a:round/>
            <a:headEnd len="sm" w="sm" type="none"/>
            <a:tailEnd len="sm" w="sm" type="none"/>
          </a:ln>
        </p:spPr>
      </p:cxnSp>
      <p:sp>
        <p:nvSpPr>
          <p:cNvPr id="366" name="Google Shape;366;p23"/>
          <p:cNvSpPr txBox="1"/>
          <p:nvPr/>
        </p:nvSpPr>
        <p:spPr>
          <a:xfrm>
            <a:off x="762000" y="1587500"/>
            <a:ext cx="5194300" cy="406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1800">
                <a:solidFill>
                  <a:srgbClr val="2C4A6E"/>
                </a:solidFill>
                <a:latin typeface="Playfair Display"/>
                <a:ea typeface="Playfair Display"/>
                <a:cs typeface="Playfair Display"/>
                <a:sym typeface="Playfair Display"/>
              </a:rPr>
              <a:t>Residual Distribution</a:t>
            </a:r>
            <a:endParaRPr/>
          </a:p>
        </p:txBody>
      </p:sp>
      <p:sp>
        <p:nvSpPr>
          <p:cNvPr id="367" name="Google Shape;367;p23"/>
          <p:cNvSpPr txBox="1"/>
          <p:nvPr/>
        </p:nvSpPr>
        <p:spPr>
          <a:xfrm>
            <a:off x="6235700" y="1587500"/>
            <a:ext cx="5194300" cy="406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1800">
                <a:solidFill>
                  <a:srgbClr val="2C4A6E"/>
                </a:solidFill>
                <a:latin typeface="Playfair Display"/>
                <a:ea typeface="Playfair Display"/>
                <a:cs typeface="Playfair Display"/>
                <a:sym typeface="Playfair Display"/>
              </a:rPr>
              <a:t>Posterior Predictive Check</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24"/>
          <p:cNvSpPr txBox="1"/>
          <p:nvPr>
            <p:ph type="title"/>
          </p:nvPr>
        </p:nvSpPr>
        <p:spPr>
          <a:xfrm>
            <a:off x="838200" y="368300"/>
            <a:ext cx="10515600" cy="762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1C2433"/>
              </a:buClr>
              <a:buSzPts val="3600"/>
              <a:buFont typeface="Playfair Display"/>
              <a:buNone/>
            </a:pPr>
            <a:r>
              <a:rPr b="1" lang="en-US" sz="3600">
                <a:solidFill>
                  <a:srgbClr val="1C2433"/>
                </a:solidFill>
                <a:latin typeface="Playfair Display"/>
                <a:ea typeface="Playfair Display"/>
                <a:cs typeface="Playfair Display"/>
                <a:sym typeface="Playfair Display"/>
              </a:rPr>
              <a:t>Out-of-Sample Performance</a:t>
            </a:r>
            <a:endParaRPr/>
          </a:p>
        </p:txBody>
      </p:sp>
      <p:pic>
        <p:nvPicPr>
          <p:cNvPr descr="No description has been provided for this image" id="374" name="Google Shape;374;p24"/>
          <p:cNvPicPr preferRelativeResize="0"/>
          <p:nvPr/>
        </p:nvPicPr>
        <p:blipFill rotWithShape="1">
          <a:blip r:embed="rId3">
            <a:alphaModFix/>
          </a:blip>
          <a:srcRect b="0" l="0" r="0" t="0"/>
          <a:stretch/>
        </p:blipFill>
        <p:spPr>
          <a:xfrm>
            <a:off x="7048500" y="1858000"/>
            <a:ext cx="3886200" cy="4064000"/>
          </a:xfrm>
          <a:prstGeom prst="rect">
            <a:avLst/>
          </a:prstGeom>
          <a:noFill/>
          <a:ln>
            <a:noFill/>
          </a:ln>
        </p:spPr>
      </p:pic>
      <p:pic>
        <p:nvPicPr>
          <p:cNvPr id="375" name="Google Shape;375;p24"/>
          <p:cNvPicPr preferRelativeResize="0"/>
          <p:nvPr/>
        </p:nvPicPr>
        <p:blipFill rotWithShape="1">
          <a:blip r:embed="rId4">
            <a:alphaModFix/>
          </a:blip>
          <a:srcRect b="0" l="0" r="0" t="0"/>
          <a:stretch/>
        </p:blipFill>
        <p:spPr>
          <a:xfrm>
            <a:off x="1270000" y="1858000"/>
            <a:ext cx="3886200" cy="4064000"/>
          </a:xfrm>
          <a:prstGeom prst="rect">
            <a:avLst/>
          </a:prstGeom>
          <a:noFill/>
          <a:ln>
            <a:noFill/>
          </a:ln>
        </p:spPr>
      </p:pic>
      <p:sp>
        <p:nvSpPr>
          <p:cNvPr id="376" name="Google Shape;376;p24"/>
          <p:cNvSpPr txBox="1"/>
          <p:nvPr/>
        </p:nvSpPr>
        <p:spPr>
          <a:xfrm>
            <a:off x="508000" y="1413500"/>
            <a:ext cx="5334000" cy="381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1800">
                <a:solidFill>
                  <a:srgbClr val="B5532A"/>
                </a:solidFill>
                <a:latin typeface="Playfair Display"/>
                <a:ea typeface="Playfair Display"/>
                <a:cs typeface="Playfair Display"/>
                <a:sym typeface="Playfair Display"/>
              </a:rPr>
              <a:t>Spatial-only model</a:t>
            </a:r>
            <a:endParaRPr/>
          </a:p>
        </p:txBody>
      </p:sp>
      <p:sp>
        <p:nvSpPr>
          <p:cNvPr id="377" name="Google Shape;377;p24"/>
          <p:cNvSpPr txBox="1"/>
          <p:nvPr/>
        </p:nvSpPr>
        <p:spPr>
          <a:xfrm>
            <a:off x="6350000" y="1413500"/>
            <a:ext cx="5334000" cy="381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1800">
                <a:solidFill>
                  <a:schemeClr val="accent2"/>
                </a:solidFill>
                <a:latin typeface="Playfair Display"/>
                <a:ea typeface="Playfair Display"/>
                <a:cs typeface="Playfair Display"/>
                <a:sym typeface="Playfair Display"/>
              </a:rPr>
              <a:t>Spatial + Income model</a:t>
            </a:r>
            <a:endParaRPr/>
          </a:p>
        </p:txBody>
      </p:sp>
      <p:sp>
        <p:nvSpPr>
          <p:cNvPr id="378" name="Google Shape;378;p24"/>
          <p:cNvSpPr txBox="1"/>
          <p:nvPr/>
        </p:nvSpPr>
        <p:spPr>
          <a:xfrm>
            <a:off x="508000" y="5960100"/>
            <a:ext cx="5334000" cy="304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i="1" lang="en-US" sz="1400">
                <a:solidFill>
                  <a:srgbClr val="1C2433"/>
                </a:solidFill>
                <a:latin typeface="Playfair Display"/>
                <a:ea typeface="Playfair Display"/>
                <a:cs typeface="Playfair Display"/>
                <a:sym typeface="Playfair Display"/>
              </a:rPr>
              <a:t>Predictions vs. actuals on held-out test set</a:t>
            </a:r>
            <a:endParaRPr/>
          </a:p>
        </p:txBody>
      </p:sp>
      <p:sp>
        <p:nvSpPr>
          <p:cNvPr id="379" name="Google Shape;379;p24"/>
          <p:cNvSpPr txBox="1"/>
          <p:nvPr/>
        </p:nvSpPr>
        <p:spPr>
          <a:xfrm>
            <a:off x="6350000" y="5960100"/>
            <a:ext cx="5334000" cy="304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i="1" lang="en-US" sz="1400">
                <a:solidFill>
                  <a:srgbClr val="1C2433"/>
                </a:solidFill>
                <a:latin typeface="Playfair Display"/>
                <a:ea typeface="Playfair Display"/>
                <a:cs typeface="Playfair Display"/>
                <a:sym typeface="Playfair Display"/>
              </a:rPr>
              <a:t>Predictions vs. actuals on held-out test set</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25"/>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rgbClr val="1C2433"/>
              </a:buClr>
              <a:buSzPts val="5400"/>
              <a:buFont typeface="Playfair Display"/>
              <a:buNone/>
            </a:pPr>
            <a:r>
              <a:rPr b="1" lang="en-US" sz="5400"/>
              <a:t>Thank You</a:t>
            </a:r>
            <a:endParaRPr/>
          </a:p>
        </p:txBody>
      </p:sp>
      <p:sp>
        <p:nvSpPr>
          <p:cNvPr id="385" name="Google Shape;385;p25"/>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accent2"/>
              </a:buClr>
              <a:buSzPts val="2200"/>
              <a:buNone/>
            </a:pPr>
            <a:r>
              <a:rPr i="1" lang="en-US" sz="2200">
                <a:solidFill>
                  <a:schemeClr val="accent2"/>
                </a:solidFill>
              </a:rPr>
              <a:t>Questions?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1776629851603]">
  <a:themeElements>
    <a:clrScheme name="Office">
      <a:dk1>
        <a:srgbClr val="1C2433"/>
      </a:dk1>
      <a:lt1>
        <a:srgbClr val="FBF8F3"/>
      </a:lt1>
      <a:dk2>
        <a:srgbClr val="2C4A6E"/>
      </a:dk2>
      <a:lt2>
        <a:srgbClr val="E8E1D4"/>
      </a:lt2>
      <a:accent1>
        <a:srgbClr val="2C4A6E"/>
      </a:accent1>
      <a:accent2>
        <a:srgbClr val="B5532A"/>
      </a:accent2>
      <a:accent3>
        <a:srgbClr val="6B8B9E"/>
      </a:accent3>
      <a:accent4>
        <a:srgbClr val="8A7A5C"/>
      </a:accent4>
      <a:accent5>
        <a:srgbClr val="4A6B4A"/>
      </a:accent5>
      <a:accent6>
        <a:srgbClr val="A89070"/>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2026-04-19T20:02:52Z</dcterms:created>
  <dc:creator>Max Kieff</dc:creator>
</cp:coreProperties>
</file>